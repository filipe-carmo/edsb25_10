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1"/>
  </p:notesMasterIdLst>
  <p:handoutMasterIdLst>
    <p:handoutMasterId r:id="rId32"/>
  </p:handoutMasterIdLst>
  <p:sldIdLst>
    <p:sldId id="258" r:id="rId5"/>
    <p:sldId id="290" r:id="rId6"/>
    <p:sldId id="299" r:id="rId7"/>
    <p:sldId id="301" r:id="rId8"/>
    <p:sldId id="302" r:id="rId9"/>
    <p:sldId id="327" r:id="rId10"/>
    <p:sldId id="326" r:id="rId11"/>
    <p:sldId id="310" r:id="rId12"/>
    <p:sldId id="324" r:id="rId13"/>
    <p:sldId id="306" r:id="rId14"/>
    <p:sldId id="307" r:id="rId15"/>
    <p:sldId id="312" r:id="rId16"/>
    <p:sldId id="323" r:id="rId17"/>
    <p:sldId id="313" r:id="rId18"/>
    <p:sldId id="325" r:id="rId19"/>
    <p:sldId id="314" r:id="rId20"/>
    <p:sldId id="276" r:id="rId21"/>
    <p:sldId id="322" r:id="rId22"/>
    <p:sldId id="311" r:id="rId23"/>
    <p:sldId id="318" r:id="rId24"/>
    <p:sldId id="319" r:id="rId25"/>
    <p:sldId id="320" r:id="rId26"/>
    <p:sldId id="315" r:id="rId27"/>
    <p:sldId id="316" r:id="rId28"/>
    <p:sldId id="317" r:id="rId29"/>
    <p:sldId id="32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5B37"/>
    <a:srgbClr val="F3A431"/>
    <a:srgbClr val="AD4F36"/>
    <a:srgbClr val="FFC000"/>
    <a:srgbClr val="254B66"/>
    <a:srgbClr val="2D526C"/>
    <a:srgbClr val="7C93A3"/>
    <a:srgbClr val="FFFFFF"/>
    <a:srgbClr val="C97B80"/>
    <a:srgbClr val="7C92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FE4815-08BE-49CD-A018-2EB39FD576F9}" v="1370" dt="2025-12-06T15:30:27.075"/>
    <p1510:client id="{507C84D8-3999-790D-9CF5-F7AF5CFBC7DE}" v="296" dt="2025-12-07T11:09:47.536"/>
    <p1510:client id="{57ED6B71-941E-45BE-84FC-F86D477287FD}" v="18" dt="2025-12-07T10:48:54.419"/>
    <p1510:client id="{64536782-3C05-6EA4-BB53-E40306078E9D}" v="647" dt="2025-12-06T19:51:24.790"/>
  </p1510:revLst>
</p1510:revInfo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commentAuthors" Target="commentAuthor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liveeduisegiunl-my.sharepoint.com/personal/20240828_novaims_unl_pt/Documents/EDSA%20Bootcamp/EDSB25_10_EmployeeAttrition_1_ColumnCluster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Leaving probability increase (times)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Leaving probability</c:v>
                </c:pt>
              </c:strCache>
            </c:strRef>
          </c:tx>
          <c:spPr>
            <a:solidFill>
              <a:srgbClr val="F3A431"/>
            </a:solidFill>
            <a:ln>
              <a:solidFill>
                <a:srgbClr val="F3A43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c:spPr>
          <c:invertIfNegative val="0"/>
          <c:cat>
            <c:strRef>
              <c:f>Sheet1!$A$2:$A$7</c:f>
              <c:strCache>
                <c:ptCount val="6"/>
                <c:pt idx="0">
                  <c:v>OverTime is Yes</c:v>
                </c:pt>
                <c:pt idx="1">
                  <c:v>Job Involvement is Low</c:v>
                </c:pt>
                <c:pt idx="2">
                  <c:v>Work-life balance is Bad</c:v>
                </c:pt>
                <c:pt idx="3">
                  <c:v>Environment Satisfaction is Low</c:v>
                </c:pt>
                <c:pt idx="4">
                  <c:v>Travels frequently</c:v>
                </c:pt>
                <c:pt idx="5">
                  <c:v>Job satisfaction is Low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2.93</c:v>
                </c:pt>
                <c:pt idx="1">
                  <c:v>2.2400000000000002</c:v>
                </c:pt>
                <c:pt idx="2">
                  <c:v>2.0499999999999998</c:v>
                </c:pt>
                <c:pt idx="3">
                  <c:v>1.82</c:v>
                </c:pt>
                <c:pt idx="4">
                  <c:v>1.77</c:v>
                </c:pt>
                <c:pt idx="5">
                  <c:v>1.58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71-45CD-8DD0-EC81AFC5F3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464810127"/>
        <c:axId val="464810607"/>
      </c:barChart>
      <c:catAx>
        <c:axId val="4648101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4810607"/>
        <c:crosses val="autoZero"/>
        <c:auto val="1"/>
        <c:lblAlgn val="ctr"/>
        <c:lblOffset val="100"/>
        <c:noMultiLvlLbl val="0"/>
      </c:catAx>
      <c:valAx>
        <c:axId val="464810607"/>
        <c:scaling>
          <c:orientation val="minMax"/>
          <c:max val="3"/>
        </c:scaling>
        <c:delete val="0"/>
        <c:axPos val="b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4810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0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1693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397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43B7E-E489-D633-1EB1-322AEBE00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D1868-6575-7593-A311-59255F5F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9F524D-6F0A-9C53-6783-A9E46721B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31 Features Categorized for Attrition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F3FE2-C7F9-04CD-D613-106D5D2FA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3158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A799-63FF-BD48-ED2B-75E9300B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DA1D04-0B5C-DA45-2A07-5BC721481E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2111E8-474C-8445-2110-E2E827524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EC867-D511-D231-76A7-A87CF2F95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192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9B31F-31A1-3AF6-CDC5-0E23C8848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0F1D63-FE0C-FC81-522C-75B885D50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6C8A1-8974-222F-B9B7-09AB914A5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EB66D-185C-6D40-33EF-50A423A477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02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1BAFA-828B-16C9-F775-D1B6248B9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371C8-058A-320C-DD5C-CB672E1572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22D74-3C3F-FDF6-AB7E-0251D621A5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7D82B-C94C-E514-F05B-8E0E0CECC6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2821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04E81-82D7-E47B-114A-8103215E2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D320C-44CA-3D27-5FF9-C46C72C69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68D937-2EDD-2374-491C-5A3673F0B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382C1-89E5-79BB-BA31-DDE12EB6D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582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7C23-D4AD-2DBE-87F1-538072D2A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B23148-0AE2-718D-87E8-E86D2B359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589454-CABE-9597-D05B-5B2EB4161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HC Reps are extremely high risk</a:t>
            </a:r>
            <a:r>
              <a:rPr lang="en-US"/>
              <a:t> across all departments (42.1% in Sales, 30.3% in HR, 23.3% in R&amp;D)</a:t>
            </a:r>
          </a:p>
          <a:p>
            <a:r>
              <a:rPr lang="en-US" b="1"/>
              <a:t>Sales department</a:t>
            </a:r>
            <a:r>
              <a:rPr lang="en-US"/>
              <a:t> has 5 out of 10 high-risk profiles - clear focus area</a:t>
            </a:r>
          </a:p>
          <a:p>
            <a:r>
              <a:rPr lang="en-US" b="1"/>
              <a:t>Lab Technicians</a:t>
            </a:r>
            <a:r>
              <a:rPr lang="en-US"/>
              <a:t> also appear risky in HR (33.3%) and Sales (20.5%)</a:t>
            </a:r>
          </a:p>
          <a:p>
            <a:r>
              <a:rPr lang="en-US" b="1"/>
              <a:t>Higher positions</a:t>
            </a:r>
            <a:r>
              <a:rPr lang="en-US"/>
              <a:t> (Managing Director, Manager) have lower attrition - career progression helps retention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D3208-ECD2-3D10-4188-9C1380B6F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5843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CC0F-C02A-8AB0-9668-6995714EF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C90E45-D2D2-C78F-1C14-B5BA9B5AE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56DE7-A053-9B50-883A-F4E390207D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Rita</a:t>
            </a:r>
            <a:endParaRPr lang="en-US"/>
          </a:p>
          <a:p>
            <a:r>
              <a:rPr lang="en-US">
                <a:ea typeface="Calibri"/>
                <a:cs typeface="Calibri"/>
              </a:rPr>
              <a:t>Nas </a:t>
            </a:r>
            <a:r>
              <a:rPr lang="en-US" err="1">
                <a:ea typeface="Calibri"/>
                <a:cs typeface="Calibri"/>
              </a:rPr>
              <a:t>variáveis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relacionadas</a:t>
            </a:r>
            <a:r>
              <a:rPr lang="en-US">
                <a:ea typeface="Calibri"/>
                <a:cs typeface="Calibri"/>
              </a:rPr>
              <a:t> com </a:t>
            </a:r>
            <a:r>
              <a:rPr lang="en-US" err="1">
                <a:ea typeface="Calibri"/>
                <a:cs typeface="Calibri"/>
              </a:rPr>
              <a:t>compensação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vimos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que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pessoas</a:t>
            </a:r>
            <a:r>
              <a:rPr lang="en-US">
                <a:ea typeface="Calibri"/>
                <a:cs typeface="Calibri"/>
              </a:rPr>
              <a:t> com </a:t>
            </a:r>
            <a:r>
              <a:rPr lang="en-US" err="1">
                <a:ea typeface="Calibri"/>
                <a:cs typeface="Calibri"/>
              </a:rPr>
              <a:t>salários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mais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pequenos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saiem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mais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frequentemente</a:t>
            </a:r>
          </a:p>
          <a:p>
            <a:r>
              <a:rPr lang="en-US">
                <a:ea typeface="Calibri"/>
                <a:cs typeface="Calibri"/>
              </a:rPr>
              <a:t>Da </a:t>
            </a:r>
            <a:r>
              <a:rPr lang="en-US" err="1">
                <a:ea typeface="Calibri"/>
                <a:cs typeface="Calibri"/>
              </a:rPr>
              <a:t>mesma</a:t>
            </a:r>
            <a:r>
              <a:rPr lang="en-US">
                <a:ea typeface="Calibri"/>
                <a:cs typeface="Calibri"/>
              </a:rPr>
              <a:t> forma, </a:t>
            </a:r>
            <a:r>
              <a:rPr lang="en-US" err="1">
                <a:ea typeface="Calibri"/>
                <a:cs typeface="Calibri"/>
              </a:rPr>
              <a:t>pessoas</a:t>
            </a:r>
            <a:r>
              <a:rPr lang="en-US">
                <a:ea typeface="Calibri"/>
                <a:cs typeface="Calibri"/>
              </a:rPr>
              <a:t> com Percent Salary Hike menor também saiem mais frequentemente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In the compensation variables, we saw that people with lower salaries tend to leave more often</a:t>
            </a:r>
          </a:p>
          <a:p>
            <a:r>
              <a:rPr lang="en-US">
                <a:ea typeface="Calibri"/>
                <a:cs typeface="Calibri"/>
              </a:rPr>
              <a:t>People with lower salary hikes also leave more often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CB001-B30F-EA4E-C0A5-D964A9775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8059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FEDA2-625D-A7D5-9E73-77AA3581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D749B-7EA1-6F08-331A-2FA6BEE97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E33491-8A7F-11F7-7AA2-B5B3B8AC2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Rita</a:t>
            </a:r>
          </a:p>
          <a:p>
            <a:r>
              <a:rPr lang="en-US" err="1">
                <a:ea typeface="Calibri"/>
                <a:cs typeface="Calibri"/>
              </a:rPr>
              <a:t>Depois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fizemos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seleção</a:t>
            </a:r>
            <a:r>
              <a:rPr lang="en-US">
                <a:ea typeface="Calibri"/>
                <a:cs typeface="Calibri"/>
              </a:rPr>
              <a:t> de features de modo a </a:t>
            </a:r>
            <a:r>
              <a:rPr lang="en-US" err="1">
                <a:ea typeface="Calibri"/>
                <a:cs typeface="Calibri"/>
              </a:rPr>
              <a:t>perceber</a:t>
            </a:r>
            <a:r>
              <a:rPr lang="en-US">
                <a:ea typeface="Calibri"/>
                <a:cs typeface="Calibri"/>
              </a:rPr>
              <a:t> quais as </a:t>
            </a:r>
            <a:r>
              <a:rPr lang="en-US" err="1">
                <a:ea typeface="Calibri"/>
                <a:cs typeface="Calibri"/>
              </a:rPr>
              <a:t>variáveis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que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previam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melhor</a:t>
            </a:r>
            <a:r>
              <a:rPr lang="en-US">
                <a:ea typeface="Calibri"/>
                <a:cs typeface="Calibri"/>
              </a:rPr>
              <a:t> a Attrition.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 err="1">
                <a:ea typeface="Calibri"/>
                <a:cs typeface="Calibri"/>
              </a:rPr>
              <a:t>Estas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variáveis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prendiam</a:t>
            </a:r>
            <a:r>
              <a:rPr lang="en-US">
                <a:ea typeface="Calibri"/>
                <a:cs typeface="Calibri"/>
              </a:rPr>
              <a:t>-se com a </a:t>
            </a:r>
            <a:r>
              <a:rPr lang="en-US" err="1">
                <a:ea typeface="Calibri"/>
                <a:cs typeface="Calibri"/>
              </a:rPr>
              <a:t>satisfação</a:t>
            </a:r>
            <a:r>
              <a:rPr lang="en-US">
                <a:ea typeface="Calibri"/>
                <a:cs typeface="Calibri"/>
              </a:rPr>
              <a:t> e o </a:t>
            </a:r>
            <a:r>
              <a:rPr lang="en-US" err="1">
                <a:ea typeface="Calibri"/>
                <a:cs typeface="Calibri"/>
              </a:rPr>
              <a:t>envolvimento</a:t>
            </a:r>
            <a:r>
              <a:rPr lang="en-US">
                <a:ea typeface="Calibri"/>
                <a:cs typeface="Calibri"/>
              </a:rPr>
              <a:t> no </a:t>
            </a:r>
            <a:r>
              <a:rPr lang="en-US" err="1">
                <a:ea typeface="Calibri"/>
                <a:cs typeface="Calibri"/>
              </a:rPr>
              <a:t>trabalho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bem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como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certos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departamentos</a:t>
            </a:r>
            <a:r>
              <a:rPr lang="en-US">
                <a:ea typeface="Calibri"/>
                <a:cs typeface="Calibri"/>
              </a:rPr>
              <a:t> e cargos.</a:t>
            </a:r>
          </a:p>
          <a:p>
            <a:r>
              <a:rPr lang="en-US" err="1">
                <a:ea typeface="Calibri"/>
                <a:cs typeface="Calibri"/>
              </a:rPr>
              <a:t>Pessoas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solteiras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que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iniciaram</a:t>
            </a:r>
            <a:r>
              <a:rPr lang="en-US">
                <a:ea typeface="Calibri"/>
                <a:cs typeface="Calibri"/>
              </a:rPr>
              <a:t> a </a:t>
            </a:r>
            <a:r>
              <a:rPr lang="en-US" err="1">
                <a:ea typeface="Calibri"/>
                <a:cs typeface="Calibri"/>
              </a:rPr>
              <a:t>sua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atividade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profissional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há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pouco</a:t>
            </a:r>
            <a:r>
              <a:rPr lang="en-US">
                <a:ea typeface="Calibri"/>
                <a:cs typeface="Calibri"/>
              </a:rPr>
              <a:t> tempo </a:t>
            </a:r>
            <a:r>
              <a:rPr lang="en-US" err="1">
                <a:ea typeface="Calibri"/>
                <a:cs typeface="Calibri"/>
              </a:rPr>
              <a:t>ou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que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já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estiveram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várias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empresas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diferentes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surgem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como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significativamente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associadas</a:t>
            </a:r>
            <a:r>
              <a:rPr lang="en-US">
                <a:ea typeface="Calibri"/>
                <a:cs typeface="Calibri"/>
              </a:rPr>
              <a:t> à Attrition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8D430-9E67-744A-1580-6EBE73EC02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6852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77409-4507-EB0E-7F14-B8CE2E713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3A3B3-0964-B293-B004-9737CBD734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021BED-444C-9D2C-B334-EC776FFA4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/>
              <a:t>Predicting Employee Attrition: Achieving a 76.6% Detection Rate using Logistic Regression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/>
              <a:t>Forecasting and Mitigating Employee Flight Risk: A Logistic Regression Analysis of Attrition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30736-242F-8691-F7AC-D7EE342A0C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478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039FD-E13B-EC56-957A-1E2D76C05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B3167-EA8F-CE22-1207-233E5FFF96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0556E-6A61-6E1B-4F4B-D3A6F5531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BB5D6E-1149-050B-E8E1-2453FA29F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9028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DCF2B-A4E0-BA52-E9FC-3610692AF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C30839-AC60-9FF2-ADBF-CC29E7BCE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B6F5D8-903D-E6A9-2DD6-50834704B1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minimize Attrition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company should:</a:t>
            </a:r>
            <a:endParaRPr lang="en-US" b="0">
              <a:effectLst/>
            </a:endParaRP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employees work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overtime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provide a flexible schedule</a:t>
            </a:r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Hire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older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more experienced people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Accelerate career growth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retain younger people</a:t>
            </a:r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frequent travelling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employees - embrace remote culture</a:t>
            </a:r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 a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nice working environment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respect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employee’s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work-life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balance</a:t>
            </a:r>
          </a:p>
          <a:p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Cultivate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relationships between employees and managers</a:t>
            </a:r>
          </a:p>
          <a:p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/>
              <a:t>Immediate Priority Groups:</a:t>
            </a:r>
          </a:p>
          <a:p>
            <a:r>
              <a:rPr lang="en-US" b="1"/>
              <a:t>1. HC Reps in Sales (53.8% attrition)</a:t>
            </a:r>
          </a:p>
          <a:p>
            <a:r>
              <a:rPr lang="en-US" b="1"/>
              <a:t>Suggested Actions:</a:t>
            </a:r>
            <a:endParaRPr lang="en-US"/>
          </a:p>
          <a:p>
            <a:r>
              <a:rPr lang="en-US" b="1"/>
              <a:t>Career Path Development</a:t>
            </a:r>
            <a:r>
              <a:rPr lang="en-US"/>
              <a:t>: Create clear promotion pathways from HC Rep to higher roles</a:t>
            </a:r>
          </a:p>
          <a:p>
            <a:r>
              <a:rPr lang="en-US" b="1"/>
              <a:t>Compensation Review</a:t>
            </a:r>
            <a:r>
              <a:rPr lang="en-US"/>
              <a:t>: Sales HC Reps likely have lower base pay - review commission structures and base salary</a:t>
            </a:r>
          </a:p>
          <a:p>
            <a:r>
              <a:rPr lang="en-US" b="1"/>
              <a:t>Mentorship Programs</a:t>
            </a:r>
            <a:r>
              <a:rPr lang="en-US"/>
              <a:t>: Pair new HC Reps with experienced sales professionals</a:t>
            </a:r>
          </a:p>
          <a:p>
            <a:r>
              <a:rPr lang="en-US" b="1"/>
              <a:t>Performance Recognition</a:t>
            </a:r>
            <a:r>
              <a:rPr lang="en-US"/>
              <a:t>: Implement monthly awards for top performers</a:t>
            </a:r>
          </a:p>
          <a:p>
            <a:r>
              <a:rPr lang="en-US" b="1"/>
              <a:t>Training Investment</a:t>
            </a:r>
            <a:r>
              <a:rPr lang="en-US"/>
              <a:t>: Provide sales training, product knowledge, and soft skills development</a:t>
            </a:r>
          </a:p>
          <a:p>
            <a:r>
              <a:rPr lang="en-US" b="1"/>
              <a:t>Work-Life Balance</a:t>
            </a:r>
            <a:r>
              <a:rPr lang="en-US"/>
              <a:t>: Review workload and quotas - high attrition suggests burnout</a:t>
            </a:r>
          </a:p>
          <a:p>
            <a:r>
              <a:rPr lang="en-US" b="1"/>
              <a:t>2. HC Reps Across All Departments (40-50% attrition)</a:t>
            </a:r>
          </a:p>
          <a:p>
            <a:r>
              <a:rPr lang="en-US" b="1"/>
              <a:t>Root Cause</a:t>
            </a:r>
            <a:r>
              <a:rPr lang="en-US"/>
              <a:t>: HC Rep appears to be an entry-level position with poor retention </a:t>
            </a:r>
            <a:r>
              <a:rPr lang="en-US" b="1"/>
              <a:t>Suggested Actions:</a:t>
            </a:r>
            <a:endParaRPr lang="en-US"/>
          </a:p>
          <a:p>
            <a:r>
              <a:rPr lang="en-US" b="1"/>
              <a:t>Onboarding Enhancement</a:t>
            </a:r>
            <a:r>
              <a:rPr lang="en-US"/>
              <a:t>: Improve first 90 days experience</a:t>
            </a:r>
          </a:p>
          <a:p>
            <a:r>
              <a:rPr lang="en-US" b="1"/>
              <a:t>Competitive Compensation</a:t>
            </a:r>
            <a:r>
              <a:rPr lang="en-US"/>
              <a:t>: Benchmark against market rates</a:t>
            </a:r>
          </a:p>
          <a:p>
            <a:r>
              <a:rPr lang="en-US" b="1"/>
              <a:t>6-Month Review</a:t>
            </a:r>
            <a:r>
              <a:rPr lang="en-US"/>
              <a:t>: Implement early performance reviews with growth discussions</a:t>
            </a:r>
          </a:p>
          <a:p>
            <a:r>
              <a:rPr lang="en-US" b="1"/>
              <a:t>Skill Development</a:t>
            </a:r>
            <a:r>
              <a:rPr lang="en-US"/>
              <a:t>: Offer certifications and training programs</a:t>
            </a:r>
          </a:p>
          <a:p>
            <a:r>
              <a:rPr lang="en-US" b="1"/>
              <a:t>Internal Mobility</a:t>
            </a:r>
            <a:r>
              <a:rPr lang="en-US"/>
              <a:t>: Create fast-track programs for high performers</a:t>
            </a:r>
          </a:p>
          <a:p>
            <a:r>
              <a:rPr lang="en-US" b="1"/>
              <a:t>3. Lab Technicians in Sales (24-33% attrition)</a:t>
            </a:r>
          </a:p>
          <a:p>
            <a:r>
              <a:rPr lang="en-US" b="1"/>
              <a:t>Issue</a:t>
            </a:r>
            <a:r>
              <a:rPr lang="en-US"/>
              <a:t>: Possible role mismatch - Lab Technicians in Sales department seems unusual </a:t>
            </a:r>
            <a:r>
              <a:rPr lang="en-US" b="1"/>
              <a:t>Suggested Actions:</a:t>
            </a:r>
            <a:endParaRPr lang="en-US"/>
          </a:p>
          <a:p>
            <a:r>
              <a:rPr lang="en-US" b="1"/>
              <a:t>Role Clarity</a:t>
            </a:r>
            <a:r>
              <a:rPr lang="en-US"/>
              <a:t>: Ensure job responsibilities match expectations</a:t>
            </a:r>
          </a:p>
          <a:p>
            <a:r>
              <a:rPr lang="en-US" b="1"/>
              <a:t>Department Fit</a:t>
            </a:r>
            <a:r>
              <a:rPr lang="en-US"/>
              <a:t>: Consider if these roles should be in R&amp;D instead</a:t>
            </a:r>
          </a:p>
          <a:p>
            <a:r>
              <a:rPr lang="en-US" b="1"/>
              <a:t>Specialized Training</a:t>
            </a:r>
            <a:r>
              <a:rPr lang="en-US"/>
              <a:t>: Provide technical sales training</a:t>
            </a:r>
          </a:p>
          <a:p>
            <a:r>
              <a:rPr lang="en-US" b="1"/>
              <a:t>Equipment &amp; Resources</a:t>
            </a:r>
            <a:r>
              <a:rPr lang="en-US"/>
              <a:t>: Ensure they have proper tools and support</a:t>
            </a:r>
          </a:p>
          <a:p>
            <a:r>
              <a:rPr lang="en-US" b="1"/>
              <a:t>General Retention Strategies:</a:t>
            </a:r>
          </a:p>
          <a:p>
            <a:r>
              <a:rPr lang="en-US" b="1"/>
              <a:t>For Sales Department (highest overall attrition: 20.6%)</a:t>
            </a:r>
          </a:p>
          <a:p>
            <a:r>
              <a:rPr lang="en-US"/>
              <a:t>Review sales quotas and commission structure</a:t>
            </a:r>
          </a:p>
          <a:p>
            <a:r>
              <a:rPr lang="en-US"/>
              <a:t>Reduce administrative burden</a:t>
            </a:r>
          </a:p>
          <a:p>
            <a:r>
              <a:rPr lang="en-US"/>
              <a:t>Improve sales tools and CRM systems</a:t>
            </a:r>
          </a:p>
          <a:p>
            <a:r>
              <a:rPr lang="en-US"/>
              <a:t>Team-building activities</a:t>
            </a:r>
          </a:p>
          <a:p>
            <a:r>
              <a:rPr lang="en-US"/>
              <a:t>Flexible work arrangements</a:t>
            </a:r>
          </a:p>
          <a:p>
            <a:r>
              <a:rPr lang="en-US"/>
              <a:t>Better work-life balance policies</a:t>
            </a:r>
          </a:p>
          <a:p>
            <a:r>
              <a:rPr lang="en-US" b="1"/>
              <a:t>For Education Levels:</a:t>
            </a:r>
          </a:p>
          <a:p>
            <a:r>
              <a:rPr lang="en-US" b="1"/>
              <a:t>Below College</a:t>
            </a:r>
            <a:r>
              <a:rPr lang="en-US"/>
              <a:t>: Offer tuition reimbursement for continuing education</a:t>
            </a:r>
          </a:p>
          <a:p>
            <a:r>
              <a:rPr lang="en-US" b="1"/>
              <a:t>College/Bachelor</a:t>
            </a:r>
            <a:r>
              <a:rPr lang="en-US"/>
              <a:t>: Create leadership development programs</a:t>
            </a:r>
          </a:p>
          <a:p>
            <a:r>
              <a:rPr lang="en-US" b="1"/>
              <a:t>Master/Doctor</a:t>
            </a:r>
            <a:r>
              <a:rPr lang="en-US"/>
              <a:t>: Provide challenging projects and research opportunities</a:t>
            </a:r>
          </a:p>
          <a:p>
            <a:r>
              <a:rPr lang="en-US" b="1"/>
              <a:t>For All High-Risk Profiles:</a:t>
            </a:r>
          </a:p>
          <a:p>
            <a:r>
              <a:rPr lang="en-US" b="1"/>
              <a:t>Stay Interviews</a:t>
            </a:r>
            <a:r>
              <a:rPr lang="en-US"/>
              <a:t>: Conduct quarterly conversations with high-risk employees</a:t>
            </a:r>
          </a:p>
          <a:p>
            <a:r>
              <a:rPr lang="en-US" b="1"/>
              <a:t>Exit Interview Analysis</a:t>
            </a:r>
            <a:r>
              <a:rPr lang="en-US"/>
              <a:t>: Understand why people in these roles are leaving</a:t>
            </a:r>
          </a:p>
          <a:p>
            <a:r>
              <a:rPr lang="en-US" b="1"/>
              <a:t>Competitive Analysis</a:t>
            </a:r>
            <a:r>
              <a:rPr lang="en-US"/>
              <a:t>: Benchmark compensation and benefits against competitors</a:t>
            </a:r>
          </a:p>
          <a:p>
            <a:r>
              <a:rPr lang="en-US" b="1"/>
              <a:t>Engagement Surveys</a:t>
            </a:r>
            <a:r>
              <a:rPr lang="en-US"/>
              <a:t>: Identify specific pain points for each profile</a:t>
            </a:r>
          </a:p>
          <a:p>
            <a:r>
              <a:rPr lang="en-US" b="1"/>
              <a:t>Manager Training</a:t>
            </a:r>
            <a:r>
              <a:rPr lang="en-US"/>
              <a:t>: Ensure managers of high-risk teams have strong leadership skills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B2678-6FB6-DC39-9999-F732B1F9C5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627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448F8-8DEA-79EC-81C4-83DD574B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E61926-2C07-7EAB-08A0-834E0C7CE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BBA5B7-7275-CF66-E266-24AFD3049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minimize Attrition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company should:</a:t>
            </a:r>
            <a:endParaRPr lang="en-US" b="0">
              <a:effectLst/>
            </a:endParaRP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employees work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overtime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provide a flexible schedule</a:t>
            </a:r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Hire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older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more experienced people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Accelerate career growth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retain younger people</a:t>
            </a:r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frequent travelling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employees - embrace remote culture</a:t>
            </a:r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 a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nice working environment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respect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employee’s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work-life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balance</a:t>
            </a:r>
          </a:p>
          <a:p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Cultivate 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relationships between employees and managers</a:t>
            </a:r>
          </a:p>
          <a:p>
            <a:endParaRPr lang="en-US" sz="1200" b="1" i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/>
              <a:t>Immediate Priority Groups:</a:t>
            </a:r>
          </a:p>
          <a:p>
            <a:r>
              <a:rPr lang="en-US" b="1"/>
              <a:t>1. HC Reps in Sales (53.8% attrition)</a:t>
            </a:r>
          </a:p>
          <a:p>
            <a:r>
              <a:rPr lang="en-US" b="1"/>
              <a:t>Suggested Actions:</a:t>
            </a:r>
            <a:endParaRPr lang="en-US"/>
          </a:p>
          <a:p>
            <a:r>
              <a:rPr lang="en-US" b="1"/>
              <a:t>Career Path Development</a:t>
            </a:r>
            <a:r>
              <a:rPr lang="en-US"/>
              <a:t>: Create clear promotion pathways from HC Rep to higher roles</a:t>
            </a:r>
          </a:p>
          <a:p>
            <a:r>
              <a:rPr lang="en-US" b="1"/>
              <a:t>Compensation Review</a:t>
            </a:r>
            <a:r>
              <a:rPr lang="en-US"/>
              <a:t>: Sales HC Reps likely have lower base pay - review commission structures and base salary</a:t>
            </a:r>
          </a:p>
          <a:p>
            <a:r>
              <a:rPr lang="en-US" b="1"/>
              <a:t>Mentorship Programs</a:t>
            </a:r>
            <a:r>
              <a:rPr lang="en-US"/>
              <a:t>: Pair new HC Reps with experienced sales professionals</a:t>
            </a:r>
          </a:p>
          <a:p>
            <a:r>
              <a:rPr lang="en-US" b="1"/>
              <a:t>Performance Recognition</a:t>
            </a:r>
            <a:r>
              <a:rPr lang="en-US"/>
              <a:t>: Implement monthly awards for top performers</a:t>
            </a:r>
          </a:p>
          <a:p>
            <a:r>
              <a:rPr lang="en-US" b="1"/>
              <a:t>Training Investment</a:t>
            </a:r>
            <a:r>
              <a:rPr lang="en-US"/>
              <a:t>: Provide sales training, product knowledge, and soft skills development</a:t>
            </a:r>
          </a:p>
          <a:p>
            <a:r>
              <a:rPr lang="en-US" b="1"/>
              <a:t>Work-Life Balance</a:t>
            </a:r>
            <a:r>
              <a:rPr lang="en-US"/>
              <a:t>: Review workload and quotas - high attrition suggests burnout</a:t>
            </a:r>
          </a:p>
          <a:p>
            <a:r>
              <a:rPr lang="en-US" b="1"/>
              <a:t>2. HC Reps Across All Departments (40-50% attrition)</a:t>
            </a:r>
          </a:p>
          <a:p>
            <a:r>
              <a:rPr lang="en-US" b="1"/>
              <a:t>Root Cause</a:t>
            </a:r>
            <a:r>
              <a:rPr lang="en-US"/>
              <a:t>: HC Rep appears to be an entry-level position with poor retention </a:t>
            </a:r>
            <a:r>
              <a:rPr lang="en-US" b="1"/>
              <a:t>Suggested Actions:</a:t>
            </a:r>
            <a:endParaRPr lang="en-US"/>
          </a:p>
          <a:p>
            <a:r>
              <a:rPr lang="en-US" b="1"/>
              <a:t>Onboarding Enhancement</a:t>
            </a:r>
            <a:r>
              <a:rPr lang="en-US"/>
              <a:t>: Improve first 90 days experience</a:t>
            </a:r>
          </a:p>
          <a:p>
            <a:r>
              <a:rPr lang="en-US" b="1"/>
              <a:t>Competitive Compensation</a:t>
            </a:r>
            <a:r>
              <a:rPr lang="en-US"/>
              <a:t>: Benchmark against market rates</a:t>
            </a:r>
          </a:p>
          <a:p>
            <a:r>
              <a:rPr lang="en-US" b="1"/>
              <a:t>6-Month Review</a:t>
            </a:r>
            <a:r>
              <a:rPr lang="en-US"/>
              <a:t>: Implement early performance reviews with growth discussions</a:t>
            </a:r>
          </a:p>
          <a:p>
            <a:r>
              <a:rPr lang="en-US" b="1"/>
              <a:t>Skill Development</a:t>
            </a:r>
            <a:r>
              <a:rPr lang="en-US"/>
              <a:t>: Offer certifications and training programs</a:t>
            </a:r>
          </a:p>
          <a:p>
            <a:r>
              <a:rPr lang="en-US" b="1"/>
              <a:t>Internal Mobility</a:t>
            </a:r>
            <a:r>
              <a:rPr lang="en-US"/>
              <a:t>: Create fast-track programs for high performers</a:t>
            </a:r>
          </a:p>
          <a:p>
            <a:r>
              <a:rPr lang="en-US" b="1"/>
              <a:t>3. Lab Technicians in Sales (24-33% attrition)</a:t>
            </a:r>
          </a:p>
          <a:p>
            <a:r>
              <a:rPr lang="en-US" b="1"/>
              <a:t>Issue</a:t>
            </a:r>
            <a:r>
              <a:rPr lang="en-US"/>
              <a:t>: Possible role mismatch - Lab Technicians in Sales department seems unusual </a:t>
            </a:r>
            <a:r>
              <a:rPr lang="en-US" b="1"/>
              <a:t>Suggested Actions:</a:t>
            </a:r>
            <a:endParaRPr lang="en-US"/>
          </a:p>
          <a:p>
            <a:r>
              <a:rPr lang="en-US" b="1"/>
              <a:t>Role Clarity</a:t>
            </a:r>
            <a:r>
              <a:rPr lang="en-US"/>
              <a:t>: Ensure job responsibilities match expectations</a:t>
            </a:r>
          </a:p>
          <a:p>
            <a:r>
              <a:rPr lang="en-US" b="1"/>
              <a:t>Department Fit</a:t>
            </a:r>
            <a:r>
              <a:rPr lang="en-US"/>
              <a:t>: Consider if these roles should be in R&amp;D instead</a:t>
            </a:r>
          </a:p>
          <a:p>
            <a:r>
              <a:rPr lang="en-US" b="1"/>
              <a:t>Specialized Training</a:t>
            </a:r>
            <a:r>
              <a:rPr lang="en-US"/>
              <a:t>: Provide technical sales training</a:t>
            </a:r>
          </a:p>
          <a:p>
            <a:r>
              <a:rPr lang="en-US" b="1"/>
              <a:t>Equipment &amp; Resources</a:t>
            </a:r>
            <a:r>
              <a:rPr lang="en-US"/>
              <a:t>: Ensure they have proper tools and support</a:t>
            </a:r>
          </a:p>
          <a:p>
            <a:r>
              <a:rPr lang="en-US" b="1"/>
              <a:t>General Retention Strategies:</a:t>
            </a:r>
          </a:p>
          <a:p>
            <a:r>
              <a:rPr lang="en-US" b="1"/>
              <a:t>For Sales Department (highest overall attrition: 20.6%)</a:t>
            </a:r>
          </a:p>
          <a:p>
            <a:r>
              <a:rPr lang="en-US"/>
              <a:t>Review sales quotas and commission structure</a:t>
            </a:r>
          </a:p>
          <a:p>
            <a:r>
              <a:rPr lang="en-US"/>
              <a:t>Reduce administrative burden</a:t>
            </a:r>
          </a:p>
          <a:p>
            <a:r>
              <a:rPr lang="en-US"/>
              <a:t>Improve sales tools and CRM systems</a:t>
            </a:r>
          </a:p>
          <a:p>
            <a:r>
              <a:rPr lang="en-US"/>
              <a:t>Team-building activities</a:t>
            </a:r>
          </a:p>
          <a:p>
            <a:r>
              <a:rPr lang="en-US"/>
              <a:t>Flexible work arrangements</a:t>
            </a:r>
          </a:p>
          <a:p>
            <a:r>
              <a:rPr lang="en-US"/>
              <a:t>Better work-life balance policies</a:t>
            </a:r>
          </a:p>
          <a:p>
            <a:r>
              <a:rPr lang="en-US" b="1"/>
              <a:t>For Education Levels:</a:t>
            </a:r>
          </a:p>
          <a:p>
            <a:r>
              <a:rPr lang="en-US" b="1"/>
              <a:t>Below College</a:t>
            </a:r>
            <a:r>
              <a:rPr lang="en-US"/>
              <a:t>: Offer tuition reimbursement for continuing education</a:t>
            </a:r>
          </a:p>
          <a:p>
            <a:r>
              <a:rPr lang="en-US" b="1"/>
              <a:t>College/Bachelor</a:t>
            </a:r>
            <a:r>
              <a:rPr lang="en-US"/>
              <a:t>: Create leadership development programs</a:t>
            </a:r>
          </a:p>
          <a:p>
            <a:r>
              <a:rPr lang="en-US" b="1"/>
              <a:t>Master/Doctor</a:t>
            </a:r>
            <a:r>
              <a:rPr lang="en-US"/>
              <a:t>: Provide challenging projects and research opportunities</a:t>
            </a:r>
          </a:p>
          <a:p>
            <a:r>
              <a:rPr lang="en-US" b="1"/>
              <a:t>For All High-Risk Profiles:</a:t>
            </a:r>
          </a:p>
          <a:p>
            <a:r>
              <a:rPr lang="en-US" b="1"/>
              <a:t>Stay Interviews</a:t>
            </a:r>
            <a:r>
              <a:rPr lang="en-US"/>
              <a:t>: Conduct quarterly conversations with high-risk employees</a:t>
            </a:r>
          </a:p>
          <a:p>
            <a:r>
              <a:rPr lang="en-US" b="1"/>
              <a:t>Exit Interview Analysis</a:t>
            </a:r>
            <a:r>
              <a:rPr lang="en-US"/>
              <a:t>: Understand why people in these roles are leaving</a:t>
            </a:r>
          </a:p>
          <a:p>
            <a:r>
              <a:rPr lang="en-US" b="1"/>
              <a:t>Competitive Analysis</a:t>
            </a:r>
            <a:r>
              <a:rPr lang="en-US"/>
              <a:t>: Benchmark compensation and benefits against competitors</a:t>
            </a:r>
          </a:p>
          <a:p>
            <a:r>
              <a:rPr lang="en-US" b="1"/>
              <a:t>Engagement Surveys</a:t>
            </a:r>
            <a:r>
              <a:rPr lang="en-US"/>
              <a:t>: Identify specific pain points for each profile</a:t>
            </a:r>
          </a:p>
          <a:p>
            <a:r>
              <a:rPr lang="en-US" b="1"/>
              <a:t>Manager Training</a:t>
            </a:r>
            <a:r>
              <a:rPr lang="en-US"/>
              <a:t>: Ensure managers of high-risk teams have strong leadership skills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7F87A-196A-85BF-6291-24D6F82B8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2410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A5600-F158-940A-C593-4B992651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E3643-C6BC-C761-E9F0-D280E76F0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3245A-F130-6876-14B0-C93D15E71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Rita</a:t>
            </a:r>
          </a:p>
          <a:p>
            <a:r>
              <a:rPr lang="en-US">
                <a:ea typeface="Calibri" panose="020F0502020204030204"/>
                <a:cs typeface="Calibri" panose="020F0502020204030204"/>
              </a:rPr>
              <a:t>No </a:t>
            </a:r>
            <a:r>
              <a:rPr lang="en-US" err="1">
                <a:ea typeface="Calibri" panose="020F0502020204030204"/>
                <a:cs typeface="Calibri" panose="020F0502020204030204"/>
              </a:rPr>
              <a:t>fim</a:t>
            </a:r>
            <a:r>
              <a:rPr lang="en-US">
                <a:ea typeface="Calibri" panose="020F0502020204030204"/>
                <a:cs typeface="Calibri" panose="020F0502020204030204"/>
              </a:rPr>
              <a:t> de </a:t>
            </a:r>
            <a:r>
              <a:rPr lang="en-US" err="1">
                <a:ea typeface="Calibri" panose="020F0502020204030204"/>
                <a:cs typeface="Calibri" panose="020F0502020204030204"/>
              </a:rPr>
              <a:t>contas</a:t>
            </a:r>
            <a:r>
              <a:rPr lang="en-US">
                <a:ea typeface="Calibri" panose="020F0502020204030204"/>
                <a:cs typeface="Calibri" panose="020F0502020204030204"/>
              </a:rPr>
              <a:t>, as </a:t>
            </a:r>
            <a:r>
              <a:rPr lang="en-US" err="1">
                <a:ea typeface="Calibri" panose="020F0502020204030204"/>
                <a:cs typeface="Calibri" panose="020F0502020204030204"/>
              </a:rPr>
              <a:t>pessoas</a:t>
            </a:r>
            <a:r>
              <a:rPr lang="en-US">
                <a:ea typeface="Calibri" panose="020F0502020204030204"/>
                <a:cs typeface="Calibri" panose="020F0502020204030204"/>
              </a:rPr>
              <a:t> e as </a:t>
            </a:r>
            <a:r>
              <a:rPr lang="en-US" err="1">
                <a:ea typeface="Calibri" panose="020F0502020204030204"/>
                <a:cs typeface="Calibri" panose="020F0502020204030204"/>
              </a:rPr>
              <a:t>plantas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têm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várias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coisas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em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comum</a:t>
            </a:r>
            <a:r>
              <a:rPr lang="en-US">
                <a:ea typeface="Calibri" panose="020F0502020204030204"/>
                <a:cs typeface="Calibri" panose="020F0502020204030204"/>
              </a:rPr>
              <a:t>.</a:t>
            </a:r>
          </a:p>
          <a:p>
            <a:r>
              <a:rPr lang="en-US">
                <a:ea typeface="Calibri" panose="020F0502020204030204"/>
                <a:cs typeface="Calibri" panose="020F0502020204030204"/>
              </a:rPr>
              <a:t>Ambas </a:t>
            </a:r>
            <a:r>
              <a:rPr lang="en-US" err="1">
                <a:ea typeface="Calibri" panose="020F0502020204030204"/>
                <a:cs typeface="Calibri" panose="020F0502020204030204"/>
              </a:rPr>
              <a:t>precisam</a:t>
            </a:r>
            <a:r>
              <a:rPr lang="en-US">
                <a:ea typeface="Calibri" panose="020F0502020204030204"/>
                <a:cs typeface="Calibri" panose="020F0502020204030204"/>
              </a:rPr>
              <a:t> de ser </a:t>
            </a:r>
            <a:r>
              <a:rPr lang="en-US" err="1">
                <a:ea typeface="Calibri" panose="020F0502020204030204"/>
                <a:cs typeface="Calibri" panose="020F0502020204030204"/>
              </a:rPr>
              <a:t>bem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cuidadas</a:t>
            </a:r>
            <a:r>
              <a:rPr lang="en-US">
                <a:ea typeface="Calibri" panose="020F0502020204030204"/>
                <a:cs typeface="Calibri" panose="020F0502020204030204"/>
              </a:rPr>
              <a:t> com </a:t>
            </a:r>
            <a:r>
              <a:rPr lang="en-US" err="1">
                <a:ea typeface="Calibri" panose="020F0502020204030204"/>
                <a:cs typeface="Calibri" panose="020F0502020204030204"/>
              </a:rPr>
              <a:t>orientação</a:t>
            </a:r>
            <a:r>
              <a:rPr lang="en-US">
                <a:ea typeface="Calibri" panose="020F0502020204030204"/>
                <a:cs typeface="Calibri" panose="020F0502020204030204"/>
              </a:rPr>
              <a:t> (luz do sol), </a:t>
            </a:r>
            <a:r>
              <a:rPr lang="en-US" err="1">
                <a:ea typeface="Calibri" panose="020F0502020204030204"/>
                <a:cs typeface="Calibri" panose="020F0502020204030204"/>
              </a:rPr>
              <a:t>água</a:t>
            </a:r>
            <a:r>
              <a:rPr lang="en-US">
                <a:ea typeface="Calibri" panose="020F0502020204030204"/>
                <a:cs typeface="Calibri" panose="020F0502020204030204"/>
              </a:rPr>
              <a:t> (</a:t>
            </a:r>
            <a:r>
              <a:rPr lang="en-US" err="1">
                <a:ea typeface="Calibri" panose="020F0502020204030204"/>
                <a:cs typeface="Calibri" panose="020F0502020204030204"/>
              </a:rPr>
              <a:t>recompensas</a:t>
            </a:r>
            <a:r>
              <a:rPr lang="en-US">
                <a:ea typeface="Calibri" panose="020F0502020204030204"/>
                <a:cs typeface="Calibri" panose="020F0502020204030204"/>
              </a:rPr>
              <a:t>), </a:t>
            </a:r>
            <a:r>
              <a:rPr lang="en-US" err="1">
                <a:ea typeface="Calibri" panose="020F0502020204030204"/>
                <a:cs typeface="Calibri" panose="020F0502020204030204"/>
              </a:rPr>
              <a:t>ar</a:t>
            </a:r>
            <a:r>
              <a:rPr lang="en-US">
                <a:ea typeface="Calibri" panose="020F0502020204030204"/>
                <a:cs typeface="Calibri" panose="020F0502020204030204"/>
              </a:rPr>
              <a:t> (</a:t>
            </a:r>
            <a:r>
              <a:rPr lang="en-US" err="1">
                <a:ea typeface="Calibri" panose="020F0502020204030204"/>
                <a:cs typeface="Calibri" panose="020F0502020204030204"/>
              </a:rPr>
              <a:t>infraestrutura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definida</a:t>
            </a:r>
            <a:r>
              <a:rPr lang="en-US">
                <a:ea typeface="Calibri" panose="020F0502020204030204"/>
                <a:cs typeface="Calibri" panose="020F0502020204030204"/>
              </a:rPr>
              <a:t>), </a:t>
            </a:r>
            <a:r>
              <a:rPr lang="en-US" err="1">
                <a:ea typeface="Calibri" panose="020F0502020204030204"/>
                <a:cs typeface="Calibri" panose="020F0502020204030204"/>
              </a:rPr>
              <a:t>fertilizantes</a:t>
            </a:r>
            <a:r>
              <a:rPr lang="en-US">
                <a:ea typeface="Calibri" panose="020F0502020204030204"/>
                <a:cs typeface="Calibri" panose="020F0502020204030204"/>
              </a:rPr>
              <a:t> (</a:t>
            </a:r>
            <a:r>
              <a:rPr lang="en-US" err="1">
                <a:ea typeface="Calibri" panose="020F0502020204030204"/>
                <a:cs typeface="Calibri" panose="020F0502020204030204"/>
              </a:rPr>
              <a:t>oportunidades</a:t>
            </a:r>
            <a:r>
              <a:rPr lang="en-US">
                <a:ea typeface="Calibri" panose="020F0502020204030204"/>
                <a:cs typeface="Calibri" panose="020F0502020204030204"/>
              </a:rPr>
              <a:t> de </a:t>
            </a:r>
            <a:r>
              <a:rPr lang="en-US" err="1">
                <a:ea typeface="Calibri" panose="020F0502020204030204"/>
                <a:cs typeface="Calibri" panose="020F0502020204030204"/>
              </a:rPr>
              <a:t>treino</a:t>
            </a:r>
            <a:r>
              <a:rPr lang="en-US">
                <a:ea typeface="Calibri" panose="020F0502020204030204"/>
                <a:cs typeface="Calibri" panose="020F0502020204030204"/>
              </a:rPr>
              <a:t>), e </a:t>
            </a:r>
            <a:r>
              <a:rPr lang="en-US" err="1">
                <a:ea typeface="Calibri" panose="020F0502020204030204"/>
                <a:cs typeface="Calibri" panose="020F0502020204030204"/>
              </a:rPr>
              <a:t>também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têm</a:t>
            </a:r>
            <a:r>
              <a:rPr lang="en-US">
                <a:ea typeface="Calibri" panose="020F0502020204030204"/>
                <a:cs typeface="Calibri" panose="020F0502020204030204"/>
              </a:rPr>
              <a:t> de ser </a:t>
            </a:r>
            <a:r>
              <a:rPr lang="en-US" err="1">
                <a:ea typeface="Calibri" panose="020F0502020204030204"/>
                <a:cs typeface="Calibri" panose="020F0502020204030204"/>
              </a:rPr>
              <a:t>podadas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frequentemente</a:t>
            </a:r>
            <a:r>
              <a:rPr lang="en-US">
                <a:ea typeface="Calibri" panose="020F0502020204030204"/>
                <a:cs typeface="Calibri" panose="020F0502020204030204"/>
              </a:rPr>
              <a:t> (com feedback e </a:t>
            </a:r>
            <a:r>
              <a:rPr lang="en-US" err="1">
                <a:ea typeface="Calibri" panose="020F0502020204030204"/>
                <a:cs typeface="Calibri" panose="020F0502020204030204"/>
              </a:rPr>
              <a:t>revisões</a:t>
            </a:r>
            <a:r>
              <a:rPr lang="en-US">
                <a:ea typeface="Calibri" panose="020F0502020204030204"/>
                <a:cs typeface="Calibri" panose="020F0502020204030204"/>
              </a:rPr>
              <a:t> de </a:t>
            </a:r>
            <a:r>
              <a:rPr lang="en-US" err="1">
                <a:ea typeface="Calibri" panose="020F0502020204030204"/>
                <a:cs typeface="Calibri" panose="020F0502020204030204"/>
              </a:rPr>
              <a:t>trabalho</a:t>
            </a:r>
            <a:r>
              <a:rPr lang="en-US">
                <a:ea typeface="Calibri" panose="020F0502020204030204"/>
                <a:cs typeface="Calibri" panose="020F0502020204030204"/>
              </a:rPr>
              <a:t>)</a:t>
            </a:r>
          </a:p>
          <a:p>
            <a:r>
              <a:rPr lang="en-US" err="1">
                <a:ea typeface="Calibri" panose="020F0502020204030204"/>
                <a:cs typeface="Calibri" panose="020F0502020204030204"/>
              </a:rPr>
              <a:t>Afinal</a:t>
            </a:r>
            <a:r>
              <a:rPr lang="en-US">
                <a:ea typeface="Calibri" panose="020F0502020204030204"/>
                <a:cs typeface="Calibri" panose="020F0502020204030204"/>
              </a:rPr>
              <a:t>, as </a:t>
            </a:r>
            <a:r>
              <a:rPr lang="en-US" err="1">
                <a:ea typeface="Calibri" panose="020F0502020204030204"/>
                <a:cs typeface="Calibri" panose="020F0502020204030204"/>
              </a:rPr>
              <a:t>plantas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ficam</a:t>
            </a:r>
            <a:r>
              <a:rPr lang="en-US">
                <a:ea typeface="Calibri" panose="020F0502020204030204"/>
                <a:cs typeface="Calibri" panose="020F0502020204030204"/>
              </a:rPr>
              <a:t> no </a:t>
            </a:r>
            <a:r>
              <a:rPr lang="en-US" err="1">
                <a:ea typeface="Calibri" panose="020F0502020204030204"/>
                <a:cs typeface="Calibri" panose="020F0502020204030204"/>
              </a:rPr>
              <a:t>mesmo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sítio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durante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toda</a:t>
            </a:r>
            <a:r>
              <a:rPr lang="en-US">
                <a:ea typeface="Calibri" panose="020F0502020204030204"/>
                <a:cs typeface="Calibri" panose="020F0502020204030204"/>
              </a:rPr>
              <a:t> a </a:t>
            </a:r>
            <a:r>
              <a:rPr lang="en-US" err="1">
                <a:ea typeface="Calibri" panose="020F0502020204030204"/>
                <a:cs typeface="Calibri" panose="020F0502020204030204"/>
              </a:rPr>
              <a:t>sua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vida</a:t>
            </a:r>
            <a:r>
              <a:rPr lang="en-US">
                <a:ea typeface="Calibri" panose="020F0502020204030204"/>
                <a:cs typeface="Calibri" panose="020F0502020204030204"/>
              </a:rPr>
              <a:t>. Um </a:t>
            </a:r>
            <a:r>
              <a:rPr lang="en-US" err="1">
                <a:ea typeface="Calibri" panose="020F0502020204030204"/>
                <a:cs typeface="Calibri" panose="020F0502020204030204"/>
              </a:rPr>
              <a:t>empregado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bem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cuidado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vai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escolher</a:t>
            </a: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err="1">
                <a:ea typeface="Calibri" panose="020F0502020204030204"/>
                <a:cs typeface="Calibri" panose="020F0502020204030204"/>
              </a:rPr>
              <a:t>fazer</a:t>
            </a:r>
            <a:r>
              <a:rPr lang="en-US">
                <a:ea typeface="Calibri" panose="020F0502020204030204"/>
                <a:cs typeface="Calibri" panose="020F0502020204030204"/>
              </a:rPr>
              <a:t> o </a:t>
            </a:r>
            <a:r>
              <a:rPr lang="en-US" err="1">
                <a:ea typeface="Calibri" panose="020F0502020204030204"/>
                <a:cs typeface="Calibri" panose="020F0502020204030204"/>
              </a:rPr>
              <a:t>mesmo</a:t>
            </a:r>
            <a:r>
              <a:rPr lang="en-US">
                <a:ea typeface="Calibri" panose="020F0502020204030204"/>
                <a:cs typeface="Calibri" panose="020F0502020204030204"/>
              </a:rPr>
              <a:t>.</a:t>
            </a:r>
          </a:p>
          <a:p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B20B7-E357-BD01-0024-4E6DE1CB3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39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1E4ED-1366-6B67-3B94-FCF4A5C9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6A142-0BCD-DDB3-2A4C-102BB5E32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67F6C-D9AE-59FA-F670-728C51DAC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F98FF2-F5E9-1DF1-BDE1-7FA1C3536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48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FF6AB-A7DC-1010-D678-A40FC3D95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2FEBF2-C41E-D52A-F4B6-2B7DC47E9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EAD186-8930-5A08-2B9F-BFA4C5CA2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65601-FAAB-DC10-5203-EC5C1D0B3C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456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3320-28D7-FC92-D5E9-CDBFFCB7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2C31CB-8300-CB1C-A374-BBAC2E3BF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5D5F1-A2DF-20C7-5D18-C58009A23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211D4-1C3B-240B-4C97-760735EF38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6433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7EC86-AC9C-1973-AF00-4CADE5EE4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8353-0A6B-D926-93D8-EA7125B72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DF5C8A-1D10-8AD3-4D4F-A0DB5A3A8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EB25E-1A33-1BE3-E611-74BD4B4E8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4277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B8712-3205-3F66-BE16-1D910E590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999AC6-A580-4B04-0A95-86E29BE5E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139A7F-E771-A7D8-5647-A1B7607EC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D25E9-B7A9-964E-9630-3930AE5BCA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5494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05C3-6168-75F8-8A8E-B2B11124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FCA346-09FC-FA0B-5685-28ACF35B98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E72212-1AD6-0B14-176A-D70D18CF4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03801-CC4D-A616-BF36-BB6F89FC09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011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A0E08-A46D-C3ED-2E6D-DA6EDBF20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E053A5-9D37-F01B-AAA6-338FD8A74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597AF-3026-5297-5850-3B5921FC2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A06F6-3241-80C5-0F56-AC3B404B7D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1721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972F9-464D-2399-4464-07F2456AD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937AF0-9B3D-049C-2FFE-970D75653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8BBC3-DCB1-63E2-D4A3-88916DA379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CBAA9-39DD-E33F-BF24-608BC86D2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328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10" Type="http://schemas.openxmlformats.org/officeDocument/2006/relationships/image" Target="../media/image43.svg"/><Relationship Id="rId4" Type="http://schemas.openxmlformats.org/officeDocument/2006/relationships/image" Target="../media/image37.sv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fabric.microsoft.com/links/xDPaVlbiSz?ctid=e4bd69ff-e6f7-4c2e-b247-41b54ba2490e&amp;pbi_source=linkShare&amp;bookmarkGuid=18fc58e2-ca19-4742-8447-3e0342fd0aed" TargetMode="External"/><Relationship Id="rId3" Type="http://schemas.openxmlformats.org/officeDocument/2006/relationships/image" Target="../media/image44.png"/><Relationship Id="rId7" Type="http://schemas.openxmlformats.org/officeDocument/2006/relationships/hyperlink" Target="https://app.fabric.microsoft.com/links/xDPaVlbiSz?ctid=e4bd69ff-e6f7-4c2e-b247-41b54ba2490e&amp;pbi_source=linkShare&amp;bookmarkGuid=d9be1135-f9f4-4a72-9ba0-4f573d8311d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8.png"/><Relationship Id="rId4" Type="http://schemas.openxmlformats.org/officeDocument/2006/relationships/image" Target="../media/image3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8.png"/><Relationship Id="rId4" Type="http://schemas.openxmlformats.org/officeDocument/2006/relationships/image" Target="../media/image3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3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8.png"/><Relationship Id="rId5" Type="http://schemas.openxmlformats.org/officeDocument/2006/relationships/hyperlink" Target="https://app.fabric.microsoft.com/links/xDPaVlbiSz?ctid=e4bd69ff-e6f7-4c2e-b247-41b54ba2490e&amp;pbi_source=linkShare&amp;bookmarkGuid=d9be1135-f9f4-4a72-9ba0-4f573d8311d4" TargetMode="External"/><Relationship Id="rId4" Type="http://schemas.openxmlformats.org/officeDocument/2006/relationships/image" Target="../media/image5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2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4.png"/><Relationship Id="rId7" Type="http://schemas.openxmlformats.org/officeDocument/2006/relationships/hyperlink" Target="https://app.fabric.microsoft.com/links/xDPaVlbiSz?ctid=e4bd69ff-e6f7-4c2e-b247-41b54ba2490e&amp;pbi_source=linkShare&amp;bookmarkGuid=9935a1e9-fff3-4d5c-b1b1-98033c4b67ba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app.fabric.microsoft.com/links/xDPaVlbiSz?ctid=e4bd69ff-e6f7-4c2e-b247-41b54ba2490e&amp;pbi_source=linkShare&amp;bookmarkGuid=d9be1135-f9f4-4a72-9ba0-4f573d8311d4" TargetMode="External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8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10" Type="http://schemas.openxmlformats.org/officeDocument/2006/relationships/hyperlink" Target="https://huggingface.co/spaces/filipe-carmo/hr-attrition-prediction" TargetMode="External"/><Relationship Id="rId4" Type="http://schemas.openxmlformats.org/officeDocument/2006/relationships/image" Target="../media/image57.svg"/><Relationship Id="rId9" Type="http://schemas.openxmlformats.org/officeDocument/2006/relationships/hyperlink" Target="https://app.fabric.microsoft.com/links/xDPaVlbiSz?ctid=e4bd69ff-e6f7-4c2e-b247-41b54ba2490e&amp;pbi_source=linkShare&amp;bookmarkGuid=d9be1135-f9f4-4a72-9ba0-4f573d8311d4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3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62.png"/><Relationship Id="rId7" Type="http://schemas.openxmlformats.org/officeDocument/2006/relationships/image" Target="../media/image70.png"/><Relationship Id="rId12" Type="http://schemas.openxmlformats.org/officeDocument/2006/relationships/image" Target="../media/image7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9.sv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svg"/><Relationship Id="rId4" Type="http://schemas.openxmlformats.org/officeDocument/2006/relationships/image" Target="../media/image63.svg"/><Relationship Id="rId9" Type="http://schemas.openxmlformats.org/officeDocument/2006/relationships/image" Target="../media/image7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osts/parag-abhonkar-55a3b173_growthmindse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6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fabric.microsoft.com/links/xDPaVlbiSz?ctid=e4bd69ff-e6f7-4c2e-b247-41b54ba2490e&amp;pbi_source=linkShare" TargetMode="Externa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hyperlink" Target="https://app.fabric.microsoft.com/links/xDPaVlbiSz?ctid=e4bd69ff-e6f7-4c2e-b247-41b54ba2490e&amp;pbi_source=linkShare&amp;bookmarkGuid=7a351872-055a-4498-bd94-d8bedbc1770c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app.fabric.microsoft.com/links/xDPaVlbiSz?ctid=e4bd69ff-e6f7-4c2e-b247-41b54ba2490e&amp;pbi_source=linkShare&amp;bookmarkGuid=d9be1135-f9f4-4a72-9ba0-4f573d8311d4" TargetMode="External"/><Relationship Id="rId5" Type="http://schemas.openxmlformats.org/officeDocument/2006/relationships/chart" Target="../charts/chart1.xml"/><Relationship Id="rId4" Type="http://schemas.openxmlformats.org/officeDocument/2006/relationships/image" Target="../media/image3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svg"/><Relationship Id="rId3" Type="http://schemas.openxmlformats.org/officeDocument/2006/relationships/image" Target="../media/image40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41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707BBA2-DBD4-A587-2BE7-D3E2E18597A0}"/>
              </a:ext>
            </a:extLst>
          </p:cNvPr>
          <p:cNvSpPr/>
          <p:nvPr/>
        </p:nvSpPr>
        <p:spPr>
          <a:xfrm>
            <a:off x="5905500" y="0"/>
            <a:ext cx="6286500" cy="6858000"/>
          </a:xfrm>
          <a:prstGeom prst="rect">
            <a:avLst/>
          </a:prstGeom>
          <a:solidFill>
            <a:srgbClr val="F7F6F3">
              <a:alpha val="94000"/>
            </a:srgbClr>
          </a:solidFill>
          <a:ln>
            <a:solidFill>
              <a:srgbClr val="FBF4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E9BAD71-9EF9-5146-FFC8-BF64026A95E3}"/>
              </a:ext>
            </a:extLst>
          </p:cNvPr>
          <p:cNvSpPr txBox="1">
            <a:spLocks/>
          </p:cNvSpPr>
          <p:nvPr/>
        </p:nvSpPr>
        <p:spPr>
          <a:xfrm>
            <a:off x="8632770" y="159841"/>
            <a:ext cx="1813558" cy="7524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 noProof="0"/>
              <a:t>Enterprise Data Science Bootcamp</a:t>
            </a:r>
          </a:p>
          <a:p>
            <a:pPr marL="0" indent="0" algn="r">
              <a:buNone/>
            </a:pPr>
            <a:r>
              <a:rPr lang="en-US" sz="1200" noProof="0"/>
              <a:t>2025</a:t>
            </a:r>
          </a:p>
        </p:txBody>
      </p:sp>
      <p:pic>
        <p:nvPicPr>
          <p:cNvPr id="6" name="Picture 5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21819DDA-F9A4-79C5-E69C-AA3D9CB7EF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5000"/>
                    </a14:imgEffect>
                  </a14:imgLayer>
                </a14:imgProps>
              </a:ext>
            </a:extLst>
          </a:blip>
          <a:srcRect t="22466" b="25432"/>
          <a:stretch>
            <a:fillRect/>
          </a:stretch>
        </p:blipFill>
        <p:spPr>
          <a:xfrm>
            <a:off x="10372437" y="131266"/>
            <a:ext cx="1444128" cy="75242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3B8790-629E-DA54-DB26-82F1B5447465}"/>
              </a:ext>
            </a:extLst>
          </p:cNvPr>
          <p:cNvCxnSpPr>
            <a:cxnSpLocks/>
          </p:cNvCxnSpPr>
          <p:nvPr/>
        </p:nvCxnSpPr>
        <p:spPr>
          <a:xfrm>
            <a:off x="10464800" y="131266"/>
            <a:ext cx="0" cy="752420"/>
          </a:xfrm>
          <a:prstGeom prst="line">
            <a:avLst/>
          </a:prstGeom>
          <a:ln w="19050">
            <a:solidFill>
              <a:srgbClr val="C9C2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B79C292-7BED-5648-F730-9C485E8C7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497024"/>
              </p:ext>
            </p:extLst>
          </p:nvPr>
        </p:nvGraphicFramePr>
        <p:xfrm>
          <a:off x="9337675" y="5557120"/>
          <a:ext cx="2711450" cy="1036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4650">
                  <a:extLst>
                    <a:ext uri="{9D8B030D-6E8A-4147-A177-3AD203B41FA5}">
                      <a16:colId xmlns:a16="http://schemas.microsoft.com/office/drawing/2014/main" val="35847958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4071446217"/>
                    </a:ext>
                  </a:extLst>
                </a:gridCol>
              </a:tblGrid>
              <a:tr h="239184">
                <a:tc>
                  <a:txBody>
                    <a:bodyPr/>
                    <a:lstStyle/>
                    <a:p>
                      <a:pPr algn="r"/>
                      <a:r>
                        <a:rPr lang="en-US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Filipe Brandão Carmo</a:t>
                      </a:r>
                      <a:endParaRPr lang="en-US" sz="1100" noProof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noProof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20240828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8609394"/>
                  </a:ext>
                </a:extLst>
              </a:tr>
              <a:tr h="239184">
                <a:tc>
                  <a:txBody>
                    <a:bodyPr/>
                    <a:lstStyle/>
                    <a:p>
                      <a:pPr algn="r"/>
                      <a:r>
                        <a:rPr lang="en-US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João Silva</a:t>
                      </a:r>
                      <a:endParaRPr lang="en-US" sz="1100" noProof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noProof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20241655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6133687"/>
                  </a:ext>
                </a:extLst>
              </a:tr>
              <a:tr h="239184">
                <a:tc>
                  <a:txBody>
                    <a:bodyPr/>
                    <a:lstStyle/>
                    <a:p>
                      <a:pPr algn="r"/>
                      <a:r>
                        <a:rPr lang="en-US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Rita Marques</a:t>
                      </a:r>
                      <a:endParaRPr lang="en-US" sz="1100" noProof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noProof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20242019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7873967"/>
                  </a:ext>
                </a:extLst>
              </a:tr>
              <a:tr h="239184">
                <a:tc>
                  <a:txBody>
                    <a:bodyPr/>
                    <a:lstStyle/>
                    <a:p>
                      <a:pPr algn="r" rtl="0"/>
                      <a:r>
                        <a:rPr lang="en-US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Sara Henriques</a:t>
                      </a:r>
                      <a:endParaRPr lang="en-US" sz="1100" b="0" noProof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noProof="0"/>
                        <a:t>20242070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6328004"/>
                  </a:ext>
                </a:extLst>
              </a:tr>
            </a:tbl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AF633B50-7100-32A0-78E1-E1BCC26147B6}"/>
              </a:ext>
            </a:extLst>
          </p:cNvPr>
          <p:cNvSpPr txBox="1">
            <a:spLocks/>
          </p:cNvSpPr>
          <p:nvPr/>
        </p:nvSpPr>
        <p:spPr>
          <a:xfrm>
            <a:off x="6096000" y="2452688"/>
            <a:ext cx="5905499" cy="214312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cap="none" noProof="0">
                <a:solidFill>
                  <a:srgbClr val="5F5B37"/>
                </a:solidFill>
              </a:rPr>
              <a:t>Understanding and predicting </a:t>
            </a:r>
          </a:p>
          <a:p>
            <a:pPr algn="ctr"/>
            <a:br>
              <a:rPr lang="en-US" b="1" cap="none" noProof="0">
                <a:solidFill>
                  <a:srgbClr val="254B66"/>
                </a:solidFill>
              </a:rPr>
            </a:br>
            <a:r>
              <a:rPr lang="en-US" b="1" cap="none" noProof="0">
                <a:solidFill>
                  <a:srgbClr val="AD4F36"/>
                </a:solidFill>
              </a:rPr>
              <a:t>Employee Attrition</a:t>
            </a:r>
          </a:p>
        </p:txBody>
      </p:sp>
      <p:pic>
        <p:nvPicPr>
          <p:cNvPr id="12" name="Graphic 11" descr="Hero Male with solid fill">
            <a:extLst>
              <a:ext uri="{FF2B5EF4-FFF2-40B4-BE49-F238E27FC236}">
                <a16:creationId xmlns:a16="http://schemas.microsoft.com/office/drawing/2014/main" id="{FD55860D-A165-CE53-C999-4C23C7EFFD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3702" y="6129034"/>
            <a:ext cx="464406" cy="46440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5379323-628D-3335-D4F3-C37952AC5434}"/>
              </a:ext>
            </a:extLst>
          </p:cNvPr>
          <p:cNvSpPr/>
          <p:nvPr/>
        </p:nvSpPr>
        <p:spPr>
          <a:xfrm>
            <a:off x="1366656" y="6234120"/>
            <a:ext cx="3934773" cy="3593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0">
                <a:solidFill>
                  <a:srgbClr val="5F5B37"/>
                </a:solidFill>
              </a:rPr>
              <a:t>People are the key to the company’s success.</a:t>
            </a:r>
          </a:p>
        </p:txBody>
      </p:sp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A0F3C1D4-2C80-9C18-594D-C8FE863D6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cap="none" noProof="0">
                <a:solidFill>
                  <a:srgbClr val="AD4F36"/>
                </a:solidFill>
              </a:rPr>
              <a:t>Agenda</a:t>
            </a:r>
          </a:p>
        </p:txBody>
      </p:sp>
      <p:graphicFrame>
        <p:nvGraphicFramePr>
          <p:cNvPr id="55" name="Table 54">
            <a:extLst>
              <a:ext uri="{FF2B5EF4-FFF2-40B4-BE49-F238E27FC236}">
                <a16:creationId xmlns:a16="http://schemas.microsoft.com/office/drawing/2014/main" id="{B0889D7D-F1DB-542B-A82C-4CB84DD6F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91125"/>
              </p:ext>
            </p:extLst>
          </p:nvPr>
        </p:nvGraphicFramePr>
        <p:xfrm>
          <a:off x="1885156" y="2351089"/>
          <a:ext cx="6239669" cy="284003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05669">
                  <a:extLst>
                    <a:ext uri="{9D8B030D-6E8A-4147-A177-3AD203B41FA5}">
                      <a16:colId xmlns:a16="http://schemas.microsoft.com/office/drawing/2014/main" val="1916376028"/>
                    </a:ext>
                  </a:extLst>
                </a:gridCol>
                <a:gridCol w="5334000">
                  <a:extLst>
                    <a:ext uri="{9D8B030D-6E8A-4147-A177-3AD203B41FA5}">
                      <a16:colId xmlns:a16="http://schemas.microsoft.com/office/drawing/2014/main" val="3096347315"/>
                    </a:ext>
                  </a:extLst>
                </a:gridCol>
              </a:tblGrid>
              <a:tr h="568007">
                <a:tc>
                  <a:txBody>
                    <a:bodyPr/>
                    <a:lstStyle/>
                    <a:p>
                      <a:pPr algn="r"/>
                      <a:r>
                        <a:rPr lang="en-US" sz="2400" noProof="0">
                          <a:solidFill>
                            <a:srgbClr val="5F5B37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kern="1200" noProof="0">
                          <a:solidFill>
                            <a:srgbClr val="5F5B37"/>
                          </a:solidFill>
                          <a:latin typeface="+mn-lt"/>
                          <a:ea typeface="+mn-ea"/>
                          <a:cs typeface="+mn-cs"/>
                        </a:rPr>
                        <a:t> Introduction</a:t>
                      </a:r>
                    </a:p>
                  </a:txBody>
                  <a:tcPr anchor="b">
                    <a:lnL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9066388"/>
                  </a:ext>
                </a:extLst>
              </a:tr>
              <a:tr h="568007">
                <a:tc>
                  <a:txBody>
                    <a:bodyPr/>
                    <a:lstStyle/>
                    <a:p>
                      <a:pPr algn="r"/>
                      <a:r>
                        <a:rPr lang="en-US" sz="2400" b="1" noProof="0">
                          <a:solidFill>
                            <a:srgbClr val="5F5B37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>
                          <a:solidFill>
                            <a:srgbClr val="5F5B37"/>
                          </a:solidFill>
                        </a:rPr>
                        <a:t> Exploratory Data Analysis</a:t>
                      </a:r>
                    </a:p>
                  </a:txBody>
                  <a:tcPr anchor="b">
                    <a:lnL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6125804"/>
                  </a:ext>
                </a:extLst>
              </a:tr>
              <a:tr h="568007">
                <a:tc>
                  <a:txBody>
                    <a:bodyPr/>
                    <a:lstStyle/>
                    <a:p>
                      <a:pPr algn="r"/>
                      <a:r>
                        <a:rPr lang="en-US" sz="2400" b="1" noProof="0">
                          <a:solidFill>
                            <a:srgbClr val="5F5B37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>
                          <a:solidFill>
                            <a:srgbClr val="5F5B37"/>
                          </a:solidFill>
                        </a:rPr>
                        <a:t> Feature Selection</a:t>
                      </a:r>
                    </a:p>
                  </a:txBody>
                  <a:tcPr anchor="b">
                    <a:lnL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80843"/>
                  </a:ext>
                </a:extLst>
              </a:tr>
              <a:tr h="568007">
                <a:tc>
                  <a:txBody>
                    <a:bodyPr/>
                    <a:lstStyle/>
                    <a:p>
                      <a:pPr algn="r"/>
                      <a:r>
                        <a:rPr lang="en-US" sz="2400" b="1" noProof="0">
                          <a:solidFill>
                            <a:srgbClr val="5F5B37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>
                          <a:solidFill>
                            <a:srgbClr val="5F5B37"/>
                          </a:solidFill>
                        </a:rPr>
                        <a:t> Predictive Model</a:t>
                      </a:r>
                    </a:p>
                  </a:txBody>
                  <a:tcPr anchor="b">
                    <a:lnL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4033923"/>
                  </a:ext>
                </a:extLst>
              </a:tr>
              <a:tr h="568007">
                <a:tc>
                  <a:txBody>
                    <a:bodyPr/>
                    <a:lstStyle/>
                    <a:p>
                      <a:pPr algn="r"/>
                      <a:r>
                        <a:rPr lang="en-US" sz="2400" b="1" noProof="0">
                          <a:solidFill>
                            <a:srgbClr val="5F5B37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>
                          <a:solidFill>
                            <a:srgbClr val="5F5B37"/>
                          </a:solidFill>
                        </a:rPr>
                        <a:t> Insights &amp; Recommendations</a:t>
                      </a:r>
                    </a:p>
                  </a:txBody>
                  <a:tcPr anchor="b">
                    <a:lnL w="12700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009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7824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883C81-2FA3-E320-B0C2-D49B92F49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030C9B70-9DD9-BBD8-25DB-05D1A13D59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1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55B92F4-41E9-33D8-5CEE-90E301F2B344}"/>
              </a:ext>
            </a:extLst>
          </p:cNvPr>
          <p:cNvGrpSpPr/>
          <p:nvPr/>
        </p:nvGrpSpPr>
        <p:grpSpPr>
          <a:xfrm>
            <a:off x="1669204" y="3785981"/>
            <a:ext cx="2586036" cy="2473243"/>
            <a:chOff x="1751590" y="3375891"/>
            <a:chExt cx="2586036" cy="247324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523B9E-A7D9-4F6F-D3AB-BC2C07419766}"/>
                </a:ext>
              </a:extLst>
            </p:cNvPr>
            <p:cNvSpPr/>
            <p:nvPr/>
          </p:nvSpPr>
          <p:spPr>
            <a:xfrm>
              <a:off x="1751590" y="3375891"/>
              <a:ext cx="2586036" cy="2473243"/>
            </a:xfrm>
            <a:prstGeom prst="roundRect">
              <a:avLst/>
            </a:prstGeom>
            <a:solidFill>
              <a:srgbClr val="F7F6F3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Identify</a:t>
              </a:r>
              <a:r>
                <a:rPr lang="en-US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key factors influencing attrition</a:t>
              </a:r>
            </a:p>
          </p:txBody>
        </p:sp>
        <p:pic>
          <p:nvPicPr>
            <p:cNvPr id="10" name="Graphic 9" descr="Key with solid fill">
              <a:extLst>
                <a:ext uri="{FF2B5EF4-FFF2-40B4-BE49-F238E27FC236}">
                  <a16:creationId xmlns:a16="http://schemas.microsoft.com/office/drawing/2014/main" id="{C29B67F2-A30C-3EE6-02DD-07CEDAC0CD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735262" y="3454031"/>
              <a:ext cx="618692" cy="618692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3B9B28B-E473-48B4-6C8E-2418FDDA4652}"/>
              </a:ext>
            </a:extLst>
          </p:cNvPr>
          <p:cNvGrpSpPr/>
          <p:nvPr/>
        </p:nvGrpSpPr>
        <p:grpSpPr>
          <a:xfrm>
            <a:off x="4624365" y="3785981"/>
            <a:ext cx="2586036" cy="2473243"/>
            <a:chOff x="5611915" y="3511419"/>
            <a:chExt cx="2586036" cy="247324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4B5CF77-3F92-A787-E576-F4BB26CDFDD2}"/>
                </a:ext>
              </a:extLst>
            </p:cNvPr>
            <p:cNvSpPr/>
            <p:nvPr/>
          </p:nvSpPr>
          <p:spPr>
            <a:xfrm>
              <a:off x="5611915" y="3511419"/>
              <a:ext cx="2586036" cy="2473243"/>
            </a:xfrm>
            <a:prstGeom prst="roundRect">
              <a:avLst/>
            </a:prstGeom>
            <a:solidFill>
              <a:srgbClr val="F7F6F3"/>
            </a:solidFill>
            <a:ln w="19050">
              <a:solidFill>
                <a:srgbClr val="AD4F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noProof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b="1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Recommend</a:t>
              </a:r>
              <a:r>
                <a:rPr lang="en-US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strategies to retain valuable employees</a:t>
              </a:r>
            </a:p>
          </p:txBody>
        </p:sp>
        <p:pic>
          <p:nvPicPr>
            <p:cNvPr id="17" name="Graphic 16" descr="Clipboard All Crosses with solid fill">
              <a:extLst>
                <a:ext uri="{FF2B5EF4-FFF2-40B4-BE49-F238E27FC236}">
                  <a16:creationId xmlns:a16="http://schemas.microsoft.com/office/drawing/2014/main" id="{D8C7CA9B-17BE-6E6A-71DB-0816AC132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595333" y="3613008"/>
              <a:ext cx="619200" cy="619200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1363A5E-7CD0-0300-AE69-66C04AC617AC}"/>
              </a:ext>
            </a:extLst>
          </p:cNvPr>
          <p:cNvGrpSpPr/>
          <p:nvPr/>
        </p:nvGrpSpPr>
        <p:grpSpPr>
          <a:xfrm>
            <a:off x="7661152" y="3785981"/>
            <a:ext cx="2586036" cy="2473243"/>
            <a:chOff x="8031091" y="3840188"/>
            <a:chExt cx="2586036" cy="247324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490DB79-2252-6296-D896-5A2864AADFCC}"/>
                </a:ext>
              </a:extLst>
            </p:cNvPr>
            <p:cNvSpPr/>
            <p:nvPr/>
          </p:nvSpPr>
          <p:spPr>
            <a:xfrm>
              <a:off x="8031091" y="3840188"/>
              <a:ext cx="2586036" cy="2473243"/>
            </a:xfrm>
            <a:prstGeom prst="roundRect">
              <a:avLst/>
            </a:prstGeom>
            <a:solidFill>
              <a:srgbClr val="F7F6F3"/>
            </a:solidFill>
            <a:ln w="19050">
              <a:solidFill>
                <a:srgbClr val="254B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noProof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lang="en-US" b="1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Predict</a:t>
              </a:r>
              <a:r>
                <a:rPr lang="en-US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whether an employee is likely to leave the company</a:t>
              </a:r>
            </a:p>
          </p:txBody>
        </p:sp>
        <p:pic>
          <p:nvPicPr>
            <p:cNvPr id="15" name="Graphic 14" descr="Social network with solid fill">
              <a:extLst>
                <a:ext uri="{FF2B5EF4-FFF2-40B4-BE49-F238E27FC236}">
                  <a16:creationId xmlns:a16="http://schemas.microsoft.com/office/drawing/2014/main" id="{357C9C8F-6FEC-CCD7-8620-8EA4A5CAE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014509" y="3913739"/>
              <a:ext cx="648000" cy="648000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622C4D5C-3BB1-B2D8-A4A0-EFB9857D852A}"/>
              </a:ext>
            </a:extLst>
          </p:cNvPr>
          <p:cNvSpPr txBox="1"/>
          <p:nvPr/>
        </p:nvSpPr>
        <p:spPr>
          <a:xfrm>
            <a:off x="919885" y="503653"/>
            <a:ext cx="9185819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High turnover rates are costly and disruptive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It is fundamental to anticipate which employees are likely to leave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53B4733-58F1-FE57-B103-335BDD89DAA9}"/>
              </a:ext>
            </a:extLst>
          </p:cNvPr>
          <p:cNvSpPr/>
          <p:nvPr/>
        </p:nvSpPr>
        <p:spPr>
          <a:xfrm>
            <a:off x="1669204" y="2714827"/>
            <a:ext cx="8577984" cy="591127"/>
          </a:xfrm>
          <a:prstGeom prst="round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noProof="0">
                <a:solidFill>
                  <a:srgbClr val="5F5B37"/>
                </a:solidFill>
              </a:rPr>
              <a:t>Project Business Goals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D5B22EF-61AC-60E7-6211-DC947916D4D4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2962222" y="3342898"/>
            <a:ext cx="0" cy="443083"/>
          </a:xfrm>
          <a:prstGeom prst="straightConnector1">
            <a:avLst/>
          </a:prstGeom>
          <a:ln w="28575">
            <a:solidFill>
              <a:srgbClr val="C9C2AE"/>
            </a:solidFill>
            <a:tailEnd type="triangle"/>
          </a:ln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5B349B8-CC4C-0E1D-0E06-1A0CD9DBDE2F}"/>
              </a:ext>
            </a:extLst>
          </p:cNvPr>
          <p:cNvCxnSpPr>
            <a:cxnSpLocks/>
          </p:cNvCxnSpPr>
          <p:nvPr/>
        </p:nvCxnSpPr>
        <p:spPr>
          <a:xfrm>
            <a:off x="5917383" y="3342898"/>
            <a:ext cx="0" cy="443083"/>
          </a:xfrm>
          <a:prstGeom prst="straightConnector1">
            <a:avLst/>
          </a:prstGeom>
          <a:ln w="28575">
            <a:solidFill>
              <a:srgbClr val="C9C2AE"/>
            </a:solidFill>
            <a:tailEnd type="triangle"/>
          </a:ln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25D0955-808C-C528-0CEF-5760ACD48C9D}"/>
              </a:ext>
            </a:extLst>
          </p:cNvPr>
          <p:cNvCxnSpPr>
            <a:cxnSpLocks/>
          </p:cNvCxnSpPr>
          <p:nvPr/>
        </p:nvCxnSpPr>
        <p:spPr>
          <a:xfrm>
            <a:off x="8939845" y="3342897"/>
            <a:ext cx="0" cy="443083"/>
          </a:xfrm>
          <a:prstGeom prst="straightConnector1">
            <a:avLst/>
          </a:prstGeom>
          <a:ln w="28575">
            <a:solidFill>
              <a:srgbClr val="C9C2AE"/>
            </a:solidFill>
            <a:tailEnd type="triangle"/>
          </a:ln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4AAA1E8-F587-EF7E-2CAE-6429DF90FF37}"/>
              </a:ext>
            </a:extLst>
          </p:cNvPr>
          <p:cNvCxnSpPr>
            <a:cxnSpLocks/>
          </p:cNvCxnSpPr>
          <p:nvPr/>
        </p:nvCxnSpPr>
        <p:spPr>
          <a:xfrm>
            <a:off x="1669204" y="3342897"/>
            <a:ext cx="8577984" cy="0"/>
          </a:xfrm>
          <a:prstGeom prst="line">
            <a:avLst/>
          </a:prstGeom>
          <a:ln w="28575">
            <a:solidFill>
              <a:srgbClr val="C9C2AE"/>
            </a:solidFill>
          </a:ln>
          <a:effectLst>
            <a:innerShdw blurRad="63500" dist="50800" dir="189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B3EEFBFC-B66B-3545-02C4-D6AD309E064E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Introduction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BE09CEC6-145D-B61F-6717-CB138FDAA785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45C228-906E-B670-DF47-237DCE5F3D49}"/>
              </a:ext>
            </a:extLst>
          </p:cNvPr>
          <p:cNvSpPr txBox="1"/>
          <p:nvPr/>
        </p:nvSpPr>
        <p:spPr>
          <a:xfrm>
            <a:off x="1628391" y="2215214"/>
            <a:ext cx="85779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16% </a:t>
            </a:r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of the companies’ employees left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BDBB915-D7CB-96D9-AF7C-1D18949DD835}"/>
              </a:ext>
            </a:extLst>
          </p:cNvPr>
          <p:cNvCxnSpPr/>
          <p:nvPr/>
        </p:nvCxnSpPr>
        <p:spPr>
          <a:xfrm>
            <a:off x="3262424" y="2418168"/>
            <a:ext cx="7335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33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88C5D-CEB8-5D51-F185-5A1C9A8F4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4878FD25-2086-C877-149E-E3F601A70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55E807-D7B5-D77E-D15F-B46C5F247653}"/>
              </a:ext>
            </a:extLst>
          </p:cNvPr>
          <p:cNvSpPr txBox="1"/>
          <p:nvPr/>
        </p:nvSpPr>
        <p:spPr>
          <a:xfrm>
            <a:off x="919885" y="503653"/>
            <a:ext cx="9185819" cy="132254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Exploratory Data Analysis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31 features categorized for attraction analysis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38A17F6-48D8-D0B6-44F7-4B5ABAD5BB21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2CA39D2A-EA11-B442-BDAD-6FC2E673C9EE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26F454A-811B-F5B9-FCCD-0721D3DFD5EB}"/>
              </a:ext>
            </a:extLst>
          </p:cNvPr>
          <p:cNvGrpSpPr/>
          <p:nvPr/>
        </p:nvGrpSpPr>
        <p:grpSpPr>
          <a:xfrm>
            <a:off x="751345" y="2355158"/>
            <a:ext cx="2556000" cy="4061803"/>
            <a:chOff x="762496" y="2321705"/>
            <a:chExt cx="2556000" cy="4061803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C87D40F-17C1-0860-C85F-A370B0B8EA6E}"/>
                </a:ext>
              </a:extLst>
            </p:cNvPr>
            <p:cNvGrpSpPr/>
            <p:nvPr/>
          </p:nvGrpSpPr>
          <p:grpSpPr>
            <a:xfrm>
              <a:off x="1536496" y="2321705"/>
              <a:ext cx="1008000" cy="1008000"/>
              <a:chOff x="1835167" y="2149922"/>
              <a:chExt cx="1008000" cy="1008000"/>
            </a:xfr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6C4FB81-2BB8-65BC-0ECA-533D8B60C992}"/>
                  </a:ext>
                </a:extLst>
              </p:cNvPr>
              <p:cNvSpPr/>
              <p:nvPr/>
            </p:nvSpPr>
            <p:spPr>
              <a:xfrm>
                <a:off x="1835167" y="2149922"/>
                <a:ext cx="1008000" cy="1008000"/>
              </a:xfrm>
              <a:prstGeom prst="ellipse">
                <a:avLst/>
              </a:prstGeom>
              <a:solidFill>
                <a:srgbClr val="254B66"/>
              </a:solidFill>
              <a:ln>
                <a:solidFill>
                  <a:srgbClr val="254B6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180F62A-3411-631A-4B79-01457DDD2218}"/>
                  </a:ext>
                </a:extLst>
              </p:cNvPr>
              <p:cNvGrpSpPr/>
              <p:nvPr/>
            </p:nvGrpSpPr>
            <p:grpSpPr>
              <a:xfrm>
                <a:off x="1889167" y="2203922"/>
                <a:ext cx="900000" cy="900000"/>
                <a:chOff x="1795643" y="2026558"/>
                <a:chExt cx="900000" cy="900000"/>
              </a:xfrm>
            </p:grpSpPr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2CEEE2AD-0DA2-7953-522A-F97904854912}"/>
                    </a:ext>
                  </a:extLst>
                </p:cNvPr>
                <p:cNvSpPr/>
                <p:nvPr/>
              </p:nvSpPr>
              <p:spPr>
                <a:xfrm>
                  <a:off x="1795643" y="2026558"/>
                  <a:ext cx="900000" cy="900000"/>
                </a:xfrm>
                <a:prstGeom prst="ellipse">
                  <a:avLst/>
                </a:prstGeom>
                <a:ln>
                  <a:solidFill>
                    <a:srgbClr val="254B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noProof="0"/>
                </a:p>
              </p:txBody>
            </p:sp>
            <p:pic>
              <p:nvPicPr>
                <p:cNvPr id="8" name="Graphic 7" descr="Group of men with solid fill">
                  <a:extLst>
                    <a:ext uri="{FF2B5EF4-FFF2-40B4-BE49-F238E27FC236}">
                      <a16:creationId xmlns:a16="http://schemas.microsoft.com/office/drawing/2014/main" id="{1A8F1A52-7B0A-91D0-819A-500D3035EF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57643" y="2188558"/>
                  <a:ext cx="576000" cy="576000"/>
                </a:xfrm>
                <a:prstGeom prst="rect">
                  <a:avLst/>
                </a:prstGeom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p:spPr>
            </p:pic>
          </p:grpSp>
        </p:grpSp>
        <p:sp>
          <p:nvSpPr>
            <p:cNvPr id="37" name="Arrow: Chevron 36">
              <a:extLst>
                <a:ext uri="{FF2B5EF4-FFF2-40B4-BE49-F238E27FC236}">
                  <a16:creationId xmlns:a16="http://schemas.microsoft.com/office/drawing/2014/main" id="{441AB39D-6E7C-70B5-B7C4-4A5BB69B507A}"/>
                </a:ext>
              </a:extLst>
            </p:cNvPr>
            <p:cNvSpPr/>
            <p:nvPr/>
          </p:nvSpPr>
          <p:spPr>
            <a:xfrm rot="5400000">
              <a:off x="360528" y="3425540"/>
              <a:ext cx="3359936" cy="2556000"/>
            </a:xfrm>
            <a:prstGeom prst="chevron">
              <a:avLst>
                <a:gd name="adj" fmla="val 20756"/>
              </a:avLst>
            </a:prstGeom>
            <a:ln>
              <a:solidFill>
                <a:srgbClr val="254B66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t"/>
            <a:lstStyle/>
            <a:p>
              <a:pPr algn="ctr"/>
              <a:endParaRPr lang="en-US" noProof="0">
                <a:solidFill>
                  <a:srgbClr val="254B66"/>
                </a:solidFill>
              </a:endParaRPr>
            </a:p>
            <a:p>
              <a:pPr algn="ctr"/>
              <a:r>
                <a:rPr lang="en-US" b="1" noProof="0">
                  <a:solidFill>
                    <a:srgbClr val="254B66"/>
                  </a:solidFill>
                </a:rPr>
                <a:t>Demographics</a:t>
              </a:r>
            </a:p>
            <a:p>
              <a:pPr algn="ctr"/>
              <a:endParaRPr lang="en-US" b="1" noProof="0">
                <a:solidFill>
                  <a:srgbClr val="254B66"/>
                </a:solidFill>
              </a:endParaRP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Age</a:t>
              </a: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Distance from home</a:t>
              </a: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Gender</a:t>
              </a: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Marital Status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3C04650-988B-A01F-7A51-CB5B1CC54254}"/>
              </a:ext>
            </a:extLst>
          </p:cNvPr>
          <p:cNvGrpSpPr/>
          <p:nvPr/>
        </p:nvGrpSpPr>
        <p:grpSpPr>
          <a:xfrm>
            <a:off x="3555014" y="2355158"/>
            <a:ext cx="2556000" cy="4061802"/>
            <a:chOff x="3539999" y="2321705"/>
            <a:chExt cx="2556000" cy="4061802"/>
          </a:xfrm>
        </p:grpSpPr>
        <p:sp>
          <p:nvSpPr>
            <p:cNvPr id="47" name="Arrow: Chevron 46">
              <a:extLst>
                <a:ext uri="{FF2B5EF4-FFF2-40B4-BE49-F238E27FC236}">
                  <a16:creationId xmlns:a16="http://schemas.microsoft.com/office/drawing/2014/main" id="{1BA877F3-5D80-0529-0361-53482C54B784}"/>
                </a:ext>
              </a:extLst>
            </p:cNvPr>
            <p:cNvSpPr/>
            <p:nvPr/>
          </p:nvSpPr>
          <p:spPr>
            <a:xfrm rot="5400000">
              <a:off x="3138031" y="3425540"/>
              <a:ext cx="3359935" cy="2556000"/>
            </a:xfrm>
            <a:prstGeom prst="chevron">
              <a:avLst>
                <a:gd name="adj" fmla="val 20756"/>
              </a:avLst>
            </a:prstGeom>
            <a:ln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t"/>
            <a:lstStyle/>
            <a:p>
              <a:pPr algn="ctr"/>
              <a:endParaRPr lang="en-US" noProof="0">
                <a:solidFill>
                  <a:srgbClr val="254B66"/>
                </a:solidFill>
              </a:endParaRPr>
            </a:p>
            <a:p>
              <a:pPr algn="ctr"/>
              <a:r>
                <a:rPr lang="en-US" b="1" noProof="0">
                  <a:solidFill>
                    <a:srgbClr val="FFC000"/>
                  </a:solidFill>
                </a:rPr>
                <a:t>Job characteristics</a:t>
              </a:r>
            </a:p>
            <a:p>
              <a:pPr algn="ctr"/>
              <a:endParaRPr lang="en-US" b="1" noProof="0">
                <a:solidFill>
                  <a:srgbClr val="FFC000"/>
                </a:solidFill>
              </a:endParaRP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Department and role</a:t>
              </a: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Frequency of travel</a:t>
              </a: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Rates</a:t>
              </a: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Environment and Job  satisfaction</a:t>
              </a:r>
            </a:p>
            <a:p>
              <a:pPr marL="252000"/>
              <a:r>
                <a:rPr lang="en-US" sz="16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- Work-life balance  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FAA3C67B-ADC3-699F-982A-075A0AC9E3B4}"/>
                </a:ext>
              </a:extLst>
            </p:cNvPr>
            <p:cNvGrpSpPr/>
            <p:nvPr/>
          </p:nvGrpSpPr>
          <p:grpSpPr>
            <a:xfrm>
              <a:off x="4313998" y="2321705"/>
              <a:ext cx="1008000" cy="1008000"/>
              <a:chOff x="4241551" y="2321990"/>
              <a:chExt cx="1008000" cy="1008000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631F3E4B-4AF6-38BB-5B75-A6498A19E81D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057D36F6-15AA-63E3-09CF-636AFB3A847B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pic>
            <p:nvPicPr>
              <p:cNvPr id="13" name="Graphic 12" descr="Briefcase with solid fill">
                <a:extLst>
                  <a:ext uri="{FF2B5EF4-FFF2-40B4-BE49-F238E27FC236}">
                    <a16:creationId xmlns:a16="http://schemas.microsoft.com/office/drawing/2014/main" id="{27B85EB4-17FE-8563-5E81-3D2DB61D98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4460588" y="2541027"/>
                <a:ext cx="569926" cy="569926"/>
              </a:xfrm>
              <a:prstGeom prst="rect">
                <a:avLst/>
              </a:prstGeom>
              <a:effectLst>
                <a:innerShdw blurRad="63500" dist="50800" dir="16200000">
                  <a:prstClr val="black">
                    <a:alpha val="50000"/>
                  </a:prstClr>
                </a:innerShdw>
              </a:effectLst>
            </p:spPr>
          </p:pic>
        </p:grpSp>
      </p:grpSp>
      <p:sp>
        <p:nvSpPr>
          <p:cNvPr id="54" name="Arrow: Chevron 53">
            <a:extLst>
              <a:ext uri="{FF2B5EF4-FFF2-40B4-BE49-F238E27FC236}">
                <a16:creationId xmlns:a16="http://schemas.microsoft.com/office/drawing/2014/main" id="{0A89EC0C-DB27-F3EF-3116-5B43F3F83DBE}"/>
              </a:ext>
            </a:extLst>
          </p:cNvPr>
          <p:cNvSpPr/>
          <p:nvPr/>
        </p:nvSpPr>
        <p:spPr>
          <a:xfrm rot="5400000">
            <a:off x="5956715" y="3458993"/>
            <a:ext cx="3359935" cy="2556000"/>
          </a:xfrm>
          <a:prstGeom prst="chevron">
            <a:avLst>
              <a:gd name="adj" fmla="val 20756"/>
            </a:avLst>
          </a:prstGeom>
          <a:ln>
            <a:solidFill>
              <a:srgbClr val="AD4F3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endParaRPr lang="en-US" noProof="0">
              <a:solidFill>
                <a:srgbClr val="254B66"/>
              </a:solidFill>
            </a:endParaRPr>
          </a:p>
          <a:p>
            <a:pPr algn="ctr"/>
            <a:r>
              <a:rPr lang="en-US" b="1" noProof="0">
                <a:solidFill>
                  <a:srgbClr val="AD4F36"/>
                </a:solidFill>
              </a:rPr>
              <a:t>Work Experience</a:t>
            </a:r>
          </a:p>
          <a:p>
            <a:pPr algn="ctr"/>
            <a:endParaRPr lang="en-US" b="1" noProof="0">
              <a:solidFill>
                <a:srgbClr val="FFC000"/>
              </a:solidFill>
            </a:endParaRP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Education</a:t>
            </a: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Number of companies worked</a:t>
            </a: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Total of working years </a:t>
            </a: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Years since the last promotion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57CF250-4F47-6778-7B5B-7057BB431211}"/>
              </a:ext>
            </a:extLst>
          </p:cNvPr>
          <p:cNvGrpSpPr/>
          <p:nvPr/>
        </p:nvGrpSpPr>
        <p:grpSpPr>
          <a:xfrm>
            <a:off x="7132682" y="2355158"/>
            <a:ext cx="1008000" cy="1008000"/>
            <a:chOff x="6995194" y="2322560"/>
            <a:chExt cx="1008000" cy="100800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5110B68-E5AC-87D1-2E18-82F901342793}"/>
                </a:ext>
              </a:extLst>
            </p:cNvPr>
            <p:cNvGrpSpPr/>
            <p:nvPr/>
          </p:nvGrpSpPr>
          <p:grpSpPr>
            <a:xfrm>
              <a:off x="6995194" y="2322560"/>
              <a:ext cx="1008000" cy="1008000"/>
              <a:chOff x="4241551" y="2321990"/>
              <a:chExt cx="1008000" cy="1008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8853D2E5-BCC7-20B6-93DA-71027806B961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AD4F36"/>
              </a:solidFill>
              <a:ln>
                <a:solidFill>
                  <a:srgbClr val="AD4F36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A2648CFC-6960-6D3D-B421-FC6C09EB2698}"/>
                  </a:ext>
                </a:extLst>
              </p:cNvPr>
              <p:cNvSpPr/>
              <p:nvPr/>
            </p:nvSpPr>
            <p:spPr>
              <a:xfrm>
                <a:off x="4306702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16" name="Graphic 15" descr="Programmer male with solid fill">
              <a:extLst>
                <a:ext uri="{FF2B5EF4-FFF2-40B4-BE49-F238E27FC236}">
                  <a16:creationId xmlns:a16="http://schemas.microsoft.com/office/drawing/2014/main" id="{A369D1BA-2273-B621-4724-FA71185A0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188892" y="2505107"/>
              <a:ext cx="630000" cy="630000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sp>
        <p:nvSpPr>
          <p:cNvPr id="60" name="Arrow: Chevron 59">
            <a:extLst>
              <a:ext uri="{FF2B5EF4-FFF2-40B4-BE49-F238E27FC236}">
                <a16:creationId xmlns:a16="http://schemas.microsoft.com/office/drawing/2014/main" id="{ED5E25CC-1442-6072-7307-7678E37B6DA7}"/>
              </a:ext>
            </a:extLst>
          </p:cNvPr>
          <p:cNvSpPr/>
          <p:nvPr/>
        </p:nvSpPr>
        <p:spPr>
          <a:xfrm rot="5400000">
            <a:off x="8760383" y="3458993"/>
            <a:ext cx="3359935" cy="2556000"/>
          </a:xfrm>
          <a:prstGeom prst="chevron">
            <a:avLst>
              <a:gd name="adj" fmla="val 20756"/>
            </a:avLst>
          </a:prstGeom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endParaRPr lang="en-US" noProof="0">
              <a:solidFill>
                <a:srgbClr val="254B66"/>
              </a:solidFill>
            </a:endParaRPr>
          </a:p>
          <a:p>
            <a:pPr algn="ctr"/>
            <a:r>
              <a:rPr lang="en-US" b="1" noProof="0">
                <a:solidFill>
                  <a:srgbClr val="5F5B37"/>
                </a:solidFill>
              </a:rPr>
              <a:t>Compensation</a:t>
            </a:r>
          </a:p>
          <a:p>
            <a:pPr algn="ctr"/>
            <a:endParaRPr lang="en-US" b="1" noProof="0">
              <a:solidFill>
                <a:srgbClr val="FFC000"/>
              </a:solidFill>
            </a:endParaRP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Monthly income</a:t>
            </a: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Percent of salary hike</a:t>
            </a: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Performance rating</a:t>
            </a:r>
          </a:p>
          <a:p>
            <a:pPr marL="252000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Stock Option level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01B82EB-613A-8D1E-21E2-A56D52EBD90C}"/>
              </a:ext>
            </a:extLst>
          </p:cNvPr>
          <p:cNvGrpSpPr/>
          <p:nvPr/>
        </p:nvGrpSpPr>
        <p:grpSpPr>
          <a:xfrm>
            <a:off x="9936350" y="2355158"/>
            <a:ext cx="1008000" cy="1008000"/>
            <a:chOff x="9947501" y="2321420"/>
            <a:chExt cx="1008000" cy="100800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597BAA1-F500-E1E6-957B-41759CD99731}"/>
                </a:ext>
              </a:extLst>
            </p:cNvPr>
            <p:cNvGrpSpPr/>
            <p:nvPr/>
          </p:nvGrpSpPr>
          <p:grpSpPr>
            <a:xfrm>
              <a:off x="9947501" y="2321420"/>
              <a:ext cx="1008000" cy="1008000"/>
              <a:chOff x="4241551" y="2321990"/>
              <a:chExt cx="1008000" cy="1008000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37D00F61-F150-3CD0-475E-89F07D921C0D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5F5B37"/>
              </a:solidFill>
              <a:ln>
                <a:solidFill>
                  <a:srgbClr val="5F5B37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F7A16062-E573-465A-A340-7E1F5A10863B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24" name="Graphic 23" descr="Flying Money with solid fill">
              <a:extLst>
                <a:ext uri="{FF2B5EF4-FFF2-40B4-BE49-F238E27FC236}">
                  <a16:creationId xmlns:a16="http://schemas.microsoft.com/office/drawing/2014/main" id="{B60A70BF-05B0-979F-FA0B-5D9EFC1AC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120652" y="2494571"/>
              <a:ext cx="684000" cy="684000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</p:spTree>
    <p:extLst>
      <p:ext uri="{BB962C8B-B14F-4D97-AF65-F5344CB8AC3E}">
        <p14:creationId xmlns:p14="http://schemas.microsoft.com/office/powerpoint/2010/main" val="452458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D34C-7213-FD74-7950-C3FB647E6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Picture 1" descr="Age by Attrition">
            <a:extLst>
              <a:ext uri="{FF2B5EF4-FFF2-40B4-BE49-F238E27FC236}">
                <a16:creationId xmlns:a16="http://schemas.microsoft.com/office/drawing/2014/main" id="{75C04121-FC85-1BD3-52DE-53E6601E5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3810" y="2234112"/>
            <a:ext cx="4776235" cy="3940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raphic 61">
            <a:extLst>
              <a:ext uri="{FF2B5EF4-FFF2-40B4-BE49-F238E27FC236}">
                <a16:creationId xmlns:a16="http://schemas.microsoft.com/office/drawing/2014/main" id="{B0F329B7-ACCF-2895-D6D7-9EBF2CA21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C5B222D-1B26-D73B-70E2-979F462FDC92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E18C2D9-6E76-C988-A317-52FB370D3138}"/>
              </a:ext>
            </a:extLst>
          </p:cNvPr>
          <p:cNvSpPr/>
          <p:nvPr/>
        </p:nvSpPr>
        <p:spPr>
          <a:xfrm>
            <a:off x="1889186" y="5069941"/>
            <a:ext cx="1723148" cy="986829"/>
          </a:xfrm>
          <a:prstGeom prst="rect">
            <a:avLst/>
          </a:prstGeom>
          <a:noFill/>
          <a:ln w="19050">
            <a:solidFill>
              <a:srgbClr val="F3A43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691127627">
                  <a:custGeom>
                    <a:avLst/>
                    <a:gdLst>
                      <a:gd name="connsiteX0" fmla="*/ 0 w 1524447"/>
                      <a:gd name="connsiteY0" fmla="*/ 0 h 944846"/>
                      <a:gd name="connsiteX1" fmla="*/ 538638 w 1524447"/>
                      <a:gd name="connsiteY1" fmla="*/ 0 h 944846"/>
                      <a:gd name="connsiteX2" fmla="*/ 1046787 w 1524447"/>
                      <a:gd name="connsiteY2" fmla="*/ 0 h 944846"/>
                      <a:gd name="connsiteX3" fmla="*/ 1524447 w 1524447"/>
                      <a:gd name="connsiteY3" fmla="*/ 0 h 944846"/>
                      <a:gd name="connsiteX4" fmla="*/ 1524447 w 1524447"/>
                      <a:gd name="connsiteY4" fmla="*/ 444078 h 944846"/>
                      <a:gd name="connsiteX5" fmla="*/ 1524447 w 1524447"/>
                      <a:gd name="connsiteY5" fmla="*/ 944846 h 944846"/>
                      <a:gd name="connsiteX6" fmla="*/ 1001054 w 1524447"/>
                      <a:gd name="connsiteY6" fmla="*/ 944846 h 944846"/>
                      <a:gd name="connsiteX7" fmla="*/ 462416 w 1524447"/>
                      <a:gd name="connsiteY7" fmla="*/ 944846 h 944846"/>
                      <a:gd name="connsiteX8" fmla="*/ 0 w 1524447"/>
                      <a:gd name="connsiteY8" fmla="*/ 944846 h 944846"/>
                      <a:gd name="connsiteX9" fmla="*/ 0 w 1524447"/>
                      <a:gd name="connsiteY9" fmla="*/ 491320 h 944846"/>
                      <a:gd name="connsiteX10" fmla="*/ 0 w 1524447"/>
                      <a:gd name="connsiteY10" fmla="*/ 0 h 944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24447" h="944846" extrusionOk="0">
                        <a:moveTo>
                          <a:pt x="0" y="0"/>
                        </a:moveTo>
                        <a:cubicBezTo>
                          <a:pt x="176686" y="-24421"/>
                          <a:pt x="422459" y="632"/>
                          <a:pt x="538638" y="0"/>
                        </a:cubicBezTo>
                        <a:cubicBezTo>
                          <a:pt x="654817" y="-632"/>
                          <a:pt x="822893" y="19133"/>
                          <a:pt x="1046787" y="0"/>
                        </a:cubicBezTo>
                        <a:cubicBezTo>
                          <a:pt x="1270681" y="-19133"/>
                          <a:pt x="1328519" y="-15222"/>
                          <a:pt x="1524447" y="0"/>
                        </a:cubicBezTo>
                        <a:cubicBezTo>
                          <a:pt x="1504887" y="210148"/>
                          <a:pt x="1513090" y="300267"/>
                          <a:pt x="1524447" y="444078"/>
                        </a:cubicBezTo>
                        <a:cubicBezTo>
                          <a:pt x="1535804" y="587889"/>
                          <a:pt x="1538279" y="786123"/>
                          <a:pt x="1524447" y="944846"/>
                        </a:cubicBezTo>
                        <a:cubicBezTo>
                          <a:pt x="1326377" y="924828"/>
                          <a:pt x="1196440" y="956943"/>
                          <a:pt x="1001054" y="944846"/>
                        </a:cubicBezTo>
                        <a:cubicBezTo>
                          <a:pt x="805668" y="932749"/>
                          <a:pt x="625067" y="944238"/>
                          <a:pt x="462416" y="944846"/>
                        </a:cubicBezTo>
                        <a:cubicBezTo>
                          <a:pt x="299765" y="945454"/>
                          <a:pt x="190501" y="961283"/>
                          <a:pt x="0" y="944846"/>
                        </a:cubicBezTo>
                        <a:cubicBezTo>
                          <a:pt x="-5197" y="747920"/>
                          <a:pt x="4162" y="604477"/>
                          <a:pt x="0" y="491320"/>
                        </a:cubicBezTo>
                        <a:cubicBezTo>
                          <a:pt x="-4162" y="378163"/>
                          <a:pt x="-23189" y="996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E3A90105-B4C1-B827-9FBD-7E750E56C573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1F288AB-0D06-C19C-16A3-8C2E6AD8CB10}"/>
              </a:ext>
            </a:extLst>
          </p:cNvPr>
          <p:cNvGrpSpPr/>
          <p:nvPr/>
        </p:nvGrpSpPr>
        <p:grpSpPr>
          <a:xfrm>
            <a:off x="100146" y="1032887"/>
            <a:ext cx="436396" cy="436396"/>
            <a:chOff x="1835167" y="2149922"/>
            <a:chExt cx="1008000" cy="1008000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526F009-09A4-8EC6-AB55-D6611FB62D5C}"/>
                </a:ext>
              </a:extLst>
            </p:cNvPr>
            <p:cNvSpPr/>
            <p:nvPr/>
          </p:nvSpPr>
          <p:spPr>
            <a:xfrm>
              <a:off x="1835167" y="2149922"/>
              <a:ext cx="1008000" cy="1008000"/>
            </a:xfrm>
            <a:prstGeom prst="ellipse">
              <a:avLst/>
            </a:prstGeom>
            <a:solidFill>
              <a:srgbClr val="254B66"/>
            </a:solidFill>
            <a:ln>
              <a:solidFill>
                <a:srgbClr val="254B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076DA90-E3EB-0673-BAF6-2B049995A526}"/>
                </a:ext>
              </a:extLst>
            </p:cNvPr>
            <p:cNvGrpSpPr/>
            <p:nvPr/>
          </p:nvGrpSpPr>
          <p:grpSpPr>
            <a:xfrm>
              <a:off x="1889167" y="2203922"/>
              <a:ext cx="900000" cy="900000"/>
              <a:chOff x="1795643" y="2026558"/>
              <a:chExt cx="900000" cy="9000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A1400C18-60AB-6472-AE1B-CE22DB4CC257}"/>
                  </a:ext>
                </a:extLst>
              </p:cNvPr>
              <p:cNvSpPr/>
              <p:nvPr/>
            </p:nvSpPr>
            <p:spPr>
              <a:xfrm>
                <a:off x="1795643" y="2026558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pic>
            <p:nvPicPr>
              <p:cNvPr id="8" name="Graphic 7" descr="Group of men with solid fill">
                <a:extLst>
                  <a:ext uri="{FF2B5EF4-FFF2-40B4-BE49-F238E27FC236}">
                    <a16:creationId xmlns:a16="http://schemas.microsoft.com/office/drawing/2014/main" id="{CCC54E8D-5264-519D-B53D-6D5800E34B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957643" y="2188558"/>
                <a:ext cx="576000" cy="576000"/>
              </a:xfrm>
              <a:prstGeom prst="rect">
                <a:avLst/>
              </a:prstGeom>
              <a:effectLst>
                <a:innerShdw blurRad="63500" dist="50800" dir="16200000">
                  <a:prstClr val="black">
                    <a:alpha val="50000"/>
                  </a:prstClr>
                </a:innerShdw>
              </a:effectLst>
            </p:spPr>
          </p:pic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0E4303B7-20FC-F7F1-4A82-0B7C5C02E8DC}"/>
              </a:ext>
            </a:extLst>
          </p:cNvPr>
          <p:cNvSpPr txBox="1"/>
          <p:nvPr/>
        </p:nvSpPr>
        <p:spPr>
          <a:xfrm>
            <a:off x="919273" y="498168"/>
            <a:ext cx="9185819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Demographics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Younger and single people leave the company more often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9D72F3-8D91-8926-C69D-FB3799B14851}"/>
              </a:ext>
            </a:extLst>
          </p:cNvPr>
          <p:cNvSpPr/>
          <p:nvPr/>
        </p:nvSpPr>
        <p:spPr>
          <a:xfrm>
            <a:off x="960053" y="6164861"/>
            <a:ext cx="5888615" cy="5134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Younger people</a:t>
            </a:r>
            <a:r>
              <a:rPr lang="en-US" sz="14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</a:rPr>
              <a:t>between their 20 and 30</a:t>
            </a:r>
            <a:r>
              <a:rPr lang="en-US" sz="14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, are a big part of the work force and are the ones leaving more often in early stages of their career.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67BB25-9FD8-E117-5AC5-42F6DE3C0A06}"/>
              </a:ext>
            </a:extLst>
          </p:cNvPr>
          <p:cNvSpPr/>
          <p:nvPr/>
        </p:nvSpPr>
        <p:spPr>
          <a:xfrm>
            <a:off x="7108859" y="6113084"/>
            <a:ext cx="3789331" cy="640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In proportion, </a:t>
            </a:r>
            <a:r>
              <a:rPr lang="en-US" sz="1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single people </a:t>
            </a:r>
            <a:r>
              <a:rPr lang="en-US" sz="14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tend to leave more often.</a:t>
            </a:r>
          </a:p>
        </p:txBody>
      </p:sp>
      <p:pic>
        <p:nvPicPr>
          <p:cNvPr id="3074" name="Picture 2" descr="Attrition by Marital Status">
            <a:extLst>
              <a:ext uri="{FF2B5EF4-FFF2-40B4-BE49-F238E27FC236}">
                <a16:creationId xmlns:a16="http://schemas.microsoft.com/office/drawing/2014/main" id="{51CC7900-BCAB-51F6-A0B8-37A8E4CA4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682" y="2334213"/>
            <a:ext cx="3707673" cy="38306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F1500B-8B15-8FC5-E50D-AC6E9C5A5CE0}"/>
              </a:ext>
            </a:extLst>
          </p:cNvPr>
          <p:cNvSpPr/>
          <p:nvPr/>
        </p:nvSpPr>
        <p:spPr>
          <a:xfrm>
            <a:off x="8574408" y="5187360"/>
            <a:ext cx="894786" cy="986829"/>
          </a:xfrm>
          <a:prstGeom prst="rect">
            <a:avLst/>
          </a:prstGeom>
          <a:noFill/>
          <a:ln w="19050">
            <a:solidFill>
              <a:srgbClr val="F3A43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691127627">
                  <a:custGeom>
                    <a:avLst/>
                    <a:gdLst>
                      <a:gd name="connsiteX0" fmla="*/ 0 w 1524447"/>
                      <a:gd name="connsiteY0" fmla="*/ 0 h 944846"/>
                      <a:gd name="connsiteX1" fmla="*/ 538638 w 1524447"/>
                      <a:gd name="connsiteY1" fmla="*/ 0 h 944846"/>
                      <a:gd name="connsiteX2" fmla="*/ 1046787 w 1524447"/>
                      <a:gd name="connsiteY2" fmla="*/ 0 h 944846"/>
                      <a:gd name="connsiteX3" fmla="*/ 1524447 w 1524447"/>
                      <a:gd name="connsiteY3" fmla="*/ 0 h 944846"/>
                      <a:gd name="connsiteX4" fmla="*/ 1524447 w 1524447"/>
                      <a:gd name="connsiteY4" fmla="*/ 444078 h 944846"/>
                      <a:gd name="connsiteX5" fmla="*/ 1524447 w 1524447"/>
                      <a:gd name="connsiteY5" fmla="*/ 944846 h 944846"/>
                      <a:gd name="connsiteX6" fmla="*/ 1001054 w 1524447"/>
                      <a:gd name="connsiteY6" fmla="*/ 944846 h 944846"/>
                      <a:gd name="connsiteX7" fmla="*/ 462416 w 1524447"/>
                      <a:gd name="connsiteY7" fmla="*/ 944846 h 944846"/>
                      <a:gd name="connsiteX8" fmla="*/ 0 w 1524447"/>
                      <a:gd name="connsiteY8" fmla="*/ 944846 h 944846"/>
                      <a:gd name="connsiteX9" fmla="*/ 0 w 1524447"/>
                      <a:gd name="connsiteY9" fmla="*/ 491320 h 944846"/>
                      <a:gd name="connsiteX10" fmla="*/ 0 w 1524447"/>
                      <a:gd name="connsiteY10" fmla="*/ 0 h 944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24447" h="944846" extrusionOk="0">
                        <a:moveTo>
                          <a:pt x="0" y="0"/>
                        </a:moveTo>
                        <a:cubicBezTo>
                          <a:pt x="176686" y="-24421"/>
                          <a:pt x="422459" y="632"/>
                          <a:pt x="538638" y="0"/>
                        </a:cubicBezTo>
                        <a:cubicBezTo>
                          <a:pt x="654817" y="-632"/>
                          <a:pt x="822893" y="19133"/>
                          <a:pt x="1046787" y="0"/>
                        </a:cubicBezTo>
                        <a:cubicBezTo>
                          <a:pt x="1270681" y="-19133"/>
                          <a:pt x="1328519" y="-15222"/>
                          <a:pt x="1524447" y="0"/>
                        </a:cubicBezTo>
                        <a:cubicBezTo>
                          <a:pt x="1504887" y="210148"/>
                          <a:pt x="1513090" y="300267"/>
                          <a:pt x="1524447" y="444078"/>
                        </a:cubicBezTo>
                        <a:cubicBezTo>
                          <a:pt x="1535804" y="587889"/>
                          <a:pt x="1538279" y="786123"/>
                          <a:pt x="1524447" y="944846"/>
                        </a:cubicBezTo>
                        <a:cubicBezTo>
                          <a:pt x="1326377" y="924828"/>
                          <a:pt x="1196440" y="956943"/>
                          <a:pt x="1001054" y="944846"/>
                        </a:cubicBezTo>
                        <a:cubicBezTo>
                          <a:pt x="805668" y="932749"/>
                          <a:pt x="625067" y="944238"/>
                          <a:pt x="462416" y="944846"/>
                        </a:cubicBezTo>
                        <a:cubicBezTo>
                          <a:pt x="299765" y="945454"/>
                          <a:pt x="190501" y="961283"/>
                          <a:pt x="0" y="944846"/>
                        </a:cubicBezTo>
                        <a:cubicBezTo>
                          <a:pt x="-5197" y="747920"/>
                          <a:pt x="4162" y="604477"/>
                          <a:pt x="0" y="491320"/>
                        </a:cubicBezTo>
                        <a:cubicBezTo>
                          <a:pt x="-4162" y="378163"/>
                          <a:pt x="-23189" y="996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FD5213-F696-35F2-BD53-23B89FFFDF0D}"/>
              </a:ext>
            </a:extLst>
          </p:cNvPr>
          <p:cNvSpPr txBox="1"/>
          <p:nvPr/>
        </p:nvSpPr>
        <p:spPr>
          <a:xfrm>
            <a:off x="1251375" y="2262703"/>
            <a:ext cx="4870582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 noProof="0">
                <a:solidFill>
                  <a:srgbClr val="2D526C"/>
                </a:solidFill>
              </a:rPr>
              <a:t>Age by Attrition</a:t>
            </a:r>
            <a:endParaRPr lang="en-US" sz="1600" b="1">
              <a:solidFill>
                <a:srgbClr val="2D526C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FEA77A-C95C-15F7-42EB-400652E26641}"/>
              </a:ext>
            </a:extLst>
          </p:cNvPr>
          <p:cNvSpPr txBox="1"/>
          <p:nvPr/>
        </p:nvSpPr>
        <p:spPr>
          <a:xfrm>
            <a:off x="7020682" y="2262703"/>
            <a:ext cx="3707673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 noProof="0">
                <a:solidFill>
                  <a:srgbClr val="2D526C"/>
                </a:solidFill>
              </a:rPr>
              <a:t>Attrition By Marital Status</a:t>
            </a:r>
            <a:endParaRPr lang="en-US" sz="1600" b="1">
              <a:solidFill>
                <a:srgbClr val="2D526C"/>
              </a:solidFill>
            </a:endParaRPr>
          </a:p>
        </p:txBody>
      </p:sp>
      <p:sp>
        <p:nvSpPr>
          <p:cNvPr id="12" name="TextBox 11">
            <a:hlinkClick r:id="rId7"/>
            <a:extLst>
              <a:ext uri="{FF2B5EF4-FFF2-40B4-BE49-F238E27FC236}">
                <a16:creationId xmlns:a16="http://schemas.microsoft.com/office/drawing/2014/main" id="{2294DAD3-EB6C-29E7-1368-3D797D56E4F6}"/>
              </a:ext>
            </a:extLst>
          </p:cNvPr>
          <p:cNvSpPr txBox="1"/>
          <p:nvPr/>
        </p:nvSpPr>
        <p:spPr>
          <a:xfrm>
            <a:off x="11051722" y="6215133"/>
            <a:ext cx="12312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noProof="0" err="1">
                <a:hlinkClick r:id="rId8"/>
              </a:rPr>
              <a:t>Interative</a:t>
            </a:r>
            <a:r>
              <a:rPr lang="en-US" sz="1000" noProof="0">
                <a:hlinkClick r:id="rId8"/>
              </a:rPr>
              <a:t> visualization here </a:t>
            </a:r>
            <a:endParaRPr lang="en-US" sz="1000" noProof="0"/>
          </a:p>
        </p:txBody>
      </p:sp>
    </p:spTree>
    <p:extLst>
      <p:ext uri="{BB962C8B-B14F-4D97-AF65-F5344CB8AC3E}">
        <p14:creationId xmlns:p14="http://schemas.microsoft.com/office/powerpoint/2010/main" val="110352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CC0E0-3E83-CDBF-7B89-EF447E926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BE61C260-1ED6-4CAA-5C4D-533741C8B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98708C-147F-ED25-E50C-DB67CFF96E07}"/>
              </a:ext>
            </a:extLst>
          </p:cNvPr>
          <p:cNvSpPr txBox="1"/>
          <p:nvPr/>
        </p:nvSpPr>
        <p:spPr>
          <a:xfrm>
            <a:off x="921624" y="488722"/>
            <a:ext cx="10092191" cy="13207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Job characteristics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Overtime, work life balance and satisfaction as crucial for attrition 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B14A6F-2372-A6A3-42F9-238EBA946BAA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BB5F2E7C-4F37-E6FA-9AF4-705BBFF82FC8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A050533-00EB-BF94-A692-6AA3E385EFEC}"/>
              </a:ext>
            </a:extLst>
          </p:cNvPr>
          <p:cNvGrpSpPr/>
          <p:nvPr/>
        </p:nvGrpSpPr>
        <p:grpSpPr>
          <a:xfrm>
            <a:off x="110836" y="1033285"/>
            <a:ext cx="435600" cy="435600"/>
            <a:chOff x="4481413" y="2507558"/>
            <a:chExt cx="1008000" cy="1008000"/>
          </a:xfrm>
        </p:grpSpPr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634EDC52-0AB9-4E0F-785A-06535EAACD51}"/>
                </a:ext>
              </a:extLst>
            </p:cNvPr>
            <p:cNvSpPr/>
            <p:nvPr/>
          </p:nvSpPr>
          <p:spPr>
            <a:xfrm>
              <a:off x="4481413" y="2507558"/>
              <a:ext cx="1008000" cy="100800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EDD4D018-723A-C72C-19C6-6DD0F1FB322F}"/>
                </a:ext>
              </a:extLst>
            </p:cNvPr>
            <p:cNvSpPr/>
            <p:nvPr/>
          </p:nvSpPr>
          <p:spPr>
            <a:xfrm>
              <a:off x="4535413" y="2561558"/>
              <a:ext cx="900000" cy="90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pic>
          <p:nvPicPr>
            <p:cNvPr id="80" name="Graphic 79" descr="Briefcase with solid fill">
              <a:extLst>
                <a:ext uri="{FF2B5EF4-FFF2-40B4-BE49-F238E27FC236}">
                  <a16:creationId xmlns:a16="http://schemas.microsoft.com/office/drawing/2014/main" id="{6B109457-016D-D4D1-2A7C-40EB4D1208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00450" y="2726595"/>
              <a:ext cx="569926" cy="569926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9DFB396-0DB3-B36F-7B9F-367F84914C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1631" b="1412"/>
          <a:stretch>
            <a:fillRect/>
          </a:stretch>
        </p:blipFill>
        <p:spPr>
          <a:xfrm>
            <a:off x="679128" y="1989138"/>
            <a:ext cx="7796657" cy="4729245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26C3E4-5275-6E52-8983-0E8211077FF4}"/>
              </a:ext>
            </a:extLst>
          </p:cNvPr>
          <p:cNvCxnSpPr/>
          <p:nvPr/>
        </p:nvCxnSpPr>
        <p:spPr>
          <a:xfrm>
            <a:off x="8382000" y="3071446"/>
            <a:ext cx="703385" cy="0"/>
          </a:xfrm>
          <a:prstGeom prst="straightConnector1">
            <a:avLst/>
          </a:prstGeom>
          <a:ln>
            <a:solidFill>
              <a:srgbClr val="5F5B3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8B623A8-D35A-35DB-A5FE-DBEDDBDE4846}"/>
              </a:ext>
            </a:extLst>
          </p:cNvPr>
          <p:cNvSpPr/>
          <p:nvPr/>
        </p:nvSpPr>
        <p:spPr>
          <a:xfrm>
            <a:off x="9085385" y="2847087"/>
            <a:ext cx="2762768" cy="904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Lower job satisfaction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with higher percentage of employees who left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D2F1374-0B63-66B3-FE01-670270C5DD7D}"/>
              </a:ext>
            </a:extLst>
          </p:cNvPr>
          <p:cNvCxnSpPr/>
          <p:nvPr/>
        </p:nvCxnSpPr>
        <p:spPr>
          <a:xfrm>
            <a:off x="8382000" y="5116666"/>
            <a:ext cx="703385" cy="0"/>
          </a:xfrm>
          <a:prstGeom prst="straightConnector1">
            <a:avLst/>
          </a:prstGeom>
          <a:ln>
            <a:solidFill>
              <a:srgbClr val="5F5B3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20AC94E6-5636-2DF2-64BB-8E1630096587}"/>
              </a:ext>
            </a:extLst>
          </p:cNvPr>
          <p:cNvSpPr/>
          <p:nvPr/>
        </p:nvSpPr>
        <p:spPr>
          <a:xfrm>
            <a:off x="9085385" y="4974368"/>
            <a:ext cx="2762768" cy="904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Lower and medium levels of job involvement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with higher percentage of employees who left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C7E59C3-2F9E-438E-559C-42BCB3AB01D0}"/>
              </a:ext>
            </a:extLst>
          </p:cNvPr>
          <p:cNvCxnSpPr/>
          <p:nvPr/>
        </p:nvCxnSpPr>
        <p:spPr>
          <a:xfrm>
            <a:off x="857250" y="4417218"/>
            <a:ext cx="7358062" cy="0"/>
          </a:xfrm>
          <a:prstGeom prst="straightConnector1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B98397-CF59-14F7-49E2-5C7F4D1AE0F6}"/>
              </a:ext>
            </a:extLst>
          </p:cNvPr>
          <p:cNvCxnSpPr/>
          <p:nvPr/>
        </p:nvCxnSpPr>
        <p:spPr>
          <a:xfrm>
            <a:off x="2381250" y="2583656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C4D022-C33A-90FB-AEFA-35C5DD14A0DC}"/>
              </a:ext>
            </a:extLst>
          </p:cNvPr>
          <p:cNvCxnSpPr>
            <a:cxnSpLocks/>
          </p:cNvCxnSpPr>
          <p:nvPr/>
        </p:nvCxnSpPr>
        <p:spPr>
          <a:xfrm>
            <a:off x="2381250" y="4953000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D31F28-1584-EF1B-E470-3BC40B5AB957}"/>
              </a:ext>
            </a:extLst>
          </p:cNvPr>
          <p:cNvCxnSpPr>
            <a:cxnSpLocks/>
          </p:cNvCxnSpPr>
          <p:nvPr/>
        </p:nvCxnSpPr>
        <p:spPr>
          <a:xfrm>
            <a:off x="6822281" y="2583656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A0400A-590B-4167-469B-B6491BD5D3EE}"/>
              </a:ext>
            </a:extLst>
          </p:cNvPr>
          <p:cNvCxnSpPr>
            <a:cxnSpLocks/>
          </p:cNvCxnSpPr>
          <p:nvPr/>
        </p:nvCxnSpPr>
        <p:spPr>
          <a:xfrm>
            <a:off x="6822281" y="4953000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08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A93B9-2EA9-A56C-60A5-5CACEC9DA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5157085A-CF81-AB6A-A4F9-0009FE575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0253CB-A8A5-98A7-C85A-A67B9B16F93E}"/>
              </a:ext>
            </a:extLst>
          </p:cNvPr>
          <p:cNvSpPr txBox="1"/>
          <p:nvPr/>
        </p:nvSpPr>
        <p:spPr>
          <a:xfrm>
            <a:off x="921624" y="488722"/>
            <a:ext cx="10092191" cy="13207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Job characteristics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Overtime, work life balance and satisfaction as crucial for attrition 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7CD8CD-D13C-F089-5AA4-4CF3A68C65F3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A2740FE7-A6F3-09C1-67E5-3C139E63E981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F2F48BED-913F-B8C1-32D1-A6B9BD5D2196}"/>
              </a:ext>
            </a:extLst>
          </p:cNvPr>
          <p:cNvGrpSpPr/>
          <p:nvPr/>
        </p:nvGrpSpPr>
        <p:grpSpPr>
          <a:xfrm>
            <a:off x="110836" y="1033285"/>
            <a:ext cx="435600" cy="435600"/>
            <a:chOff x="4481413" y="2507558"/>
            <a:chExt cx="1008000" cy="1008000"/>
          </a:xfrm>
        </p:grpSpPr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1F5E447-C8B6-C02A-DCB4-6DE86A3FDDE9}"/>
                </a:ext>
              </a:extLst>
            </p:cNvPr>
            <p:cNvSpPr/>
            <p:nvPr/>
          </p:nvSpPr>
          <p:spPr>
            <a:xfrm>
              <a:off x="4481413" y="2507558"/>
              <a:ext cx="1008000" cy="100800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19F40601-F79C-0B4C-A233-866719953A1B}"/>
                </a:ext>
              </a:extLst>
            </p:cNvPr>
            <p:cNvSpPr/>
            <p:nvPr/>
          </p:nvSpPr>
          <p:spPr>
            <a:xfrm>
              <a:off x="4535413" y="2561558"/>
              <a:ext cx="900000" cy="90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pic>
          <p:nvPicPr>
            <p:cNvPr id="80" name="Graphic 79" descr="Briefcase with solid fill">
              <a:extLst>
                <a:ext uri="{FF2B5EF4-FFF2-40B4-BE49-F238E27FC236}">
                  <a16:creationId xmlns:a16="http://schemas.microsoft.com/office/drawing/2014/main" id="{0EF190D3-9260-D4A1-B86B-F708EAFB0B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00450" y="2726595"/>
              <a:ext cx="569926" cy="569926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2241E10E-D7CC-E23F-4290-D0004198FE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786" b="47607"/>
          <a:stretch>
            <a:fillRect/>
          </a:stretch>
        </p:blipFill>
        <p:spPr>
          <a:xfrm>
            <a:off x="679128" y="1971468"/>
            <a:ext cx="7877847" cy="4844551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106B126-18E6-A588-4CA6-3C6537DF4D23}"/>
              </a:ext>
            </a:extLst>
          </p:cNvPr>
          <p:cNvCxnSpPr/>
          <p:nvPr/>
        </p:nvCxnSpPr>
        <p:spPr>
          <a:xfrm>
            <a:off x="8382000" y="3071446"/>
            <a:ext cx="703385" cy="0"/>
          </a:xfrm>
          <a:prstGeom prst="straightConnector1">
            <a:avLst/>
          </a:prstGeom>
          <a:ln>
            <a:solidFill>
              <a:srgbClr val="5F5B3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A7738BB-A5A0-1131-E55C-A5D0952D95CD}"/>
              </a:ext>
            </a:extLst>
          </p:cNvPr>
          <p:cNvSpPr/>
          <p:nvPr/>
        </p:nvSpPr>
        <p:spPr>
          <a:xfrm>
            <a:off x="9085385" y="2847087"/>
            <a:ext cx="2762768" cy="904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Bad work life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balance with higher percentage of employees who left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8AC588A-4384-9DAA-5668-28905DC4B1DE}"/>
              </a:ext>
            </a:extLst>
          </p:cNvPr>
          <p:cNvCxnSpPr/>
          <p:nvPr/>
        </p:nvCxnSpPr>
        <p:spPr>
          <a:xfrm>
            <a:off x="8382000" y="5237721"/>
            <a:ext cx="703385" cy="0"/>
          </a:xfrm>
          <a:prstGeom prst="straightConnector1">
            <a:avLst/>
          </a:prstGeom>
          <a:ln>
            <a:solidFill>
              <a:srgbClr val="5F5B3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FDA5A0C3-7ECC-F58B-83F1-B920C54B4C91}"/>
              </a:ext>
            </a:extLst>
          </p:cNvPr>
          <p:cNvSpPr/>
          <p:nvPr/>
        </p:nvSpPr>
        <p:spPr>
          <a:xfrm>
            <a:off x="9097108" y="5036808"/>
            <a:ext cx="2762768" cy="10826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Lower and medium environment satisfaction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with higher percentage of employees who left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90F4A4-68AC-1E7A-55CD-7BE1A600F89D}"/>
              </a:ext>
            </a:extLst>
          </p:cNvPr>
          <p:cNvCxnSpPr/>
          <p:nvPr/>
        </p:nvCxnSpPr>
        <p:spPr>
          <a:xfrm>
            <a:off x="857250" y="4417218"/>
            <a:ext cx="7358062" cy="0"/>
          </a:xfrm>
          <a:prstGeom prst="straightConnector1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62869BC-ABC1-CE64-36AE-E30DB57D9BD0}"/>
              </a:ext>
            </a:extLst>
          </p:cNvPr>
          <p:cNvCxnSpPr/>
          <p:nvPr/>
        </p:nvCxnSpPr>
        <p:spPr>
          <a:xfrm>
            <a:off x="2393156" y="2559843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992B539-D561-65DB-8F01-F13939CF87D6}"/>
              </a:ext>
            </a:extLst>
          </p:cNvPr>
          <p:cNvCxnSpPr>
            <a:cxnSpLocks/>
          </p:cNvCxnSpPr>
          <p:nvPr/>
        </p:nvCxnSpPr>
        <p:spPr>
          <a:xfrm>
            <a:off x="2393156" y="4964906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21887E0-F85E-909F-725B-B149DCA92438}"/>
              </a:ext>
            </a:extLst>
          </p:cNvPr>
          <p:cNvCxnSpPr>
            <a:cxnSpLocks/>
          </p:cNvCxnSpPr>
          <p:nvPr/>
        </p:nvCxnSpPr>
        <p:spPr>
          <a:xfrm>
            <a:off x="6881812" y="2559843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C9444C-6885-908C-A9F5-6DECB9421514}"/>
              </a:ext>
            </a:extLst>
          </p:cNvPr>
          <p:cNvCxnSpPr>
            <a:cxnSpLocks/>
          </p:cNvCxnSpPr>
          <p:nvPr/>
        </p:nvCxnSpPr>
        <p:spPr>
          <a:xfrm>
            <a:off x="6881812" y="4964906"/>
            <a:ext cx="11906" cy="797718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970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DFEC5-461C-2C37-DA5E-DC8EF93FB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ttrition by Education Field">
            <a:extLst>
              <a:ext uri="{FF2B5EF4-FFF2-40B4-BE49-F238E27FC236}">
                <a16:creationId xmlns:a16="http://schemas.microsoft.com/office/drawing/2014/main" id="{E7EAC033-7DE4-E0B4-390F-BB372D2740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3180" y="2052308"/>
            <a:ext cx="4418040" cy="4307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7" name="Picture 1" descr="Attrition by Department">
            <a:extLst>
              <a:ext uri="{FF2B5EF4-FFF2-40B4-BE49-F238E27FC236}">
                <a16:creationId xmlns:a16="http://schemas.microsoft.com/office/drawing/2014/main" id="{0ED94626-40C5-B7F0-2637-413AF2427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0190" y="2026914"/>
            <a:ext cx="4227215" cy="43054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raphic 61">
            <a:extLst>
              <a:ext uri="{FF2B5EF4-FFF2-40B4-BE49-F238E27FC236}">
                <a16:creationId xmlns:a16="http://schemas.microsoft.com/office/drawing/2014/main" id="{A565B7B7-270A-9B65-B62D-1D2CA91DA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23" name="TextBox 22">
            <a:hlinkClick r:id="rId5"/>
            <a:extLst>
              <a:ext uri="{FF2B5EF4-FFF2-40B4-BE49-F238E27FC236}">
                <a16:creationId xmlns:a16="http://schemas.microsoft.com/office/drawing/2014/main" id="{C1EA26B1-FD3A-DD2C-54AB-C2431DFEA6D8}"/>
              </a:ext>
            </a:extLst>
          </p:cNvPr>
          <p:cNvSpPr txBox="1"/>
          <p:nvPr/>
        </p:nvSpPr>
        <p:spPr>
          <a:xfrm>
            <a:off x="919273" y="488722"/>
            <a:ext cx="9185819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Job characteristics and work experience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When the department and education impacts 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6225E7-C9A9-3E08-2BF7-D090D9F4592E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B3A22164-7E5A-A520-1692-A25543AE117F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1A3533FE-E326-75C2-8F65-744933170796}"/>
              </a:ext>
            </a:extLst>
          </p:cNvPr>
          <p:cNvGrpSpPr/>
          <p:nvPr/>
        </p:nvGrpSpPr>
        <p:grpSpPr>
          <a:xfrm>
            <a:off x="110836" y="1033285"/>
            <a:ext cx="435600" cy="435600"/>
            <a:chOff x="4481413" y="2507558"/>
            <a:chExt cx="1008000" cy="1008000"/>
          </a:xfrm>
        </p:grpSpPr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F5E5F43C-1733-17C4-7AFA-73789D79543A}"/>
                </a:ext>
              </a:extLst>
            </p:cNvPr>
            <p:cNvSpPr/>
            <p:nvPr/>
          </p:nvSpPr>
          <p:spPr>
            <a:xfrm>
              <a:off x="4481413" y="2507558"/>
              <a:ext cx="1008000" cy="100800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171E3AB-9006-F775-0749-1902EC1339CD}"/>
                </a:ext>
              </a:extLst>
            </p:cNvPr>
            <p:cNvSpPr/>
            <p:nvPr/>
          </p:nvSpPr>
          <p:spPr>
            <a:xfrm>
              <a:off x="4535413" y="2561558"/>
              <a:ext cx="900000" cy="90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pic>
          <p:nvPicPr>
            <p:cNvPr id="80" name="Graphic 79" descr="Briefcase with solid fill">
              <a:extLst>
                <a:ext uri="{FF2B5EF4-FFF2-40B4-BE49-F238E27FC236}">
                  <a16:creationId xmlns:a16="http://schemas.microsoft.com/office/drawing/2014/main" id="{89CB233A-B05B-11FD-3F49-15C7E899B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700450" y="2726595"/>
              <a:ext cx="569926" cy="569926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88D0A4C4-EC77-4569-3C15-DF8E6DDFB254}"/>
              </a:ext>
            </a:extLst>
          </p:cNvPr>
          <p:cNvSpPr/>
          <p:nvPr/>
        </p:nvSpPr>
        <p:spPr>
          <a:xfrm>
            <a:off x="1581184" y="6252161"/>
            <a:ext cx="4005227" cy="5134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>
                <a:solidFill>
                  <a:schemeClr val="tx1"/>
                </a:solidFill>
              </a:rPr>
              <a:t>Sales and HR departments </a:t>
            </a:r>
            <a:r>
              <a:rPr lang="en-US" sz="1400" noProof="0">
                <a:solidFill>
                  <a:schemeClr val="tx1"/>
                </a:solidFill>
              </a:rPr>
              <a:t>show increased employee turnover.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436CE-DFE5-25ED-66AB-39A374B71468}"/>
              </a:ext>
            </a:extLst>
          </p:cNvPr>
          <p:cNvSpPr/>
          <p:nvPr/>
        </p:nvSpPr>
        <p:spPr>
          <a:xfrm>
            <a:off x="6156359" y="6247632"/>
            <a:ext cx="4005227" cy="5134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>
                <a:solidFill>
                  <a:schemeClr val="tx1"/>
                </a:solidFill>
              </a:rPr>
              <a:t>Human Resources</a:t>
            </a:r>
            <a:r>
              <a:rPr lang="en-US" sz="1400" noProof="0">
                <a:solidFill>
                  <a:schemeClr val="tx1"/>
                </a:solidFill>
              </a:rPr>
              <a:t>,</a:t>
            </a:r>
            <a:r>
              <a:rPr lang="en-US" sz="1400" b="1" noProof="0">
                <a:solidFill>
                  <a:schemeClr val="tx1"/>
                </a:solidFill>
              </a:rPr>
              <a:t> Technical Degree</a:t>
            </a:r>
            <a:r>
              <a:rPr lang="en-US" sz="1400" noProof="0">
                <a:solidFill>
                  <a:schemeClr val="tx1"/>
                </a:solidFill>
              </a:rPr>
              <a:t>,</a:t>
            </a:r>
            <a:r>
              <a:rPr lang="en-US" sz="1400" b="1" noProof="0">
                <a:solidFill>
                  <a:schemeClr val="tx1"/>
                </a:solidFill>
              </a:rPr>
              <a:t> </a:t>
            </a:r>
            <a:r>
              <a:rPr lang="en-US" sz="1400" noProof="0">
                <a:solidFill>
                  <a:schemeClr val="tx1"/>
                </a:solidFill>
              </a:rPr>
              <a:t>and </a:t>
            </a:r>
            <a:r>
              <a:rPr lang="en-US" sz="1400" b="1" noProof="0">
                <a:solidFill>
                  <a:schemeClr val="tx1"/>
                </a:solidFill>
              </a:rPr>
              <a:t>Marketing</a:t>
            </a:r>
            <a:r>
              <a:rPr lang="en-US" sz="1400" noProof="0">
                <a:solidFill>
                  <a:schemeClr val="tx1"/>
                </a:solidFill>
              </a:rPr>
              <a:t> graduates have higher turnover rates.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8B9BB7-EF67-1FB3-6BAC-5E6DF0A64BF2}"/>
              </a:ext>
            </a:extLst>
          </p:cNvPr>
          <p:cNvSpPr/>
          <p:nvPr/>
        </p:nvSpPr>
        <p:spPr>
          <a:xfrm>
            <a:off x="3303405" y="4794931"/>
            <a:ext cx="895147" cy="1210504"/>
          </a:xfrm>
          <a:prstGeom prst="rect">
            <a:avLst/>
          </a:prstGeom>
          <a:noFill/>
          <a:ln w="19050">
            <a:solidFill>
              <a:srgbClr val="F3A43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691127627">
                  <a:custGeom>
                    <a:avLst/>
                    <a:gdLst>
                      <a:gd name="connsiteX0" fmla="*/ 0 w 1524447"/>
                      <a:gd name="connsiteY0" fmla="*/ 0 h 944846"/>
                      <a:gd name="connsiteX1" fmla="*/ 538638 w 1524447"/>
                      <a:gd name="connsiteY1" fmla="*/ 0 h 944846"/>
                      <a:gd name="connsiteX2" fmla="*/ 1046787 w 1524447"/>
                      <a:gd name="connsiteY2" fmla="*/ 0 h 944846"/>
                      <a:gd name="connsiteX3" fmla="*/ 1524447 w 1524447"/>
                      <a:gd name="connsiteY3" fmla="*/ 0 h 944846"/>
                      <a:gd name="connsiteX4" fmla="*/ 1524447 w 1524447"/>
                      <a:gd name="connsiteY4" fmla="*/ 444078 h 944846"/>
                      <a:gd name="connsiteX5" fmla="*/ 1524447 w 1524447"/>
                      <a:gd name="connsiteY5" fmla="*/ 944846 h 944846"/>
                      <a:gd name="connsiteX6" fmla="*/ 1001054 w 1524447"/>
                      <a:gd name="connsiteY6" fmla="*/ 944846 h 944846"/>
                      <a:gd name="connsiteX7" fmla="*/ 462416 w 1524447"/>
                      <a:gd name="connsiteY7" fmla="*/ 944846 h 944846"/>
                      <a:gd name="connsiteX8" fmla="*/ 0 w 1524447"/>
                      <a:gd name="connsiteY8" fmla="*/ 944846 h 944846"/>
                      <a:gd name="connsiteX9" fmla="*/ 0 w 1524447"/>
                      <a:gd name="connsiteY9" fmla="*/ 491320 h 944846"/>
                      <a:gd name="connsiteX10" fmla="*/ 0 w 1524447"/>
                      <a:gd name="connsiteY10" fmla="*/ 0 h 944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24447" h="944846" extrusionOk="0">
                        <a:moveTo>
                          <a:pt x="0" y="0"/>
                        </a:moveTo>
                        <a:cubicBezTo>
                          <a:pt x="176686" y="-24421"/>
                          <a:pt x="422459" y="632"/>
                          <a:pt x="538638" y="0"/>
                        </a:cubicBezTo>
                        <a:cubicBezTo>
                          <a:pt x="654817" y="-632"/>
                          <a:pt x="822893" y="19133"/>
                          <a:pt x="1046787" y="0"/>
                        </a:cubicBezTo>
                        <a:cubicBezTo>
                          <a:pt x="1270681" y="-19133"/>
                          <a:pt x="1328519" y="-15222"/>
                          <a:pt x="1524447" y="0"/>
                        </a:cubicBezTo>
                        <a:cubicBezTo>
                          <a:pt x="1504887" y="210148"/>
                          <a:pt x="1513090" y="300267"/>
                          <a:pt x="1524447" y="444078"/>
                        </a:cubicBezTo>
                        <a:cubicBezTo>
                          <a:pt x="1535804" y="587889"/>
                          <a:pt x="1538279" y="786123"/>
                          <a:pt x="1524447" y="944846"/>
                        </a:cubicBezTo>
                        <a:cubicBezTo>
                          <a:pt x="1326377" y="924828"/>
                          <a:pt x="1196440" y="956943"/>
                          <a:pt x="1001054" y="944846"/>
                        </a:cubicBezTo>
                        <a:cubicBezTo>
                          <a:pt x="805668" y="932749"/>
                          <a:pt x="625067" y="944238"/>
                          <a:pt x="462416" y="944846"/>
                        </a:cubicBezTo>
                        <a:cubicBezTo>
                          <a:pt x="299765" y="945454"/>
                          <a:pt x="190501" y="961283"/>
                          <a:pt x="0" y="944846"/>
                        </a:cubicBezTo>
                        <a:cubicBezTo>
                          <a:pt x="-5197" y="747920"/>
                          <a:pt x="4162" y="604477"/>
                          <a:pt x="0" y="491320"/>
                        </a:cubicBezTo>
                        <a:cubicBezTo>
                          <a:pt x="-4162" y="378163"/>
                          <a:pt x="-23189" y="996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CD3860-0999-133C-F6B7-10787794B18B}"/>
              </a:ext>
            </a:extLst>
          </p:cNvPr>
          <p:cNvSpPr/>
          <p:nvPr/>
        </p:nvSpPr>
        <p:spPr>
          <a:xfrm>
            <a:off x="9376452" y="4814097"/>
            <a:ext cx="577516" cy="1322542"/>
          </a:xfrm>
          <a:prstGeom prst="rect">
            <a:avLst/>
          </a:prstGeom>
          <a:noFill/>
          <a:ln w="19050">
            <a:solidFill>
              <a:srgbClr val="F3A43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691127627">
                  <a:custGeom>
                    <a:avLst/>
                    <a:gdLst>
                      <a:gd name="connsiteX0" fmla="*/ 0 w 1524447"/>
                      <a:gd name="connsiteY0" fmla="*/ 0 h 944846"/>
                      <a:gd name="connsiteX1" fmla="*/ 538638 w 1524447"/>
                      <a:gd name="connsiteY1" fmla="*/ 0 h 944846"/>
                      <a:gd name="connsiteX2" fmla="*/ 1046787 w 1524447"/>
                      <a:gd name="connsiteY2" fmla="*/ 0 h 944846"/>
                      <a:gd name="connsiteX3" fmla="*/ 1524447 w 1524447"/>
                      <a:gd name="connsiteY3" fmla="*/ 0 h 944846"/>
                      <a:gd name="connsiteX4" fmla="*/ 1524447 w 1524447"/>
                      <a:gd name="connsiteY4" fmla="*/ 444078 h 944846"/>
                      <a:gd name="connsiteX5" fmla="*/ 1524447 w 1524447"/>
                      <a:gd name="connsiteY5" fmla="*/ 944846 h 944846"/>
                      <a:gd name="connsiteX6" fmla="*/ 1001054 w 1524447"/>
                      <a:gd name="connsiteY6" fmla="*/ 944846 h 944846"/>
                      <a:gd name="connsiteX7" fmla="*/ 462416 w 1524447"/>
                      <a:gd name="connsiteY7" fmla="*/ 944846 h 944846"/>
                      <a:gd name="connsiteX8" fmla="*/ 0 w 1524447"/>
                      <a:gd name="connsiteY8" fmla="*/ 944846 h 944846"/>
                      <a:gd name="connsiteX9" fmla="*/ 0 w 1524447"/>
                      <a:gd name="connsiteY9" fmla="*/ 491320 h 944846"/>
                      <a:gd name="connsiteX10" fmla="*/ 0 w 1524447"/>
                      <a:gd name="connsiteY10" fmla="*/ 0 h 944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24447" h="944846" extrusionOk="0">
                        <a:moveTo>
                          <a:pt x="0" y="0"/>
                        </a:moveTo>
                        <a:cubicBezTo>
                          <a:pt x="176686" y="-24421"/>
                          <a:pt x="422459" y="632"/>
                          <a:pt x="538638" y="0"/>
                        </a:cubicBezTo>
                        <a:cubicBezTo>
                          <a:pt x="654817" y="-632"/>
                          <a:pt x="822893" y="19133"/>
                          <a:pt x="1046787" y="0"/>
                        </a:cubicBezTo>
                        <a:cubicBezTo>
                          <a:pt x="1270681" y="-19133"/>
                          <a:pt x="1328519" y="-15222"/>
                          <a:pt x="1524447" y="0"/>
                        </a:cubicBezTo>
                        <a:cubicBezTo>
                          <a:pt x="1504887" y="210148"/>
                          <a:pt x="1513090" y="300267"/>
                          <a:pt x="1524447" y="444078"/>
                        </a:cubicBezTo>
                        <a:cubicBezTo>
                          <a:pt x="1535804" y="587889"/>
                          <a:pt x="1538279" y="786123"/>
                          <a:pt x="1524447" y="944846"/>
                        </a:cubicBezTo>
                        <a:cubicBezTo>
                          <a:pt x="1326377" y="924828"/>
                          <a:pt x="1196440" y="956943"/>
                          <a:pt x="1001054" y="944846"/>
                        </a:cubicBezTo>
                        <a:cubicBezTo>
                          <a:pt x="805668" y="932749"/>
                          <a:pt x="625067" y="944238"/>
                          <a:pt x="462416" y="944846"/>
                        </a:cubicBezTo>
                        <a:cubicBezTo>
                          <a:pt x="299765" y="945454"/>
                          <a:pt x="190501" y="961283"/>
                          <a:pt x="0" y="944846"/>
                        </a:cubicBezTo>
                        <a:cubicBezTo>
                          <a:pt x="-5197" y="747920"/>
                          <a:pt x="4162" y="604477"/>
                          <a:pt x="0" y="491320"/>
                        </a:cubicBezTo>
                        <a:cubicBezTo>
                          <a:pt x="-4162" y="378163"/>
                          <a:pt x="-23189" y="996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FE675D-FD9F-4D6F-7497-C3703BF12083}"/>
              </a:ext>
            </a:extLst>
          </p:cNvPr>
          <p:cNvSpPr/>
          <p:nvPr/>
        </p:nvSpPr>
        <p:spPr>
          <a:xfrm>
            <a:off x="7617888" y="4962688"/>
            <a:ext cx="577516" cy="1166931"/>
          </a:xfrm>
          <a:prstGeom prst="rect">
            <a:avLst/>
          </a:prstGeom>
          <a:noFill/>
          <a:ln w="19050">
            <a:solidFill>
              <a:srgbClr val="F3A43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691127627">
                  <a:custGeom>
                    <a:avLst/>
                    <a:gdLst>
                      <a:gd name="connsiteX0" fmla="*/ 0 w 1524447"/>
                      <a:gd name="connsiteY0" fmla="*/ 0 h 944846"/>
                      <a:gd name="connsiteX1" fmla="*/ 538638 w 1524447"/>
                      <a:gd name="connsiteY1" fmla="*/ 0 h 944846"/>
                      <a:gd name="connsiteX2" fmla="*/ 1046787 w 1524447"/>
                      <a:gd name="connsiteY2" fmla="*/ 0 h 944846"/>
                      <a:gd name="connsiteX3" fmla="*/ 1524447 w 1524447"/>
                      <a:gd name="connsiteY3" fmla="*/ 0 h 944846"/>
                      <a:gd name="connsiteX4" fmla="*/ 1524447 w 1524447"/>
                      <a:gd name="connsiteY4" fmla="*/ 444078 h 944846"/>
                      <a:gd name="connsiteX5" fmla="*/ 1524447 w 1524447"/>
                      <a:gd name="connsiteY5" fmla="*/ 944846 h 944846"/>
                      <a:gd name="connsiteX6" fmla="*/ 1001054 w 1524447"/>
                      <a:gd name="connsiteY6" fmla="*/ 944846 h 944846"/>
                      <a:gd name="connsiteX7" fmla="*/ 462416 w 1524447"/>
                      <a:gd name="connsiteY7" fmla="*/ 944846 h 944846"/>
                      <a:gd name="connsiteX8" fmla="*/ 0 w 1524447"/>
                      <a:gd name="connsiteY8" fmla="*/ 944846 h 944846"/>
                      <a:gd name="connsiteX9" fmla="*/ 0 w 1524447"/>
                      <a:gd name="connsiteY9" fmla="*/ 491320 h 944846"/>
                      <a:gd name="connsiteX10" fmla="*/ 0 w 1524447"/>
                      <a:gd name="connsiteY10" fmla="*/ 0 h 944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24447" h="944846" extrusionOk="0">
                        <a:moveTo>
                          <a:pt x="0" y="0"/>
                        </a:moveTo>
                        <a:cubicBezTo>
                          <a:pt x="176686" y="-24421"/>
                          <a:pt x="422459" y="632"/>
                          <a:pt x="538638" y="0"/>
                        </a:cubicBezTo>
                        <a:cubicBezTo>
                          <a:pt x="654817" y="-632"/>
                          <a:pt x="822893" y="19133"/>
                          <a:pt x="1046787" y="0"/>
                        </a:cubicBezTo>
                        <a:cubicBezTo>
                          <a:pt x="1270681" y="-19133"/>
                          <a:pt x="1328519" y="-15222"/>
                          <a:pt x="1524447" y="0"/>
                        </a:cubicBezTo>
                        <a:cubicBezTo>
                          <a:pt x="1504887" y="210148"/>
                          <a:pt x="1513090" y="300267"/>
                          <a:pt x="1524447" y="444078"/>
                        </a:cubicBezTo>
                        <a:cubicBezTo>
                          <a:pt x="1535804" y="587889"/>
                          <a:pt x="1538279" y="786123"/>
                          <a:pt x="1524447" y="944846"/>
                        </a:cubicBezTo>
                        <a:cubicBezTo>
                          <a:pt x="1326377" y="924828"/>
                          <a:pt x="1196440" y="956943"/>
                          <a:pt x="1001054" y="944846"/>
                        </a:cubicBezTo>
                        <a:cubicBezTo>
                          <a:pt x="805668" y="932749"/>
                          <a:pt x="625067" y="944238"/>
                          <a:pt x="462416" y="944846"/>
                        </a:cubicBezTo>
                        <a:cubicBezTo>
                          <a:pt x="299765" y="945454"/>
                          <a:pt x="190501" y="961283"/>
                          <a:pt x="0" y="944846"/>
                        </a:cubicBezTo>
                        <a:cubicBezTo>
                          <a:pt x="-5197" y="747920"/>
                          <a:pt x="4162" y="604477"/>
                          <a:pt x="0" y="491320"/>
                        </a:cubicBezTo>
                        <a:cubicBezTo>
                          <a:pt x="-4162" y="378163"/>
                          <a:pt x="-23189" y="996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993D96-9E9C-0731-B132-ECC010EEAE31}"/>
              </a:ext>
            </a:extLst>
          </p:cNvPr>
          <p:cNvSpPr/>
          <p:nvPr/>
        </p:nvSpPr>
        <p:spPr>
          <a:xfrm>
            <a:off x="8220337" y="4953692"/>
            <a:ext cx="577516" cy="1166931"/>
          </a:xfrm>
          <a:prstGeom prst="rect">
            <a:avLst/>
          </a:prstGeom>
          <a:noFill/>
          <a:ln w="19050">
            <a:solidFill>
              <a:srgbClr val="F3A43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691127627">
                  <a:custGeom>
                    <a:avLst/>
                    <a:gdLst>
                      <a:gd name="connsiteX0" fmla="*/ 0 w 1524447"/>
                      <a:gd name="connsiteY0" fmla="*/ 0 h 944846"/>
                      <a:gd name="connsiteX1" fmla="*/ 538638 w 1524447"/>
                      <a:gd name="connsiteY1" fmla="*/ 0 h 944846"/>
                      <a:gd name="connsiteX2" fmla="*/ 1046787 w 1524447"/>
                      <a:gd name="connsiteY2" fmla="*/ 0 h 944846"/>
                      <a:gd name="connsiteX3" fmla="*/ 1524447 w 1524447"/>
                      <a:gd name="connsiteY3" fmla="*/ 0 h 944846"/>
                      <a:gd name="connsiteX4" fmla="*/ 1524447 w 1524447"/>
                      <a:gd name="connsiteY4" fmla="*/ 444078 h 944846"/>
                      <a:gd name="connsiteX5" fmla="*/ 1524447 w 1524447"/>
                      <a:gd name="connsiteY5" fmla="*/ 944846 h 944846"/>
                      <a:gd name="connsiteX6" fmla="*/ 1001054 w 1524447"/>
                      <a:gd name="connsiteY6" fmla="*/ 944846 h 944846"/>
                      <a:gd name="connsiteX7" fmla="*/ 462416 w 1524447"/>
                      <a:gd name="connsiteY7" fmla="*/ 944846 h 944846"/>
                      <a:gd name="connsiteX8" fmla="*/ 0 w 1524447"/>
                      <a:gd name="connsiteY8" fmla="*/ 944846 h 944846"/>
                      <a:gd name="connsiteX9" fmla="*/ 0 w 1524447"/>
                      <a:gd name="connsiteY9" fmla="*/ 491320 h 944846"/>
                      <a:gd name="connsiteX10" fmla="*/ 0 w 1524447"/>
                      <a:gd name="connsiteY10" fmla="*/ 0 h 944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24447" h="944846" extrusionOk="0">
                        <a:moveTo>
                          <a:pt x="0" y="0"/>
                        </a:moveTo>
                        <a:cubicBezTo>
                          <a:pt x="176686" y="-24421"/>
                          <a:pt x="422459" y="632"/>
                          <a:pt x="538638" y="0"/>
                        </a:cubicBezTo>
                        <a:cubicBezTo>
                          <a:pt x="654817" y="-632"/>
                          <a:pt x="822893" y="19133"/>
                          <a:pt x="1046787" y="0"/>
                        </a:cubicBezTo>
                        <a:cubicBezTo>
                          <a:pt x="1270681" y="-19133"/>
                          <a:pt x="1328519" y="-15222"/>
                          <a:pt x="1524447" y="0"/>
                        </a:cubicBezTo>
                        <a:cubicBezTo>
                          <a:pt x="1504887" y="210148"/>
                          <a:pt x="1513090" y="300267"/>
                          <a:pt x="1524447" y="444078"/>
                        </a:cubicBezTo>
                        <a:cubicBezTo>
                          <a:pt x="1535804" y="587889"/>
                          <a:pt x="1538279" y="786123"/>
                          <a:pt x="1524447" y="944846"/>
                        </a:cubicBezTo>
                        <a:cubicBezTo>
                          <a:pt x="1326377" y="924828"/>
                          <a:pt x="1196440" y="956943"/>
                          <a:pt x="1001054" y="944846"/>
                        </a:cubicBezTo>
                        <a:cubicBezTo>
                          <a:pt x="805668" y="932749"/>
                          <a:pt x="625067" y="944238"/>
                          <a:pt x="462416" y="944846"/>
                        </a:cubicBezTo>
                        <a:cubicBezTo>
                          <a:pt x="299765" y="945454"/>
                          <a:pt x="190501" y="961283"/>
                          <a:pt x="0" y="944846"/>
                        </a:cubicBezTo>
                        <a:cubicBezTo>
                          <a:pt x="-5197" y="747920"/>
                          <a:pt x="4162" y="604477"/>
                          <a:pt x="0" y="491320"/>
                        </a:cubicBezTo>
                        <a:cubicBezTo>
                          <a:pt x="-4162" y="378163"/>
                          <a:pt x="-23189" y="996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A1BFA0-A265-42D7-063C-9E0A6970504D}"/>
              </a:ext>
            </a:extLst>
          </p:cNvPr>
          <p:cNvSpPr/>
          <p:nvPr/>
        </p:nvSpPr>
        <p:spPr>
          <a:xfrm>
            <a:off x="4342674" y="4860789"/>
            <a:ext cx="895147" cy="1143891"/>
          </a:xfrm>
          <a:prstGeom prst="rect">
            <a:avLst/>
          </a:prstGeom>
          <a:noFill/>
          <a:ln w="19050">
            <a:solidFill>
              <a:srgbClr val="F3A43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691127627">
                  <a:custGeom>
                    <a:avLst/>
                    <a:gdLst>
                      <a:gd name="connsiteX0" fmla="*/ 0 w 1524447"/>
                      <a:gd name="connsiteY0" fmla="*/ 0 h 944846"/>
                      <a:gd name="connsiteX1" fmla="*/ 538638 w 1524447"/>
                      <a:gd name="connsiteY1" fmla="*/ 0 h 944846"/>
                      <a:gd name="connsiteX2" fmla="*/ 1046787 w 1524447"/>
                      <a:gd name="connsiteY2" fmla="*/ 0 h 944846"/>
                      <a:gd name="connsiteX3" fmla="*/ 1524447 w 1524447"/>
                      <a:gd name="connsiteY3" fmla="*/ 0 h 944846"/>
                      <a:gd name="connsiteX4" fmla="*/ 1524447 w 1524447"/>
                      <a:gd name="connsiteY4" fmla="*/ 444078 h 944846"/>
                      <a:gd name="connsiteX5" fmla="*/ 1524447 w 1524447"/>
                      <a:gd name="connsiteY5" fmla="*/ 944846 h 944846"/>
                      <a:gd name="connsiteX6" fmla="*/ 1001054 w 1524447"/>
                      <a:gd name="connsiteY6" fmla="*/ 944846 h 944846"/>
                      <a:gd name="connsiteX7" fmla="*/ 462416 w 1524447"/>
                      <a:gd name="connsiteY7" fmla="*/ 944846 h 944846"/>
                      <a:gd name="connsiteX8" fmla="*/ 0 w 1524447"/>
                      <a:gd name="connsiteY8" fmla="*/ 944846 h 944846"/>
                      <a:gd name="connsiteX9" fmla="*/ 0 w 1524447"/>
                      <a:gd name="connsiteY9" fmla="*/ 491320 h 944846"/>
                      <a:gd name="connsiteX10" fmla="*/ 0 w 1524447"/>
                      <a:gd name="connsiteY10" fmla="*/ 0 h 944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24447" h="944846" extrusionOk="0">
                        <a:moveTo>
                          <a:pt x="0" y="0"/>
                        </a:moveTo>
                        <a:cubicBezTo>
                          <a:pt x="176686" y="-24421"/>
                          <a:pt x="422459" y="632"/>
                          <a:pt x="538638" y="0"/>
                        </a:cubicBezTo>
                        <a:cubicBezTo>
                          <a:pt x="654817" y="-632"/>
                          <a:pt x="822893" y="19133"/>
                          <a:pt x="1046787" y="0"/>
                        </a:cubicBezTo>
                        <a:cubicBezTo>
                          <a:pt x="1270681" y="-19133"/>
                          <a:pt x="1328519" y="-15222"/>
                          <a:pt x="1524447" y="0"/>
                        </a:cubicBezTo>
                        <a:cubicBezTo>
                          <a:pt x="1504887" y="210148"/>
                          <a:pt x="1513090" y="300267"/>
                          <a:pt x="1524447" y="444078"/>
                        </a:cubicBezTo>
                        <a:cubicBezTo>
                          <a:pt x="1535804" y="587889"/>
                          <a:pt x="1538279" y="786123"/>
                          <a:pt x="1524447" y="944846"/>
                        </a:cubicBezTo>
                        <a:cubicBezTo>
                          <a:pt x="1326377" y="924828"/>
                          <a:pt x="1196440" y="956943"/>
                          <a:pt x="1001054" y="944846"/>
                        </a:cubicBezTo>
                        <a:cubicBezTo>
                          <a:pt x="805668" y="932749"/>
                          <a:pt x="625067" y="944238"/>
                          <a:pt x="462416" y="944846"/>
                        </a:cubicBezTo>
                        <a:cubicBezTo>
                          <a:pt x="299765" y="945454"/>
                          <a:pt x="190501" y="961283"/>
                          <a:pt x="0" y="944846"/>
                        </a:cubicBezTo>
                        <a:cubicBezTo>
                          <a:pt x="-5197" y="747920"/>
                          <a:pt x="4162" y="604477"/>
                          <a:pt x="0" y="491320"/>
                        </a:cubicBezTo>
                        <a:cubicBezTo>
                          <a:pt x="-4162" y="378163"/>
                          <a:pt x="-23189" y="9960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AA890-010D-AC0E-B095-41C88F4BF77A}"/>
              </a:ext>
            </a:extLst>
          </p:cNvPr>
          <p:cNvSpPr txBox="1"/>
          <p:nvPr/>
        </p:nvSpPr>
        <p:spPr>
          <a:xfrm>
            <a:off x="1470190" y="2025149"/>
            <a:ext cx="454131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 noProof="0">
                <a:solidFill>
                  <a:srgbClr val="F3A431"/>
                </a:solidFill>
              </a:rPr>
              <a:t>Attrition by Department</a:t>
            </a:r>
            <a:endParaRPr lang="en-US" sz="1600" b="1">
              <a:solidFill>
                <a:srgbClr val="F3A43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A0D796-1834-636F-B695-30D9222BD03E}"/>
              </a:ext>
            </a:extLst>
          </p:cNvPr>
          <p:cNvSpPr txBox="1"/>
          <p:nvPr/>
        </p:nvSpPr>
        <p:spPr>
          <a:xfrm>
            <a:off x="5793180" y="2052308"/>
            <a:ext cx="4745057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 noProof="0">
                <a:solidFill>
                  <a:srgbClr val="F3A431"/>
                </a:solidFill>
              </a:rPr>
              <a:t>Attrition by Educational Field</a:t>
            </a:r>
            <a:endParaRPr lang="en-US" sz="1600" b="1">
              <a:solidFill>
                <a:srgbClr val="F3A431"/>
              </a:solidFill>
            </a:endParaRPr>
          </a:p>
        </p:txBody>
      </p:sp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C5FA398D-CFDF-C5BF-717C-52A9058D2C45}"/>
              </a:ext>
            </a:extLst>
          </p:cNvPr>
          <p:cNvSpPr txBox="1"/>
          <p:nvPr/>
        </p:nvSpPr>
        <p:spPr>
          <a:xfrm>
            <a:off x="10967981" y="6332411"/>
            <a:ext cx="1327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noProof="0" err="1">
                <a:hlinkClick r:id="rId5"/>
              </a:rPr>
              <a:t>Interative</a:t>
            </a:r>
            <a:r>
              <a:rPr lang="en-US" sz="1000" noProof="0">
                <a:hlinkClick r:id="rId5"/>
              </a:rPr>
              <a:t> visualization here </a:t>
            </a:r>
            <a:endParaRPr lang="en-US" sz="1000" noProof="0"/>
          </a:p>
        </p:txBody>
      </p:sp>
    </p:spTree>
    <p:extLst>
      <p:ext uri="{BB962C8B-B14F-4D97-AF65-F5344CB8AC3E}">
        <p14:creationId xmlns:p14="http://schemas.microsoft.com/office/powerpoint/2010/main" val="4224412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E870F-3201-0C1F-D057-219FD3386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F994646C-8552-6808-5656-D75A53D2DD1E}"/>
              </a:ext>
            </a:extLst>
          </p:cNvPr>
          <p:cNvSpPr txBox="1"/>
          <p:nvPr/>
        </p:nvSpPr>
        <p:spPr>
          <a:xfrm>
            <a:off x="8943033" y="3519988"/>
            <a:ext cx="3094893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>
                <a:solidFill>
                  <a:srgbClr val="F3A431"/>
                </a:solidFill>
              </a:rPr>
              <a:t> </a:t>
            </a:r>
            <a:r>
              <a:rPr lang="en-US" b="1">
                <a:solidFill>
                  <a:srgbClr val="F3A431"/>
                </a:solidFill>
              </a:rPr>
              <a:t>     </a:t>
            </a:r>
            <a:r>
              <a:rPr lang="en-US" b="1" noProof="0">
                <a:solidFill>
                  <a:srgbClr val="F3A431"/>
                </a:solidFill>
              </a:rPr>
              <a:t>Key alert points</a:t>
            </a:r>
          </a:p>
          <a:p>
            <a:endParaRPr lang="en-US" sz="1600" b="1" noProof="0">
              <a:solidFill>
                <a:srgbClr val="F3A431"/>
              </a:solidFill>
            </a:endParaRPr>
          </a:p>
          <a:p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HC representatives -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lower job roles - with extremely high risk across all departments</a:t>
            </a:r>
          </a:p>
          <a:p>
            <a:endParaRPr lang="en-US" sz="16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Sales department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has 5 out of 10 high risk profiles</a:t>
            </a:r>
          </a:p>
          <a:p>
            <a:endParaRPr lang="en-US" sz="16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Lab Technicians – 3</a:t>
            </a:r>
            <a:r>
              <a:rPr lang="en-US" sz="1600" b="1" baseline="3000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 level role -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appear risky in HR (33.3%) and Sales (20.5%)</a:t>
            </a:r>
          </a:p>
          <a:p>
            <a:endParaRPr lang="en-US" sz="160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31D7258-BC55-9C8E-FB94-5F768F0E94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2"/>
          <a:stretch>
            <a:fillRect/>
          </a:stretch>
        </p:blipFill>
        <p:spPr>
          <a:xfrm>
            <a:off x="0" y="2137584"/>
            <a:ext cx="8867910" cy="4708664"/>
          </a:xfrm>
          <a:prstGeom prst="rect">
            <a:avLst/>
          </a:prstGeom>
        </p:spPr>
      </p:pic>
      <p:sp>
        <p:nvSpPr>
          <p:cNvPr id="2" name="Graphic 61">
            <a:extLst>
              <a:ext uri="{FF2B5EF4-FFF2-40B4-BE49-F238E27FC236}">
                <a16:creationId xmlns:a16="http://schemas.microsoft.com/office/drawing/2014/main" id="{14B94F8F-3DE4-2314-FABD-2B4326D67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DAFBFA-AF1A-28A5-E7AC-FADB2777F571}"/>
              </a:ext>
            </a:extLst>
          </p:cNvPr>
          <p:cNvSpPr txBox="1"/>
          <p:nvPr/>
        </p:nvSpPr>
        <p:spPr>
          <a:xfrm>
            <a:off x="919273" y="488722"/>
            <a:ext cx="10334881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AD4F36"/>
                </a:solidFill>
              </a:rPr>
              <a:t>Job characteristics and work experience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Top 10 profiles with highest attrition risk, by job level and department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97E4D0-4396-FE02-B97B-BCD9DDB64FDE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A4D57628-AD83-D9E2-B4CF-BD077E60F0CE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A8BD67-F26E-7EF3-C0A4-373B6495413F}"/>
              </a:ext>
            </a:extLst>
          </p:cNvPr>
          <p:cNvGrpSpPr/>
          <p:nvPr/>
        </p:nvGrpSpPr>
        <p:grpSpPr>
          <a:xfrm>
            <a:off x="110836" y="1033285"/>
            <a:ext cx="435600" cy="435600"/>
            <a:chOff x="4481413" y="2507558"/>
            <a:chExt cx="1008000" cy="1008000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0060879-5453-7CAA-8DDD-81663ADCA157}"/>
                </a:ext>
              </a:extLst>
            </p:cNvPr>
            <p:cNvSpPr/>
            <p:nvPr/>
          </p:nvSpPr>
          <p:spPr>
            <a:xfrm>
              <a:off x="4481413" y="2507558"/>
              <a:ext cx="1008000" cy="100800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CCC78F48-74F0-02D0-32E2-8BB9308EEAF3}"/>
                </a:ext>
              </a:extLst>
            </p:cNvPr>
            <p:cNvSpPr/>
            <p:nvPr/>
          </p:nvSpPr>
          <p:spPr>
            <a:xfrm>
              <a:off x="4535413" y="2561558"/>
              <a:ext cx="900000" cy="90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pic>
          <p:nvPicPr>
            <p:cNvPr id="36" name="Graphic 35" descr="Briefcase with solid fill">
              <a:extLst>
                <a:ext uri="{FF2B5EF4-FFF2-40B4-BE49-F238E27FC236}">
                  <a16:creationId xmlns:a16="http://schemas.microsoft.com/office/drawing/2014/main" id="{52161B73-8FCD-7A92-B21F-C4D6F1B32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700450" y="2726595"/>
              <a:ext cx="569926" cy="569926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BEEB11F8-07D6-DA35-FF46-79E27E17E093}"/>
              </a:ext>
            </a:extLst>
          </p:cNvPr>
          <p:cNvSpPr/>
          <p:nvPr/>
        </p:nvSpPr>
        <p:spPr>
          <a:xfrm>
            <a:off x="8912889" y="2232343"/>
            <a:ext cx="3125037" cy="11937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600" b="1" noProof="0">
                <a:solidFill>
                  <a:schemeClr val="tx1"/>
                </a:solidFill>
              </a:rPr>
              <a:t>How to read:</a:t>
            </a:r>
          </a:p>
          <a:p>
            <a:pPr algn="just"/>
            <a:r>
              <a:rPr lang="en-US" sz="1400" b="1" noProof="0">
                <a:solidFill>
                  <a:schemeClr val="tx1"/>
                </a:solidFill>
              </a:rPr>
              <a:t>32 of 76 </a:t>
            </a:r>
            <a:r>
              <a:rPr lang="en-US" sz="1400" noProof="0">
                <a:solidFill>
                  <a:schemeClr val="tx1"/>
                </a:solidFill>
              </a:rPr>
              <a:t>employees left the company representing an attrition rate of </a:t>
            </a:r>
            <a:r>
              <a:rPr lang="en-US" sz="1400" b="1" noProof="0">
                <a:solidFill>
                  <a:schemeClr val="tx1"/>
                </a:solidFill>
              </a:rPr>
              <a:t>42.1%, </a:t>
            </a:r>
            <a:r>
              <a:rPr lang="en-US" sz="1400" noProof="0">
                <a:solidFill>
                  <a:schemeClr val="tx1"/>
                </a:solidFill>
              </a:rPr>
              <a:t>for this job level and department 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9C1E57A-0F50-0FF3-97F9-9BD57CD051B6}"/>
              </a:ext>
            </a:extLst>
          </p:cNvPr>
          <p:cNvCxnSpPr>
            <a:cxnSpLocks/>
          </p:cNvCxnSpPr>
          <p:nvPr/>
        </p:nvCxnSpPr>
        <p:spPr>
          <a:xfrm>
            <a:off x="8340132" y="2502039"/>
            <a:ext cx="60290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Graphic 47" descr="Megaphone1 with solid fill">
            <a:extLst>
              <a:ext uri="{FF2B5EF4-FFF2-40B4-BE49-F238E27FC236}">
                <a16:creationId xmlns:a16="http://schemas.microsoft.com/office/drawing/2014/main" id="{F28EBB7E-3F3B-0720-003B-7C22FF611C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3033" y="3519988"/>
            <a:ext cx="429135" cy="42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882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3A20F-C14C-A16A-4B99-B86E8435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138AE644-2A16-BC10-F18D-CDA4477DF3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6"/>
          <a:stretch>
            <a:fillRect/>
          </a:stretch>
        </p:blipFill>
        <p:spPr bwMode="auto">
          <a:xfrm>
            <a:off x="1196603" y="2944155"/>
            <a:ext cx="4962525" cy="2883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raphic 61">
            <a:extLst>
              <a:ext uri="{FF2B5EF4-FFF2-40B4-BE49-F238E27FC236}">
                <a16:creationId xmlns:a16="http://schemas.microsoft.com/office/drawing/2014/main" id="{B890FEC5-10E4-D3E1-BF86-1616E22A8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42CB89-2968-7D54-BA1A-E26DAA59355E}"/>
              </a:ext>
            </a:extLst>
          </p:cNvPr>
          <p:cNvSpPr txBox="1"/>
          <p:nvPr/>
        </p:nvSpPr>
        <p:spPr>
          <a:xfrm>
            <a:off x="919273" y="488722"/>
            <a:ext cx="9185819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Compensation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Rewards incentivize the people to stay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8A3F23-F660-817E-14A5-BE1DC38DCFCA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15DAB9DA-D20F-0067-C833-A4635F2E13AD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24DBE87-8A48-2C6E-64E1-BBB5AFB714C1}"/>
              </a:ext>
            </a:extLst>
          </p:cNvPr>
          <p:cNvGrpSpPr/>
          <p:nvPr/>
        </p:nvGrpSpPr>
        <p:grpSpPr>
          <a:xfrm>
            <a:off x="124982" y="1031026"/>
            <a:ext cx="435600" cy="435600"/>
            <a:chOff x="9947501" y="2321420"/>
            <a:chExt cx="1008000" cy="100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D92A9C-ADC3-335D-0734-F8137ED4A014}"/>
                </a:ext>
              </a:extLst>
            </p:cNvPr>
            <p:cNvGrpSpPr/>
            <p:nvPr/>
          </p:nvGrpSpPr>
          <p:grpSpPr>
            <a:xfrm>
              <a:off x="9947501" y="2321420"/>
              <a:ext cx="1008000" cy="1008000"/>
              <a:chOff x="4241551" y="2321990"/>
              <a:chExt cx="1008000" cy="1008000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8547B19-7E1C-5B19-C6A6-0D2F8E7E7756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5F5B37"/>
              </a:solidFill>
              <a:ln>
                <a:solidFill>
                  <a:srgbClr val="5F5B37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3A884F3-2F9B-72CC-13C8-6AF9B0A48E63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6" name="Graphic 5" descr="Flying Money with solid fill">
              <a:extLst>
                <a:ext uri="{FF2B5EF4-FFF2-40B4-BE49-F238E27FC236}">
                  <a16:creationId xmlns:a16="http://schemas.microsoft.com/office/drawing/2014/main" id="{BB6CA925-090B-1C77-BEA6-481E5D7ABF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120652" y="2494571"/>
              <a:ext cx="684000" cy="684000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6C8B0337-DCA3-1FD6-F7C2-688DBEFCD3E3}"/>
              </a:ext>
            </a:extLst>
          </p:cNvPr>
          <p:cNvSpPr/>
          <p:nvPr/>
        </p:nvSpPr>
        <p:spPr>
          <a:xfrm>
            <a:off x="1320133" y="5893356"/>
            <a:ext cx="4790533" cy="5134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 noProof="0">
                <a:solidFill>
                  <a:schemeClr val="tx1"/>
                </a:solidFill>
              </a:rPr>
              <a:t>Lower-salaried employees leave the company more frequently</a:t>
            </a:r>
            <a:r>
              <a:rPr lang="en-US" sz="1400" noProof="0">
                <a:solidFill>
                  <a:schemeClr val="tx1"/>
                </a:solidFill>
              </a:rPr>
              <a:t>. Usually, these are salaries from younger people.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F5D893-E6DB-4C5D-7DF7-B082A63D39F7}"/>
              </a:ext>
            </a:extLst>
          </p:cNvPr>
          <p:cNvSpPr/>
          <p:nvPr/>
        </p:nvSpPr>
        <p:spPr>
          <a:xfrm>
            <a:off x="6518197" y="5893356"/>
            <a:ext cx="4403949" cy="5134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 noProof="0">
                <a:solidFill>
                  <a:schemeClr val="tx1"/>
                </a:solidFill>
              </a:rPr>
              <a:t>A lower percentage </a:t>
            </a:r>
            <a:r>
              <a:rPr lang="en-US" sz="1400" noProof="0">
                <a:solidFill>
                  <a:schemeClr val="tx1"/>
                </a:solidFill>
              </a:rPr>
              <a:t>of salary raises is associated with higher levels of attrition.</a:t>
            </a:r>
          </a:p>
        </p:txBody>
      </p:sp>
      <p:sp>
        <p:nvSpPr>
          <p:cNvPr id="16" name="TextBox 15">
            <a:hlinkClick r:id="rId6"/>
            <a:extLst>
              <a:ext uri="{FF2B5EF4-FFF2-40B4-BE49-F238E27FC236}">
                <a16:creationId xmlns:a16="http://schemas.microsoft.com/office/drawing/2014/main" id="{BEF36F5B-3387-397E-7AE6-36B1D8FE045E}"/>
              </a:ext>
            </a:extLst>
          </p:cNvPr>
          <p:cNvSpPr txBox="1"/>
          <p:nvPr/>
        </p:nvSpPr>
        <p:spPr>
          <a:xfrm>
            <a:off x="10922146" y="6306442"/>
            <a:ext cx="114357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noProof="0" err="1">
                <a:hlinkClick r:id="rId7"/>
              </a:rPr>
              <a:t>Interative</a:t>
            </a:r>
            <a:r>
              <a:rPr lang="en-US" sz="1000" noProof="0">
                <a:hlinkClick r:id="rId7"/>
              </a:rPr>
              <a:t> visualization here </a:t>
            </a:r>
            <a:endParaRPr lang="en-US" sz="1000" noProof="0"/>
          </a:p>
        </p:txBody>
      </p:sp>
      <p:pic>
        <p:nvPicPr>
          <p:cNvPr id="20" name="Picture 19" descr="A graph of a graph showing the salary hike&#10;&#10;AI-generated content may be incorrect.">
            <a:extLst>
              <a:ext uri="{FF2B5EF4-FFF2-40B4-BE49-F238E27FC236}">
                <a16:creationId xmlns:a16="http://schemas.microsoft.com/office/drawing/2014/main" id="{E6EFB6F9-790B-041B-08EB-571496C3B4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109" y="3037421"/>
            <a:ext cx="4895886" cy="285593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0B6CC3F-7752-3355-E4F9-6F383E777D5A}"/>
              </a:ext>
            </a:extLst>
          </p:cNvPr>
          <p:cNvSpPr txBox="1"/>
          <p:nvPr/>
        </p:nvSpPr>
        <p:spPr>
          <a:xfrm>
            <a:off x="1564258" y="2208680"/>
            <a:ext cx="4227215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 noProof="0">
                <a:solidFill>
                  <a:srgbClr val="7C93A3"/>
                </a:solidFill>
              </a:rPr>
              <a:t>Monthly Income by Attrition </a:t>
            </a:r>
            <a:endParaRPr lang="en-US" sz="1600" b="1">
              <a:solidFill>
                <a:srgbClr val="7C93A3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39B0EB-83C4-E12E-7FD3-F9535645D350}"/>
              </a:ext>
            </a:extLst>
          </p:cNvPr>
          <p:cNvSpPr txBox="1"/>
          <p:nvPr/>
        </p:nvSpPr>
        <p:spPr>
          <a:xfrm>
            <a:off x="6563926" y="2270454"/>
            <a:ext cx="4227215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 noProof="0">
                <a:solidFill>
                  <a:srgbClr val="7C93A3"/>
                </a:solidFill>
              </a:rPr>
              <a:t>Percent Salary Hike by Attrition </a:t>
            </a:r>
            <a:endParaRPr lang="en-US" sz="1600" b="1">
              <a:solidFill>
                <a:srgbClr val="7C93A3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19F97EF-5409-53EC-96B5-B36EE9C6BC07}"/>
              </a:ext>
            </a:extLst>
          </p:cNvPr>
          <p:cNvGrpSpPr/>
          <p:nvPr/>
        </p:nvGrpSpPr>
        <p:grpSpPr>
          <a:xfrm>
            <a:off x="2566225" y="2722037"/>
            <a:ext cx="2334669" cy="230832"/>
            <a:chOff x="2856440" y="2717651"/>
            <a:chExt cx="2313081" cy="23083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DEE40E4-5AF7-BA71-6C75-E8C5686F3B3C}"/>
                </a:ext>
              </a:extLst>
            </p:cNvPr>
            <p:cNvSpPr/>
            <p:nvPr/>
          </p:nvSpPr>
          <p:spPr>
            <a:xfrm>
              <a:off x="3064591" y="2765857"/>
              <a:ext cx="144000" cy="144000"/>
            </a:xfrm>
            <a:prstGeom prst="ellipse">
              <a:avLst/>
            </a:prstGeom>
            <a:solidFill>
              <a:srgbClr val="C97B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noProof="0"/>
            </a:p>
          </p:txBody>
        </p:sp>
        <p:sp>
          <p:nvSpPr>
            <p:cNvPr id="12" name="Diamond 11">
              <a:extLst>
                <a:ext uri="{FF2B5EF4-FFF2-40B4-BE49-F238E27FC236}">
                  <a16:creationId xmlns:a16="http://schemas.microsoft.com/office/drawing/2014/main" id="{958433A6-FDAD-1C27-2DF4-9136D0C27C11}"/>
                </a:ext>
              </a:extLst>
            </p:cNvPr>
            <p:cNvSpPr/>
            <p:nvPr/>
          </p:nvSpPr>
          <p:spPr>
            <a:xfrm>
              <a:off x="3994989" y="2765857"/>
              <a:ext cx="144000" cy="144000"/>
            </a:xfrm>
            <a:prstGeom prst="diamond">
              <a:avLst/>
            </a:prstGeom>
            <a:solidFill>
              <a:srgbClr val="7C92A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noProof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AA02D5E-B76A-D830-FB41-27AF3BB70749}"/>
                </a:ext>
              </a:extLst>
            </p:cNvPr>
            <p:cNvSpPr txBox="1"/>
            <p:nvPr/>
          </p:nvSpPr>
          <p:spPr>
            <a:xfrm>
              <a:off x="2856440" y="2717651"/>
              <a:ext cx="14032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b="1" noProof="0">
                  <a:solidFill>
                    <a:schemeClr val="tx1"/>
                  </a:solidFill>
                </a:rPr>
                <a:t>Attrition Yes</a:t>
              </a:r>
              <a:endParaRPr lang="en-US" sz="900" b="1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BC896A6-4706-78CD-8361-2DB79BC7D224}"/>
                </a:ext>
              </a:extLst>
            </p:cNvPr>
            <p:cNvSpPr txBox="1"/>
            <p:nvPr/>
          </p:nvSpPr>
          <p:spPr>
            <a:xfrm>
              <a:off x="3766234" y="2717651"/>
              <a:ext cx="14032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b="1" noProof="0">
                  <a:solidFill>
                    <a:schemeClr val="tx1"/>
                  </a:solidFill>
                </a:rPr>
                <a:t>Attrition No</a:t>
              </a:r>
              <a:endParaRPr lang="en-US" sz="900" b="1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05776BF-6253-6D3B-1166-E463133ED6F4}"/>
              </a:ext>
            </a:extLst>
          </p:cNvPr>
          <p:cNvGrpSpPr/>
          <p:nvPr/>
        </p:nvGrpSpPr>
        <p:grpSpPr>
          <a:xfrm>
            <a:off x="7548708" y="2776355"/>
            <a:ext cx="2334669" cy="230832"/>
            <a:chOff x="2856440" y="2717651"/>
            <a:chExt cx="2313081" cy="230832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C30C53D-ADA5-4021-70B7-FDBDE1D68C92}"/>
                </a:ext>
              </a:extLst>
            </p:cNvPr>
            <p:cNvSpPr/>
            <p:nvPr/>
          </p:nvSpPr>
          <p:spPr>
            <a:xfrm>
              <a:off x="3064591" y="2765857"/>
              <a:ext cx="144000" cy="144000"/>
            </a:xfrm>
            <a:prstGeom prst="ellipse">
              <a:avLst/>
            </a:prstGeom>
            <a:solidFill>
              <a:srgbClr val="C97B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noProof="0"/>
            </a:p>
          </p:txBody>
        </p:sp>
        <p:sp>
          <p:nvSpPr>
            <p:cNvPr id="32" name="Diamond 31">
              <a:extLst>
                <a:ext uri="{FF2B5EF4-FFF2-40B4-BE49-F238E27FC236}">
                  <a16:creationId xmlns:a16="http://schemas.microsoft.com/office/drawing/2014/main" id="{C509753D-692E-83D9-32A9-BBEE09CD4639}"/>
                </a:ext>
              </a:extLst>
            </p:cNvPr>
            <p:cNvSpPr/>
            <p:nvPr/>
          </p:nvSpPr>
          <p:spPr>
            <a:xfrm>
              <a:off x="3994989" y="2765857"/>
              <a:ext cx="144000" cy="144000"/>
            </a:xfrm>
            <a:prstGeom prst="diamond">
              <a:avLst/>
            </a:prstGeom>
            <a:solidFill>
              <a:srgbClr val="7C92A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noProof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DBD4372-1BC0-985A-C375-CC0341ABF7B4}"/>
                </a:ext>
              </a:extLst>
            </p:cNvPr>
            <p:cNvSpPr txBox="1"/>
            <p:nvPr/>
          </p:nvSpPr>
          <p:spPr>
            <a:xfrm>
              <a:off x="2856440" y="2717651"/>
              <a:ext cx="14032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b="1" noProof="0">
                  <a:solidFill>
                    <a:schemeClr val="tx1"/>
                  </a:solidFill>
                </a:rPr>
                <a:t>Attrition Yes</a:t>
              </a:r>
              <a:endParaRPr lang="en-US" sz="900" b="1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9FEB77D-8A5A-361B-6984-E3A4DC298277}"/>
                </a:ext>
              </a:extLst>
            </p:cNvPr>
            <p:cNvSpPr txBox="1"/>
            <p:nvPr/>
          </p:nvSpPr>
          <p:spPr>
            <a:xfrm>
              <a:off x="3766234" y="2717651"/>
              <a:ext cx="14032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b="1" noProof="0">
                  <a:solidFill>
                    <a:schemeClr val="tx1"/>
                  </a:solidFill>
                </a:rPr>
                <a:t>Attrition No</a:t>
              </a:r>
              <a:endParaRPr lang="en-US" sz="900" b="1"/>
            </a:p>
          </p:txBody>
        </p:sp>
      </p:grpSp>
    </p:spTree>
    <p:extLst>
      <p:ext uri="{BB962C8B-B14F-4D97-AF65-F5344CB8AC3E}">
        <p14:creationId xmlns:p14="http://schemas.microsoft.com/office/powerpoint/2010/main" val="130805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A078B-F737-70D2-1A94-51DFC84C6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8A582329-91FB-FFBC-FB0F-D55DAB842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063676-DF8C-787C-7765-E4028B0F4717}"/>
              </a:ext>
            </a:extLst>
          </p:cNvPr>
          <p:cNvSpPr txBox="1"/>
          <p:nvPr/>
        </p:nvSpPr>
        <p:spPr>
          <a:xfrm>
            <a:off x="919273" y="488722"/>
            <a:ext cx="11016053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Feature Selection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Most relevant features for prediction Attrition are mainly in </a:t>
            </a:r>
            <a:r>
              <a:rPr lang="en-US" sz="2400" b="1" i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Job characteristics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18B53B-231A-2C80-9DAF-8A012F9F87F6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Feature Selection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49D9BEA3-E399-3543-FC3D-C7BB717E21AA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BF83834-B885-E73F-1EBA-66951F3B150F}"/>
              </a:ext>
            </a:extLst>
          </p:cNvPr>
          <p:cNvGrpSpPr/>
          <p:nvPr/>
        </p:nvGrpSpPr>
        <p:grpSpPr>
          <a:xfrm>
            <a:off x="1333433" y="4065060"/>
            <a:ext cx="6102220" cy="2099513"/>
            <a:chOff x="919273" y="4062311"/>
            <a:chExt cx="6102220" cy="2099513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BAAEF07-7F14-53B3-61EB-4659BF9A51F4}"/>
                </a:ext>
              </a:extLst>
            </p:cNvPr>
            <p:cNvSpPr txBox="1"/>
            <p:nvPr/>
          </p:nvSpPr>
          <p:spPr>
            <a:xfrm>
              <a:off x="919273" y="4159363"/>
              <a:ext cx="61022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noProof="0">
                  <a:solidFill>
                    <a:srgbClr val="FFC000"/>
                  </a:solidFill>
                </a:rPr>
                <a:t>	Job characteristics</a:t>
              </a: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83D45867-12A1-2D0A-4A83-9CA065E60636}"/>
                </a:ext>
              </a:extLst>
            </p:cNvPr>
            <p:cNvSpPr/>
            <p:nvPr/>
          </p:nvSpPr>
          <p:spPr>
            <a:xfrm>
              <a:off x="919273" y="4544087"/>
              <a:ext cx="5854751" cy="1617737"/>
            </a:xfrm>
            <a:prstGeom prst="roundRect">
              <a:avLst/>
            </a:prstGeom>
            <a:ln w="28575"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600" b="1" noProof="0">
                <a:solidFill>
                  <a:srgbClr val="FFC000"/>
                </a:solidFill>
              </a:endParaRPr>
            </a:p>
            <a:p>
              <a:pPr marL="537750" indent="-285750">
                <a:buFontTx/>
                <a:buChar char="-"/>
              </a:pPr>
              <a:r>
                <a: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Satisfaction</a:t>
              </a:r>
            </a:p>
            <a:p>
              <a:pPr marL="537750" indent="-285750">
                <a:buFontTx/>
                <a:buChar char="-"/>
              </a:pPr>
              <a:r>
                <a: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Involvement </a:t>
              </a:r>
            </a:p>
            <a:p>
              <a:pPr marL="537750" indent="-285750">
                <a:buFontTx/>
                <a:buChar char="-"/>
              </a:pPr>
              <a:r>
                <a: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Environment satisfaction</a:t>
              </a:r>
            </a:p>
            <a:p>
              <a:pPr marL="537750" indent="-285750">
                <a:buFontTx/>
                <a:buChar char="-"/>
              </a:pPr>
              <a:r>
                <a: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Work-life balance</a:t>
              </a:r>
            </a:p>
            <a:p>
              <a:pPr marL="537750" indent="-285750">
                <a:buFontTx/>
                <a:buChar char="-"/>
              </a:pPr>
              <a:r>
                <a: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Overtime</a:t>
              </a:r>
            </a:p>
            <a:p>
              <a:pPr marL="537750" indent="-285750">
                <a:buFontTx/>
                <a:buChar char="-"/>
              </a:pPr>
              <a:r>
                <a: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Business travel</a:t>
              </a:r>
            </a:p>
            <a:p>
              <a:pPr marL="252000"/>
              <a:endParaRPr lang="en-US" sz="1200" noProof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83B3E47-3416-F192-1BA4-922DADC7A4C9}"/>
                </a:ext>
              </a:extLst>
            </p:cNvPr>
            <p:cNvGrpSpPr/>
            <p:nvPr/>
          </p:nvGrpSpPr>
          <p:grpSpPr>
            <a:xfrm>
              <a:off x="1041605" y="4062311"/>
              <a:ext cx="734398" cy="734400"/>
              <a:chOff x="4241551" y="2321990"/>
              <a:chExt cx="1008000" cy="1008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FA42B5A-24E3-F3D0-62C6-09E0428A8959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2AC430E-A3D2-A2BC-8C16-F666A5E1DA6C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pic>
            <p:nvPicPr>
              <p:cNvPr id="16" name="Graphic 15" descr="Briefcase with solid fill">
                <a:extLst>
                  <a:ext uri="{FF2B5EF4-FFF2-40B4-BE49-F238E27FC236}">
                    <a16:creationId xmlns:a16="http://schemas.microsoft.com/office/drawing/2014/main" id="{AC91FCA2-52EA-A03F-FB2F-DC8F6A0D3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460588" y="2541027"/>
                <a:ext cx="569926" cy="569926"/>
              </a:xfrm>
              <a:prstGeom prst="rect">
                <a:avLst/>
              </a:prstGeom>
              <a:effectLst>
                <a:innerShdw blurRad="63500" dist="50800" dir="16200000">
                  <a:prstClr val="black">
                    <a:alpha val="50000"/>
                  </a:prstClr>
                </a:innerShdw>
              </a:effectLst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EF0A86-00CD-B818-8E70-7D4882FFD938}"/>
              </a:ext>
            </a:extLst>
          </p:cNvPr>
          <p:cNvGrpSpPr/>
          <p:nvPr/>
        </p:nvGrpSpPr>
        <p:grpSpPr>
          <a:xfrm>
            <a:off x="6151600" y="4685974"/>
            <a:ext cx="6102220" cy="1439350"/>
            <a:chOff x="4145497" y="2957408"/>
            <a:chExt cx="6102220" cy="143935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CF9962E-086E-BC68-0D70-AB523431E09A}"/>
                </a:ext>
              </a:extLst>
            </p:cNvPr>
            <p:cNvSpPr txBox="1"/>
            <p:nvPr/>
          </p:nvSpPr>
          <p:spPr>
            <a:xfrm>
              <a:off x="4145497" y="2997060"/>
              <a:ext cx="61022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noProof="0">
                  <a:solidFill>
                    <a:srgbClr val="AD4F36"/>
                  </a:solidFill>
                </a:rPr>
                <a:t>Work Experience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9134FCD0-51C4-02AC-86A7-4EA07683E1E3}"/>
                </a:ext>
              </a:extLst>
            </p:cNvPr>
            <p:cNvGrpSpPr/>
            <p:nvPr/>
          </p:nvGrpSpPr>
          <p:grpSpPr>
            <a:xfrm>
              <a:off x="5526990" y="2957408"/>
              <a:ext cx="3403131" cy="1439350"/>
              <a:chOff x="3785019" y="2760616"/>
              <a:chExt cx="3403131" cy="1439350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203390BD-5EA4-3A48-9C67-E967F9F3E1E2}"/>
                  </a:ext>
                </a:extLst>
              </p:cNvPr>
              <p:cNvSpPr/>
              <p:nvPr/>
            </p:nvSpPr>
            <p:spPr>
              <a:xfrm>
                <a:off x="3970383" y="3190281"/>
                <a:ext cx="3217767" cy="1009685"/>
              </a:xfrm>
              <a:prstGeom prst="roundRect">
                <a:avLst/>
              </a:prstGeom>
              <a:ln w="28575">
                <a:solidFill>
                  <a:srgbClr val="AD4F36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pPr algn="ctr"/>
                <a:endParaRPr lang="en-US" sz="1400" b="1" noProof="0">
                  <a:solidFill>
                    <a:srgbClr val="FFC000"/>
                  </a:solidFill>
                </a:endParaRPr>
              </a:p>
              <a:p>
                <a:pPr marL="537210" indent="-285750">
                  <a:buFontTx/>
                  <a:buChar char="-"/>
                </a:pPr>
                <a:r>
                  <a:rPr lang="en-US" sz="1400" noProof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Years at the company</a:t>
                </a:r>
              </a:p>
              <a:p>
                <a:pPr marL="537210" indent="-285750">
                  <a:buFontTx/>
                  <a:buChar char="-"/>
                </a:pPr>
                <a:r>
                  <a:rPr lang="en-US" sz="1400" noProof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Total working years</a:t>
                </a:r>
              </a:p>
              <a:p>
                <a:pPr marL="537210" indent="-285750">
                  <a:buFontTx/>
                  <a:buChar char="-"/>
                </a:pPr>
                <a:r>
                  <a:rPr lang="en-US"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Number of companies worked</a:t>
                </a:r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A8050EA4-C859-4FC5-348D-AD2BD197EA49}"/>
                  </a:ext>
                </a:extLst>
              </p:cNvPr>
              <p:cNvGrpSpPr/>
              <p:nvPr/>
            </p:nvGrpSpPr>
            <p:grpSpPr>
              <a:xfrm>
                <a:off x="3785019" y="2760616"/>
                <a:ext cx="734398" cy="734400"/>
                <a:chOff x="6995194" y="2322560"/>
                <a:chExt cx="1008000" cy="1008000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18C476EC-484A-7EA8-CF36-CEE81A683E00}"/>
                    </a:ext>
                  </a:extLst>
                </p:cNvPr>
                <p:cNvGrpSpPr/>
                <p:nvPr/>
              </p:nvGrpSpPr>
              <p:grpSpPr>
                <a:xfrm>
                  <a:off x="6995194" y="2322560"/>
                  <a:ext cx="1008000" cy="1008000"/>
                  <a:chOff x="4241551" y="2321990"/>
                  <a:chExt cx="1008000" cy="1008000"/>
                </a:xfrm>
              </p:grpSpPr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DC3F2030-D71B-D5D1-6514-19726FFAD610}"/>
                      </a:ext>
                    </a:extLst>
                  </p:cNvPr>
                  <p:cNvSpPr/>
                  <p:nvPr/>
                </p:nvSpPr>
                <p:spPr>
                  <a:xfrm>
                    <a:off x="4241551" y="2321990"/>
                    <a:ext cx="1008000" cy="1008000"/>
                  </a:xfrm>
                  <a:prstGeom prst="ellipse">
                    <a:avLst/>
                  </a:prstGeom>
                  <a:solidFill>
                    <a:srgbClr val="AD4F36"/>
                  </a:solidFill>
                  <a:ln>
                    <a:solidFill>
                      <a:srgbClr val="AD4F36"/>
                    </a:solidFill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/>
                  </a:p>
                </p:txBody>
              </p:sp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29E419C4-7146-AE4D-46C2-3DB93740BCA2}"/>
                      </a:ext>
                    </a:extLst>
                  </p:cNvPr>
                  <p:cNvSpPr/>
                  <p:nvPr/>
                </p:nvSpPr>
                <p:spPr>
                  <a:xfrm>
                    <a:off x="4306702" y="2375990"/>
                    <a:ext cx="900000" cy="900000"/>
                  </a:xfrm>
                  <a:prstGeom prst="ellipse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/>
                  </a:p>
                </p:txBody>
              </p:sp>
            </p:grpSp>
            <p:pic>
              <p:nvPicPr>
                <p:cNvPr id="46" name="Graphic 45" descr="Programmer male with solid fill">
                  <a:extLst>
                    <a:ext uri="{FF2B5EF4-FFF2-40B4-BE49-F238E27FC236}">
                      <a16:creationId xmlns:a16="http://schemas.microsoft.com/office/drawing/2014/main" id="{3C608CFB-FF8A-9E1F-702A-5864F4647C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88892" y="2505107"/>
                  <a:ext cx="630000" cy="630000"/>
                </a:xfrm>
                <a:prstGeom prst="rect">
                  <a:avLst/>
                </a:prstGeom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p:spPr>
            </p:pic>
          </p:grp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B324102-47B6-3211-FEA5-D2BB07019F6E}"/>
              </a:ext>
            </a:extLst>
          </p:cNvPr>
          <p:cNvGrpSpPr/>
          <p:nvPr/>
        </p:nvGrpSpPr>
        <p:grpSpPr>
          <a:xfrm>
            <a:off x="5992016" y="3296892"/>
            <a:ext cx="6102220" cy="1107910"/>
            <a:chOff x="7175790" y="3622424"/>
            <a:chExt cx="6102220" cy="110791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706B35E-8565-B69C-7D35-4D15FE09300F}"/>
                </a:ext>
              </a:extLst>
            </p:cNvPr>
            <p:cNvGrpSpPr/>
            <p:nvPr/>
          </p:nvGrpSpPr>
          <p:grpSpPr>
            <a:xfrm>
              <a:off x="7175790" y="3701807"/>
              <a:ext cx="6102220" cy="1028527"/>
              <a:chOff x="5043115" y="710733"/>
              <a:chExt cx="6102220" cy="1028527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24B422C-5DB5-C2C4-3224-D6A7B5EC7A1C}"/>
                  </a:ext>
                </a:extLst>
              </p:cNvPr>
              <p:cNvSpPr txBox="1"/>
              <p:nvPr/>
            </p:nvSpPr>
            <p:spPr>
              <a:xfrm>
                <a:off x="5043115" y="710733"/>
                <a:ext cx="61022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noProof="0">
                    <a:solidFill>
                      <a:srgbClr val="254B66"/>
                    </a:solidFill>
                  </a:rPr>
                  <a:t>Demographics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EBC93811-E6B8-C50A-24D0-412620BE37A5}"/>
                  </a:ext>
                </a:extLst>
              </p:cNvPr>
              <p:cNvSpPr/>
              <p:nvPr/>
            </p:nvSpPr>
            <p:spPr>
              <a:xfrm>
                <a:off x="6692405" y="1092165"/>
                <a:ext cx="3294918" cy="647095"/>
              </a:xfrm>
              <a:prstGeom prst="roundRect">
                <a:avLst/>
              </a:prstGeom>
              <a:ln w="28575">
                <a:solidFill>
                  <a:srgbClr val="254B66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en-US"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- </a:t>
                </a:r>
              </a:p>
              <a:p>
                <a:endPara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  <a:p>
                <a:pPr marL="742950" lvl="1" indent="-285750">
                  <a:buFontTx/>
                  <a:buChar char="-"/>
                </a:pPr>
                <a:r>
                  <a:rPr lang="en-US" sz="1400" noProof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Married</a:t>
                </a:r>
                <a:r>
                  <a:rPr lang="en-US"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or Single</a:t>
                </a:r>
              </a:p>
              <a:p>
                <a:r>
                  <a:rPr lang="en-US"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	</a:t>
                </a:r>
              </a:p>
              <a:p>
                <a:endParaRPr lang="en-US" sz="1400" noProof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5C2C61C-2B46-B926-08F6-9CF1EA920366}"/>
                </a:ext>
              </a:extLst>
            </p:cNvPr>
            <p:cNvGrpSpPr/>
            <p:nvPr/>
          </p:nvGrpSpPr>
          <p:grpSpPr>
            <a:xfrm>
              <a:off x="8705350" y="3622424"/>
              <a:ext cx="734398" cy="734400"/>
              <a:chOff x="1835167" y="2149922"/>
              <a:chExt cx="1008000" cy="1008000"/>
            </a:xfrm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2989BAD-679D-55DB-57AD-B2E92C9566C8}"/>
                  </a:ext>
                </a:extLst>
              </p:cNvPr>
              <p:cNvSpPr/>
              <p:nvPr/>
            </p:nvSpPr>
            <p:spPr>
              <a:xfrm>
                <a:off x="1835167" y="2149922"/>
                <a:ext cx="1008000" cy="1008000"/>
              </a:xfrm>
              <a:prstGeom prst="ellipse">
                <a:avLst/>
              </a:prstGeom>
              <a:solidFill>
                <a:srgbClr val="254B66"/>
              </a:solidFill>
              <a:ln>
                <a:solidFill>
                  <a:srgbClr val="254B6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noProof="0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6DF3222-798C-BE61-7596-790951030A1F}"/>
                  </a:ext>
                </a:extLst>
              </p:cNvPr>
              <p:cNvGrpSpPr/>
              <p:nvPr/>
            </p:nvGrpSpPr>
            <p:grpSpPr>
              <a:xfrm>
                <a:off x="1889167" y="2203922"/>
                <a:ext cx="900000" cy="900000"/>
                <a:chOff x="1795643" y="2026558"/>
                <a:chExt cx="900000" cy="900000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F5FD57DE-F66D-E951-03F2-E7F65122F408}"/>
                    </a:ext>
                  </a:extLst>
                </p:cNvPr>
                <p:cNvSpPr/>
                <p:nvPr/>
              </p:nvSpPr>
              <p:spPr>
                <a:xfrm>
                  <a:off x="1795643" y="2026558"/>
                  <a:ext cx="900000" cy="900000"/>
                </a:xfrm>
                <a:prstGeom prst="ellipse">
                  <a:avLst/>
                </a:prstGeom>
                <a:ln>
                  <a:solidFill>
                    <a:srgbClr val="254B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noProof="0"/>
                </a:p>
              </p:txBody>
            </p:sp>
            <p:pic>
              <p:nvPicPr>
                <p:cNvPr id="10" name="Graphic 9" descr="Group of men with solid fill">
                  <a:extLst>
                    <a:ext uri="{FF2B5EF4-FFF2-40B4-BE49-F238E27FC236}">
                      <a16:creationId xmlns:a16="http://schemas.microsoft.com/office/drawing/2014/main" id="{39BDA9AB-1DEF-DD4C-F91E-BAB8C5022B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957643" y="2188558"/>
                  <a:ext cx="576000" cy="576000"/>
                </a:xfrm>
                <a:prstGeom prst="rect">
                  <a:avLst/>
                </a:prstGeom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p:spPr>
            </p:pic>
          </p:grpSp>
        </p:grp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D15C7192-24FB-E829-65DB-B468234ADB80}"/>
              </a:ext>
            </a:extLst>
          </p:cNvPr>
          <p:cNvSpPr txBox="1"/>
          <p:nvPr/>
        </p:nvSpPr>
        <p:spPr>
          <a:xfrm>
            <a:off x="1244168" y="2198622"/>
            <a:ext cx="7526800" cy="141577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/>
            <a:r>
              <a:rPr lang="en-US" noProof="0"/>
              <a:t>Despite of the number of features available, after </a:t>
            </a:r>
            <a:r>
              <a:rPr lang="en-US" u="sng" noProof="0"/>
              <a:t>analyzing correlations</a:t>
            </a:r>
            <a:r>
              <a:rPr lang="en-US" noProof="0"/>
              <a:t> and </a:t>
            </a:r>
            <a:r>
              <a:rPr lang="en-US" u="sng" noProof="0"/>
              <a:t>applying statistical tests</a:t>
            </a:r>
            <a:r>
              <a:rPr lang="en-US" noProof="0"/>
              <a:t>, these were the </a:t>
            </a:r>
            <a:r>
              <a:rPr lang="en-US" b="1" noProof="0"/>
              <a:t>most relevant </a:t>
            </a:r>
            <a:r>
              <a:rPr lang="en-US" noProof="0"/>
              <a:t>for machine learning models.</a:t>
            </a:r>
          </a:p>
          <a:p>
            <a:pPr algn="just"/>
            <a:endParaRPr lang="en-US" sz="1600" noProof="0">
              <a:solidFill>
                <a:schemeClr val="tx1"/>
              </a:solidFill>
            </a:endParaRPr>
          </a:p>
          <a:p>
            <a:pPr algn="just"/>
            <a:r>
              <a:rPr lang="en-US" sz="1500" noProof="0">
                <a:solidFill>
                  <a:srgbClr val="5F5B37"/>
                </a:solidFill>
              </a:rPr>
              <a:t>Curiously, no features from the </a:t>
            </a:r>
            <a:r>
              <a:rPr lang="en-US" sz="1500" b="1" noProof="0">
                <a:solidFill>
                  <a:srgbClr val="5F5B37"/>
                </a:solidFill>
              </a:rPr>
              <a:t>Compensation</a:t>
            </a:r>
            <a:r>
              <a:rPr lang="en-US" sz="1500">
                <a:solidFill>
                  <a:srgbClr val="5F5B37"/>
                </a:solidFill>
              </a:rPr>
              <a:t> category were</a:t>
            </a:r>
            <a:r>
              <a:rPr lang="en-US" sz="1500" noProof="0">
                <a:solidFill>
                  <a:srgbClr val="5F5B37"/>
                </a:solidFill>
              </a:rPr>
              <a:t> selected.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C2016-49C3-D4FC-FE2A-FE704FA2EA5F}"/>
              </a:ext>
            </a:extLst>
          </p:cNvPr>
          <p:cNvSpPr txBox="1"/>
          <p:nvPr/>
        </p:nvSpPr>
        <p:spPr>
          <a:xfrm>
            <a:off x="3676199" y="4701785"/>
            <a:ext cx="368443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37750" indent="-285750">
              <a:buFontTx/>
              <a:buChar char="-"/>
            </a:pPr>
            <a:r>
              <a:rPr lang="en-US" sz="14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Department</a:t>
            </a:r>
          </a:p>
          <a:p>
            <a:pPr marL="537750" indent="-285750">
              <a:buFontTx/>
              <a:buChar char="-"/>
            </a:pPr>
            <a:r>
              <a:rPr lang="en-US" sz="14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Roles: Research director; manufacturing director; healthcare representative; manager; R&amp;D department</a:t>
            </a:r>
          </a:p>
        </p:txBody>
      </p:sp>
    </p:spTree>
    <p:extLst>
      <p:ext uri="{BB962C8B-B14F-4D97-AF65-F5344CB8AC3E}">
        <p14:creationId xmlns:p14="http://schemas.microsoft.com/office/powerpoint/2010/main" val="1946093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5181D-B1AB-8063-83D1-1D00FAA38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FE378C47-7438-5D58-FECD-31041B3CD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CE0B7D-7039-88D3-EA15-7D195E1F72BB}"/>
              </a:ext>
            </a:extLst>
          </p:cNvPr>
          <p:cNvSpPr txBox="1"/>
          <p:nvPr/>
        </p:nvSpPr>
        <p:spPr>
          <a:xfrm>
            <a:off x="919273" y="488722"/>
            <a:ext cx="10958500" cy="13225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 dirty="0">
                <a:solidFill>
                  <a:srgbClr val="AD4F36"/>
                </a:solidFill>
              </a:rPr>
              <a:t>Predicting employee attrition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Policy option: proactively flag 106 employees to catch 3 out of 4 planned leavers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AD71FB-0041-DCD6-7E3A-821C41C9DB4D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Predictive Model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0BC63DB5-E9B3-5C2A-8C4F-0219E6FAE140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ED99295-DED8-B119-1F9F-0083B82F6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4638262"/>
              </p:ext>
            </p:extLst>
          </p:nvPr>
        </p:nvGraphicFramePr>
        <p:xfrm>
          <a:off x="794209" y="3177857"/>
          <a:ext cx="3947322" cy="2638582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315774">
                  <a:extLst>
                    <a:ext uri="{9D8B030D-6E8A-4147-A177-3AD203B41FA5}">
                      <a16:colId xmlns:a16="http://schemas.microsoft.com/office/drawing/2014/main" val="1795289988"/>
                    </a:ext>
                  </a:extLst>
                </a:gridCol>
                <a:gridCol w="1315774">
                  <a:extLst>
                    <a:ext uri="{9D8B030D-6E8A-4147-A177-3AD203B41FA5}">
                      <a16:colId xmlns:a16="http://schemas.microsoft.com/office/drawing/2014/main" val="3209479492"/>
                    </a:ext>
                  </a:extLst>
                </a:gridCol>
                <a:gridCol w="1315774">
                  <a:extLst>
                    <a:ext uri="{9D8B030D-6E8A-4147-A177-3AD203B41FA5}">
                      <a16:colId xmlns:a16="http://schemas.microsoft.com/office/drawing/2014/main" val="4193570614"/>
                    </a:ext>
                  </a:extLst>
                </a:gridCol>
              </a:tblGrid>
              <a:tr h="610363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endParaRPr lang="en-US" sz="1600" noProof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100639" marR="100639" marT="50319" marB="503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600" noProof="0">
                          <a:solidFill>
                            <a:srgbClr val="5F5B37"/>
                          </a:solidFill>
                        </a:rPr>
                        <a:t>Stay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600" noProof="0">
                          <a:solidFill>
                            <a:srgbClr val="5F5B37"/>
                          </a:solidFill>
                        </a:rPr>
                        <a:t>Leave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431247"/>
                  </a:ext>
                </a:extLst>
              </a:tr>
              <a:tr h="1026609"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lang="en-US" sz="1600" b="1" noProof="0">
                          <a:solidFill>
                            <a:srgbClr val="5F5B37"/>
                          </a:solidFill>
                        </a:rPr>
                        <a:t>Stay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rgbClr val="FFFFFF"/>
                          </a:solidFill>
                        </a:rPr>
                        <a:t>177</a:t>
                      </a:r>
                    </a:p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rgbClr val="FFFFFF"/>
                          </a:solidFill>
                        </a:rPr>
                        <a:t>71.7%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70</a:t>
                      </a:r>
                    </a:p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28.3%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467008"/>
                  </a:ext>
                </a:extLst>
              </a:tr>
              <a:tr h="1001610">
                <a:tc>
                  <a:txBody>
                    <a:bodyPr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lang="en-US" sz="1600" b="1" noProof="0">
                          <a:solidFill>
                            <a:srgbClr val="5F5B37"/>
                          </a:solidFill>
                        </a:rPr>
                        <a:t>Leave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11</a:t>
                      </a:r>
                    </a:p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23.4%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chemeClr val="bg1"/>
                          </a:solidFill>
                        </a:rPr>
                        <a:t>36</a:t>
                      </a:r>
                    </a:p>
                    <a:p>
                      <a:pPr algn="ctr">
                        <a:lnSpc>
                          <a:spcPct val="120000"/>
                        </a:lnSpc>
                      </a:pPr>
                      <a:r>
                        <a:rPr lang="en-US" sz="1400" b="1" noProof="0">
                          <a:solidFill>
                            <a:schemeClr val="bg1"/>
                          </a:solidFill>
                        </a:rPr>
                        <a:t>76.6%</a:t>
                      </a:r>
                    </a:p>
                  </a:txBody>
                  <a:tcPr marL="100639" marR="100639" marT="50319" marB="50319" anchor="ctr">
                    <a:lnL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F5B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58746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7764C1F-2811-CA37-DA90-B5ED263B0F29}"/>
              </a:ext>
            </a:extLst>
          </p:cNvPr>
          <p:cNvSpPr/>
          <p:nvPr/>
        </p:nvSpPr>
        <p:spPr>
          <a:xfrm>
            <a:off x="2071941" y="2626145"/>
            <a:ext cx="2669590" cy="4524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5F5B37"/>
                </a:solidFill>
              </a:rPr>
              <a:t>Predicted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D5D94-F36A-13D4-D655-F7A19F64DAC1}"/>
              </a:ext>
            </a:extLst>
          </p:cNvPr>
          <p:cNvSpPr/>
          <p:nvPr/>
        </p:nvSpPr>
        <p:spPr>
          <a:xfrm>
            <a:off x="308038" y="4576714"/>
            <a:ext cx="1130067" cy="4524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5F5B37"/>
                </a:solidFill>
              </a:rPr>
              <a:t>Actual</a:t>
            </a:r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C51C2317-7E1F-4E39-35D2-30FAD85571AC}"/>
              </a:ext>
            </a:extLst>
          </p:cNvPr>
          <p:cNvSpPr/>
          <p:nvPr/>
        </p:nvSpPr>
        <p:spPr>
          <a:xfrm rot="5400000">
            <a:off x="3288211" y="1921402"/>
            <a:ext cx="237050" cy="2669590"/>
          </a:xfrm>
          <a:prstGeom prst="leftBracket">
            <a:avLst>
              <a:gd name="adj" fmla="val 89092"/>
            </a:avLst>
          </a:prstGeom>
          <a:ln>
            <a:solidFill>
              <a:srgbClr val="5F5B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22EED5B-4A96-ABD5-0194-C3B0244AFCD1}"/>
              </a:ext>
            </a:extLst>
          </p:cNvPr>
          <p:cNvSpPr/>
          <p:nvPr/>
        </p:nvSpPr>
        <p:spPr>
          <a:xfrm>
            <a:off x="1319580" y="3655331"/>
            <a:ext cx="237050" cy="2220148"/>
          </a:xfrm>
          <a:prstGeom prst="leftBracket">
            <a:avLst>
              <a:gd name="adj" fmla="val 89092"/>
            </a:avLst>
          </a:prstGeom>
          <a:ln>
            <a:solidFill>
              <a:srgbClr val="5F5B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319DF7-31A8-3CC8-357E-B998EC94AC4C}"/>
              </a:ext>
            </a:extLst>
          </p:cNvPr>
          <p:cNvSpPr/>
          <p:nvPr/>
        </p:nvSpPr>
        <p:spPr>
          <a:xfrm>
            <a:off x="6038595" y="2885859"/>
            <a:ext cx="5628338" cy="154204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Catches 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76.6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% 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 employees planning to leave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equiring intervention with 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106 employees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(most balanced model).</a:t>
            </a:r>
            <a:endParaRPr lang="en-US" sz="1600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By choosing a 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recall‑oriented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threshold, we 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accept more false alarms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exchange 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for catching more at‑risk employees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reducing unexpected departures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US" sz="1600" b="1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B5AA60-9DA6-3FB7-023D-AC5DD20E208B}"/>
              </a:ext>
            </a:extLst>
          </p:cNvPr>
          <p:cNvSpPr txBox="1"/>
          <p:nvPr/>
        </p:nvSpPr>
        <p:spPr>
          <a:xfrm>
            <a:off x="5808726" y="2394562"/>
            <a:ext cx="53033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noProof="0">
                <a:solidFill>
                  <a:srgbClr val="5F5B37"/>
                </a:solidFill>
              </a:rPr>
              <a:t>	Business impact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2303DD3-458D-752B-2ED7-8E7A79569BF1}"/>
              </a:ext>
            </a:extLst>
          </p:cNvPr>
          <p:cNvGrpSpPr/>
          <p:nvPr/>
        </p:nvGrpSpPr>
        <p:grpSpPr>
          <a:xfrm>
            <a:off x="6033177" y="2402157"/>
            <a:ext cx="599760" cy="599760"/>
            <a:chOff x="6052251" y="2248341"/>
            <a:chExt cx="599760" cy="59976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03A01C0-D2CD-E962-2853-479A8CDD94FC}"/>
                </a:ext>
              </a:extLst>
            </p:cNvPr>
            <p:cNvGrpSpPr/>
            <p:nvPr/>
          </p:nvGrpSpPr>
          <p:grpSpPr>
            <a:xfrm>
              <a:off x="6052251" y="2248341"/>
              <a:ext cx="599760" cy="599760"/>
              <a:chOff x="4241551" y="2321990"/>
              <a:chExt cx="1008000" cy="1008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4F1BFDE-12DB-D8A7-51BB-C71CF92577E8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5F5B37"/>
              </a:solidFill>
              <a:ln>
                <a:solidFill>
                  <a:srgbClr val="5F5B37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C222935-E8BA-6373-D778-F78ED90B98AE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18" name="Graphic 17" descr="Briefcase with solid fill">
              <a:extLst>
                <a:ext uri="{FF2B5EF4-FFF2-40B4-BE49-F238E27FC236}">
                  <a16:creationId xmlns:a16="http://schemas.microsoft.com/office/drawing/2014/main" id="{87950922-8A25-E3D2-F89C-04D68F995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96185" y="2405355"/>
              <a:ext cx="305874" cy="305874"/>
            </a:xfrm>
            <a:prstGeom prst="rect">
              <a:avLst/>
            </a:prstGeom>
          </p:spPr>
        </p:pic>
      </p:grp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9B60F23-DE45-1EC1-F4B7-EAA0BD3172CA}"/>
              </a:ext>
            </a:extLst>
          </p:cNvPr>
          <p:cNvSpPr/>
          <p:nvPr/>
        </p:nvSpPr>
        <p:spPr>
          <a:xfrm>
            <a:off x="6093906" y="4993458"/>
            <a:ext cx="5573027" cy="13456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>
              <a:lnSpc>
                <a:spcPct val="120000"/>
              </a:lnSpc>
            </a:pPr>
            <a:endParaRPr lang="en-US" sz="16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Leavers Caught: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36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out of 47 (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76.6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%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Missed Departures: 11 out of 47 (19%)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False Alarms: 70 out of 247  (32%)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Total Flagged: </a:t>
            </a:r>
            <a:r>
              <a:rPr lang="en-US" sz="16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106 </a:t>
            </a:r>
            <a:r>
              <a:rPr lang="en-US" sz="16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employees </a:t>
            </a:r>
          </a:p>
          <a:p>
            <a:pPr>
              <a:lnSpc>
                <a:spcPct val="120000"/>
              </a:lnSpc>
            </a:pPr>
            <a:endParaRPr lang="en-US" sz="16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C37901-F89B-9055-B3F8-3F1765711CF0}"/>
              </a:ext>
            </a:extLst>
          </p:cNvPr>
          <p:cNvSpPr txBox="1"/>
          <p:nvPr/>
        </p:nvSpPr>
        <p:spPr>
          <a:xfrm>
            <a:off x="5808726" y="4564772"/>
            <a:ext cx="53033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noProof="0">
                <a:solidFill>
                  <a:srgbClr val="5F5B37"/>
                </a:solidFill>
              </a:rPr>
              <a:t>	 Model Results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AA6DD8-A579-09F5-7785-A19C292C4B39}"/>
              </a:ext>
            </a:extLst>
          </p:cNvPr>
          <p:cNvSpPr txBox="1"/>
          <p:nvPr/>
        </p:nvSpPr>
        <p:spPr>
          <a:xfrm>
            <a:off x="1610413" y="2166995"/>
            <a:ext cx="36780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noProof="0" dirty="0">
                <a:solidFill>
                  <a:srgbClr val="5F5B37"/>
                </a:solidFill>
              </a:rPr>
              <a:t>Logistic Regression Model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0266A-688F-96A0-3BD8-8B3C54E8A00D}"/>
              </a:ext>
            </a:extLst>
          </p:cNvPr>
          <p:cNvGrpSpPr/>
          <p:nvPr/>
        </p:nvGrpSpPr>
        <p:grpSpPr>
          <a:xfrm>
            <a:off x="6093912" y="4520886"/>
            <a:ext cx="599760" cy="599760"/>
            <a:chOff x="6093912" y="4358961"/>
            <a:chExt cx="599760" cy="59976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1D49FF3-D863-8B13-F9CB-73216C63B72B}"/>
                </a:ext>
              </a:extLst>
            </p:cNvPr>
            <p:cNvGrpSpPr/>
            <p:nvPr/>
          </p:nvGrpSpPr>
          <p:grpSpPr>
            <a:xfrm>
              <a:off x="6093912" y="4358961"/>
              <a:ext cx="599760" cy="599760"/>
              <a:chOff x="4241551" y="2321990"/>
              <a:chExt cx="1008000" cy="1008000"/>
            </a:xfrm>
          </p:grpSpPr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C8E2FA4-A236-511A-0F6E-DEB7341B41C0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5F5B37"/>
              </a:solidFill>
              <a:ln>
                <a:solidFill>
                  <a:srgbClr val="5F5B37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1142417F-0704-1747-E144-0CAEF600DBEB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33" name="Graphic 32" descr="Connections with solid fill">
              <a:extLst>
                <a:ext uri="{FF2B5EF4-FFF2-40B4-BE49-F238E27FC236}">
                  <a16:creationId xmlns:a16="http://schemas.microsoft.com/office/drawing/2014/main" id="{A8AFB6E2-5C5D-3A48-0027-8436F34A39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54647" y="4429221"/>
              <a:ext cx="478290" cy="478290"/>
            </a:xfrm>
            <a:prstGeom prst="rect">
              <a:avLst/>
            </a:prstGeom>
          </p:spPr>
        </p:pic>
      </p:grpSp>
      <p:sp>
        <p:nvSpPr>
          <p:cNvPr id="36" name="Half Frame 35">
            <a:extLst>
              <a:ext uri="{FF2B5EF4-FFF2-40B4-BE49-F238E27FC236}">
                <a16:creationId xmlns:a16="http://schemas.microsoft.com/office/drawing/2014/main" id="{0EB412CD-11AC-FBE1-C4CC-4FB92684DB87}"/>
              </a:ext>
            </a:extLst>
          </p:cNvPr>
          <p:cNvSpPr/>
          <p:nvPr/>
        </p:nvSpPr>
        <p:spPr>
          <a:xfrm rot="7977296">
            <a:off x="5195363" y="3336958"/>
            <a:ext cx="365760" cy="333272"/>
          </a:xfrm>
          <a:prstGeom prst="halfFrame">
            <a:avLst/>
          </a:prstGeom>
          <a:solidFill>
            <a:srgbClr val="5F5B37"/>
          </a:solidFill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37" name="Half Frame 36">
            <a:extLst>
              <a:ext uri="{FF2B5EF4-FFF2-40B4-BE49-F238E27FC236}">
                <a16:creationId xmlns:a16="http://schemas.microsoft.com/office/drawing/2014/main" id="{ADAD4478-3E7B-2471-4027-382B6E0966CE}"/>
              </a:ext>
            </a:extLst>
          </p:cNvPr>
          <p:cNvSpPr/>
          <p:nvPr/>
        </p:nvSpPr>
        <p:spPr>
          <a:xfrm rot="7977296">
            <a:off x="5195363" y="5499647"/>
            <a:ext cx="365760" cy="333272"/>
          </a:xfrm>
          <a:prstGeom prst="halfFrame">
            <a:avLst/>
          </a:prstGeom>
          <a:solidFill>
            <a:srgbClr val="5F5B37"/>
          </a:solidFill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DA377-8958-B0B4-CEAD-F5EF4789EC1E}"/>
              </a:ext>
            </a:extLst>
          </p:cNvPr>
          <p:cNvSpPr txBox="1"/>
          <p:nvPr/>
        </p:nvSpPr>
        <p:spPr>
          <a:xfrm>
            <a:off x="2071941" y="6095999"/>
            <a:ext cx="2754968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PT" sz="1400" b="1">
                <a:solidFill>
                  <a:srgbClr val="5F5B37"/>
                </a:solidFill>
              </a:rPr>
              <a:t>ROC AUC: 0.81</a:t>
            </a:r>
            <a:endParaRPr lang="en-US" sz="1400" b="1">
              <a:solidFill>
                <a:srgbClr val="5F5B3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3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79C41-F33C-DBF4-98C1-D5901A84D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ED23D926-9F29-FEC9-71EE-A495A6CB0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8A40F2-E6C3-1166-5F6A-FA3683EAF1DB}"/>
              </a:ext>
            </a:extLst>
          </p:cNvPr>
          <p:cNvSpPr txBox="1"/>
          <p:nvPr/>
        </p:nvSpPr>
        <p:spPr>
          <a:xfrm>
            <a:off x="919273" y="488722"/>
            <a:ext cx="9185819" cy="13225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rgbClr val="AD4F36"/>
                </a:solidFill>
              </a:rPr>
              <a:t>Predicting employee attrition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New app allows predicting if an employee will leave the company!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08728E-2BB0-88DB-2395-A37000BD16CB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 Modeling &amp; Evaluation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AC032F9-0A8A-64B0-FB58-1232A0505DB6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C388EBC-DA0B-C0C2-47E3-81D6A026BCC9}"/>
              </a:ext>
            </a:extLst>
          </p:cNvPr>
          <p:cNvSpPr/>
          <p:nvPr/>
        </p:nvSpPr>
        <p:spPr>
          <a:xfrm>
            <a:off x="6038595" y="2885859"/>
            <a:ext cx="5573027" cy="13456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app takes 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individual employee features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organized by 3 groups: 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Satisfaction level, Work Experience, Job Details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​​.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ABDBB5-D68A-F377-A049-2AE0027F530D}"/>
              </a:ext>
            </a:extLst>
          </p:cNvPr>
          <p:cNvSpPr txBox="1"/>
          <p:nvPr/>
        </p:nvSpPr>
        <p:spPr>
          <a:xfrm>
            <a:off x="5742051" y="2432871"/>
            <a:ext cx="5303315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000" b="1" dirty="0">
                <a:solidFill>
                  <a:srgbClr val="5F5B37"/>
                </a:solidFill>
              </a:rPr>
              <a:t>              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A92DE27-AB32-3627-7F67-9BEFF6B460B5}"/>
              </a:ext>
            </a:extLst>
          </p:cNvPr>
          <p:cNvGrpSpPr/>
          <p:nvPr/>
        </p:nvGrpSpPr>
        <p:grpSpPr>
          <a:xfrm>
            <a:off x="6052251" y="2400741"/>
            <a:ext cx="599760" cy="599760"/>
            <a:chOff x="6052251" y="2248341"/>
            <a:chExt cx="599760" cy="59976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147A928-3D0B-D8AB-96FC-082AA8A3F92C}"/>
                </a:ext>
              </a:extLst>
            </p:cNvPr>
            <p:cNvGrpSpPr/>
            <p:nvPr/>
          </p:nvGrpSpPr>
          <p:grpSpPr>
            <a:xfrm>
              <a:off x="6052251" y="2248341"/>
              <a:ext cx="599760" cy="599760"/>
              <a:chOff x="4241551" y="2321990"/>
              <a:chExt cx="1008000" cy="1008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7455E96-ABFD-344D-75F8-B55F6D9F85B1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5F5B37"/>
              </a:solidFill>
              <a:ln>
                <a:solidFill>
                  <a:srgbClr val="5F5B37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9A96834-CC5D-A982-FC1E-19CB6245B20B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18" name="Graphic 17" descr="Briefcase with solid fill">
              <a:extLst>
                <a:ext uri="{FF2B5EF4-FFF2-40B4-BE49-F238E27FC236}">
                  <a16:creationId xmlns:a16="http://schemas.microsoft.com/office/drawing/2014/main" id="{2144EBAE-125C-D585-DCDC-821BEBD38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96185" y="2405355"/>
              <a:ext cx="305874" cy="305874"/>
            </a:xfrm>
            <a:prstGeom prst="rect">
              <a:avLst/>
            </a:prstGeom>
          </p:spPr>
        </p:pic>
      </p:grp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C9BA30A-EDAF-9617-C5CF-F8BA4CC749AF}"/>
              </a:ext>
            </a:extLst>
          </p:cNvPr>
          <p:cNvSpPr/>
          <p:nvPr/>
        </p:nvSpPr>
        <p:spPr>
          <a:xfrm>
            <a:off x="6093906" y="4879785"/>
            <a:ext cx="5573027" cy="182684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Uses 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saved preprocessing pipeline</a:t>
            </a:r>
            <a:endParaRPr lang="en-US"/>
          </a:p>
          <a:p>
            <a:pPr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Two approaches:</a:t>
            </a:r>
          </a:p>
          <a:p>
            <a:pPr lvl="1" indent="-285750">
              <a:lnSpc>
                <a:spcPct val="120000"/>
              </a:lnSpc>
              <a:buFont typeface="Courier New" panose="020B0604020202020204" pitchFamily="34" charset="0"/>
              <a:buChar char="o"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Balanced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Logistic Regression model with a recall‑optimized threshold of 0.40 for predictions.​</a:t>
            </a:r>
          </a:p>
          <a:p>
            <a:pPr lvl="1" indent="-285750">
              <a:lnSpc>
                <a:spcPct val="120000"/>
              </a:lnSpc>
              <a:buFont typeface="Courier New" panose="020B0604020202020204" pitchFamily="34" charset="0"/>
              <a:buChar char="o"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Aggressive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Decision Tree with a recall‑optimized threshold 0.32 for predictions.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31A7F6-7E19-5870-9F35-9D01D71F54AC}"/>
              </a:ext>
            </a:extLst>
          </p:cNvPr>
          <p:cNvSpPr txBox="1"/>
          <p:nvPr/>
        </p:nvSpPr>
        <p:spPr>
          <a:xfrm>
            <a:off x="5808726" y="4451099"/>
            <a:ext cx="53033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noProof="0" dirty="0">
                <a:solidFill>
                  <a:srgbClr val="5F5B37"/>
                </a:solidFill>
              </a:rPr>
              <a:t>	 Models used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AAB82B-7D96-141C-82AA-688E3CDB3115}"/>
              </a:ext>
            </a:extLst>
          </p:cNvPr>
          <p:cNvSpPr txBox="1"/>
          <p:nvPr/>
        </p:nvSpPr>
        <p:spPr>
          <a:xfrm>
            <a:off x="673006" y="2100944"/>
            <a:ext cx="275496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2000" b="1" dirty="0">
                <a:solidFill>
                  <a:srgbClr val="5F5B37"/>
                </a:solidFill>
              </a:rPr>
              <a:t>Hugging Face Spaces</a:t>
            </a:r>
            <a:endParaRPr lang="en-US" sz="2000" b="1" noProof="0" dirty="0">
              <a:solidFill>
                <a:srgbClr val="5F5B37"/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7373997-F4E2-94BA-1FDD-838F3DBFFD09}"/>
              </a:ext>
            </a:extLst>
          </p:cNvPr>
          <p:cNvGrpSpPr/>
          <p:nvPr/>
        </p:nvGrpSpPr>
        <p:grpSpPr>
          <a:xfrm>
            <a:off x="6093912" y="4359588"/>
            <a:ext cx="599760" cy="599760"/>
            <a:chOff x="6093912" y="4358961"/>
            <a:chExt cx="599760" cy="59976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CD1A894-6052-91F1-10D9-F6F3619C6438}"/>
                </a:ext>
              </a:extLst>
            </p:cNvPr>
            <p:cNvGrpSpPr/>
            <p:nvPr/>
          </p:nvGrpSpPr>
          <p:grpSpPr>
            <a:xfrm>
              <a:off x="6093912" y="4358961"/>
              <a:ext cx="599760" cy="599760"/>
              <a:chOff x="4241551" y="2321990"/>
              <a:chExt cx="1008000" cy="1008000"/>
            </a:xfrm>
          </p:grpSpPr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7DFCDE5-5D12-E02F-504B-B313E368FBE8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5F5B37"/>
              </a:solidFill>
              <a:ln>
                <a:solidFill>
                  <a:srgbClr val="5F5B37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BFA306C0-E267-75F0-760F-BF11F34C87CB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33" name="Graphic 32" descr="Connections with solid fill">
              <a:extLst>
                <a:ext uri="{FF2B5EF4-FFF2-40B4-BE49-F238E27FC236}">
                  <a16:creationId xmlns:a16="http://schemas.microsoft.com/office/drawing/2014/main" id="{1FA71277-C6CB-9596-6B51-98E0BB9E5B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54647" y="4429221"/>
              <a:ext cx="478290" cy="478290"/>
            </a:xfrm>
            <a:prstGeom prst="rect">
              <a:avLst/>
            </a:prstGeom>
          </p:spPr>
        </p:pic>
      </p:grpSp>
      <p:sp>
        <p:nvSpPr>
          <p:cNvPr id="36" name="Half Frame 35">
            <a:extLst>
              <a:ext uri="{FF2B5EF4-FFF2-40B4-BE49-F238E27FC236}">
                <a16:creationId xmlns:a16="http://schemas.microsoft.com/office/drawing/2014/main" id="{839CF81E-195B-0E08-7AFF-97E95049FD2C}"/>
              </a:ext>
            </a:extLst>
          </p:cNvPr>
          <p:cNvSpPr/>
          <p:nvPr/>
        </p:nvSpPr>
        <p:spPr>
          <a:xfrm rot="18900000">
            <a:off x="5481116" y="3380540"/>
            <a:ext cx="365760" cy="333272"/>
          </a:xfrm>
          <a:prstGeom prst="halfFrame">
            <a:avLst/>
          </a:prstGeom>
          <a:solidFill>
            <a:srgbClr val="5F5B37"/>
          </a:solidFill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37" name="Half Frame 36">
            <a:extLst>
              <a:ext uri="{FF2B5EF4-FFF2-40B4-BE49-F238E27FC236}">
                <a16:creationId xmlns:a16="http://schemas.microsoft.com/office/drawing/2014/main" id="{264E11BE-439D-A8BE-806C-195231892135}"/>
              </a:ext>
            </a:extLst>
          </p:cNvPr>
          <p:cNvSpPr/>
          <p:nvPr/>
        </p:nvSpPr>
        <p:spPr>
          <a:xfrm rot="18900000">
            <a:off x="5481116" y="5543229"/>
            <a:ext cx="365760" cy="333272"/>
          </a:xfrm>
          <a:prstGeom prst="halfFrame">
            <a:avLst/>
          </a:prstGeom>
          <a:solidFill>
            <a:srgbClr val="5F5B37"/>
          </a:solidFill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6F5168-E5A8-1856-B79F-DC298DDF48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337" y="7101057"/>
            <a:ext cx="7489371" cy="3512121"/>
          </a:xfrm>
          <a:prstGeom prst="rect">
            <a:avLst/>
          </a:prstGeom>
        </p:spPr>
      </p:pic>
      <p:pic>
        <p:nvPicPr>
          <p:cNvPr id="10" name="Picture 9" descr="A screenshot of a test results&#10;&#10;AI-generated content may be incorrect.">
            <a:extLst>
              <a:ext uri="{FF2B5EF4-FFF2-40B4-BE49-F238E27FC236}">
                <a16:creationId xmlns:a16="http://schemas.microsoft.com/office/drawing/2014/main" id="{D7D92B93-D0FC-06B1-2738-56601080D6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006" y="2750548"/>
            <a:ext cx="4458659" cy="3730813"/>
          </a:xfrm>
          <a:prstGeom prst="rect">
            <a:avLst/>
          </a:prstGeom>
          <a:ln w="19050">
            <a:solidFill>
              <a:srgbClr val="5F5B37"/>
            </a:solidFill>
          </a:ln>
        </p:spPr>
      </p:pic>
      <p:sp>
        <p:nvSpPr>
          <p:cNvPr id="13" name="TextBox 12">
            <a:hlinkClick r:id="rId9"/>
            <a:extLst>
              <a:ext uri="{FF2B5EF4-FFF2-40B4-BE49-F238E27FC236}">
                <a16:creationId xmlns:a16="http://schemas.microsoft.com/office/drawing/2014/main" id="{5F836E61-1E04-7D03-A0DF-8672298A3339}"/>
              </a:ext>
            </a:extLst>
          </p:cNvPr>
          <p:cNvSpPr txBox="1"/>
          <p:nvPr/>
        </p:nvSpPr>
        <p:spPr>
          <a:xfrm>
            <a:off x="673006" y="6510634"/>
            <a:ext cx="41656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noProof="0" dirty="0">
                <a:hlinkClick r:id="rId10"/>
              </a:rPr>
              <a:t>App available on Hugging Face Space </a:t>
            </a:r>
            <a:endParaRPr lang="en-US" sz="1000" noProof="0" dirty="0"/>
          </a:p>
        </p:txBody>
      </p:sp>
    </p:spTree>
    <p:extLst>
      <p:ext uri="{BB962C8B-B14F-4D97-AF65-F5344CB8AC3E}">
        <p14:creationId xmlns:p14="http://schemas.microsoft.com/office/powerpoint/2010/main" val="1184685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9E5E2-9011-21F9-D04E-74D2182BB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BD806CA0-4C30-EB78-6D8C-3402327B8F62}"/>
              </a:ext>
            </a:extLst>
          </p:cNvPr>
          <p:cNvSpPr txBox="1"/>
          <p:nvPr/>
        </p:nvSpPr>
        <p:spPr>
          <a:xfrm>
            <a:off x="919273" y="479097"/>
            <a:ext cx="10593599" cy="747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Insights &amp; Recommendations</a:t>
            </a:r>
          </a:p>
        </p:txBody>
      </p:sp>
      <p:sp>
        <p:nvSpPr>
          <p:cNvPr id="2" name="Graphic 61">
            <a:extLst>
              <a:ext uri="{FF2B5EF4-FFF2-40B4-BE49-F238E27FC236}">
                <a16:creationId xmlns:a16="http://schemas.microsoft.com/office/drawing/2014/main" id="{2AC910EE-AE70-0D81-08CA-0A7169BA4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4305D2-9C16-D542-E6A4-F0338F30C455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Insights &amp; Recommendations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091FF99D-C2BB-4658-AEE8-B67F9655BF45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3BE69F-627A-CE41-895F-8B7837996A7B}"/>
              </a:ext>
            </a:extLst>
          </p:cNvPr>
          <p:cNvSpPr/>
          <p:nvPr/>
        </p:nvSpPr>
        <p:spPr>
          <a:xfrm>
            <a:off x="1425115" y="2727208"/>
            <a:ext cx="4564205" cy="8879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9705"/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Evaluate the reason behind </a:t>
            </a:r>
            <a:r>
              <a:rPr lang="en-US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overtime</a:t>
            </a:r>
            <a:endParaRPr lang="en-US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D05F95-FDAD-7558-174F-F2BFF112F808}"/>
              </a:ext>
            </a:extLst>
          </p:cNvPr>
          <p:cNvSpPr/>
          <p:nvPr/>
        </p:nvSpPr>
        <p:spPr>
          <a:xfrm>
            <a:off x="6485508" y="2727208"/>
            <a:ext cx="4911466" cy="8879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Avoid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employees working overtime</a:t>
            </a:r>
            <a:endParaRPr lang="en-US" sz="16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Provide flexible work schedule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Dimension the team to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suppress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 overtime needs</a:t>
            </a:r>
          </a:p>
        </p:txBody>
      </p:sp>
      <p:sp>
        <p:nvSpPr>
          <p:cNvPr id="11" name="Half Frame 10">
            <a:extLst>
              <a:ext uri="{FF2B5EF4-FFF2-40B4-BE49-F238E27FC236}">
                <a16:creationId xmlns:a16="http://schemas.microsoft.com/office/drawing/2014/main" id="{A36EB9A5-04A8-BDED-ED64-C54095D8CD93}"/>
              </a:ext>
            </a:extLst>
          </p:cNvPr>
          <p:cNvSpPr/>
          <p:nvPr/>
        </p:nvSpPr>
        <p:spPr>
          <a:xfrm rot="7977296">
            <a:off x="5969491" y="2995814"/>
            <a:ext cx="365760" cy="333272"/>
          </a:xfrm>
          <a:prstGeom prst="halfFrame">
            <a:avLst/>
          </a:prstGeom>
          <a:solidFill>
            <a:srgbClr val="FFC000"/>
          </a:solidFill>
          <a:ln>
            <a:solidFill>
              <a:srgbClr val="FFC000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E0BC25-993B-43B5-27B6-CF07E347BA91}"/>
              </a:ext>
            </a:extLst>
          </p:cNvPr>
          <p:cNvSpPr/>
          <p:nvPr/>
        </p:nvSpPr>
        <p:spPr>
          <a:xfrm>
            <a:off x="1425115" y="3835895"/>
            <a:ext cx="4564205" cy="8879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9705"/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Turnover in </a:t>
            </a:r>
            <a:r>
              <a:rPr lang="en-US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younger </a:t>
            </a:r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and </a:t>
            </a: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</a:rPr>
              <a:t>entry-level</a:t>
            </a:r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 jobs</a:t>
            </a: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C7A1DB8-EA31-85A1-EF86-E06EFDEFDDEF}"/>
              </a:ext>
            </a:extLst>
          </p:cNvPr>
          <p:cNvSpPr/>
          <p:nvPr/>
        </p:nvSpPr>
        <p:spPr>
          <a:xfrm>
            <a:off x="6485508" y="3835895"/>
            <a:ext cx="4911466" cy="8879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Maintain young talent with competitive conditions (work conditions and compensation)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Promote training to accelerate career growth</a:t>
            </a:r>
          </a:p>
        </p:txBody>
      </p:sp>
      <p:sp>
        <p:nvSpPr>
          <p:cNvPr id="25" name="Half Frame 24">
            <a:extLst>
              <a:ext uri="{FF2B5EF4-FFF2-40B4-BE49-F238E27FC236}">
                <a16:creationId xmlns:a16="http://schemas.microsoft.com/office/drawing/2014/main" id="{640E86D8-388C-92A8-89D8-3ADB46475071}"/>
              </a:ext>
            </a:extLst>
          </p:cNvPr>
          <p:cNvSpPr/>
          <p:nvPr/>
        </p:nvSpPr>
        <p:spPr>
          <a:xfrm rot="7977296">
            <a:off x="5969491" y="4104501"/>
            <a:ext cx="365760" cy="333272"/>
          </a:xfrm>
          <a:prstGeom prst="halfFrame">
            <a:avLst/>
          </a:prstGeom>
          <a:solidFill>
            <a:srgbClr val="AD4F36"/>
          </a:solidFill>
          <a:ln>
            <a:solidFill>
              <a:srgbClr val="AD4F3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949D393-54B6-B7CD-D587-BFE725DA38D6}"/>
              </a:ext>
            </a:extLst>
          </p:cNvPr>
          <p:cNvSpPr/>
          <p:nvPr/>
        </p:nvSpPr>
        <p:spPr>
          <a:xfrm>
            <a:off x="1428925" y="4936985"/>
            <a:ext cx="4564205" cy="8879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9705"/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Review the need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for </a:t>
            </a:r>
            <a:r>
              <a:rPr lang="en-US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business </a:t>
            </a: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</a:rPr>
              <a:t>travel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0487593-514C-E93F-184E-6CE0F73DF507}"/>
              </a:ext>
            </a:extLst>
          </p:cNvPr>
          <p:cNvSpPr/>
          <p:nvPr/>
        </p:nvSpPr>
        <p:spPr>
          <a:xfrm>
            <a:off x="6489318" y="4936985"/>
            <a:ext cx="4907656" cy="101013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Avoid frequent travelling</a:t>
            </a:r>
            <a:endParaRPr lang="en-US" sz="16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Plan travel in advance (plan per semester)</a:t>
            </a:r>
          </a:p>
        </p:txBody>
      </p:sp>
      <p:sp>
        <p:nvSpPr>
          <p:cNvPr id="29" name="Half Frame 28">
            <a:extLst>
              <a:ext uri="{FF2B5EF4-FFF2-40B4-BE49-F238E27FC236}">
                <a16:creationId xmlns:a16="http://schemas.microsoft.com/office/drawing/2014/main" id="{58059BB4-E074-1DC3-8376-295CDB16CEAE}"/>
              </a:ext>
            </a:extLst>
          </p:cNvPr>
          <p:cNvSpPr/>
          <p:nvPr/>
        </p:nvSpPr>
        <p:spPr>
          <a:xfrm rot="7977296">
            <a:off x="5973301" y="5205591"/>
            <a:ext cx="365760" cy="333272"/>
          </a:xfrm>
          <a:prstGeom prst="halfFrame">
            <a:avLst/>
          </a:prstGeom>
          <a:solidFill>
            <a:srgbClr val="254B66"/>
          </a:solidFill>
          <a:ln>
            <a:solidFill>
              <a:srgbClr val="254B6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A7A64CE-355F-1E1B-6DCC-A168EF673FBE}"/>
              </a:ext>
            </a:extLst>
          </p:cNvPr>
          <p:cNvGrpSpPr/>
          <p:nvPr/>
        </p:nvGrpSpPr>
        <p:grpSpPr>
          <a:xfrm>
            <a:off x="693520" y="3835729"/>
            <a:ext cx="822014" cy="822739"/>
            <a:chOff x="1525345" y="2355158"/>
            <a:chExt cx="1008000" cy="1008000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5AE30B93-0C5A-DD25-7321-9E9D2817C73A}"/>
                </a:ext>
              </a:extLst>
            </p:cNvPr>
            <p:cNvSpPr/>
            <p:nvPr/>
          </p:nvSpPr>
          <p:spPr>
            <a:xfrm>
              <a:off x="1525345" y="2355158"/>
              <a:ext cx="1008000" cy="1008000"/>
            </a:xfrm>
            <a:prstGeom prst="ellipse">
              <a:avLst/>
            </a:prstGeom>
            <a:solidFill>
              <a:srgbClr val="AD4F36"/>
            </a:solidFill>
            <a:ln>
              <a:solidFill>
                <a:srgbClr val="AD4F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145D03A-282A-B183-6762-D43D3FBDF7E6}"/>
                </a:ext>
              </a:extLst>
            </p:cNvPr>
            <p:cNvSpPr/>
            <p:nvPr/>
          </p:nvSpPr>
          <p:spPr>
            <a:xfrm>
              <a:off x="1579345" y="2409158"/>
              <a:ext cx="900000" cy="900000"/>
            </a:xfrm>
            <a:prstGeom prst="ellipse">
              <a:avLst/>
            </a:prstGeom>
            <a:ln>
              <a:solidFill>
                <a:srgbClr val="AD4F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FA44278-E9C6-F38D-2EF7-8F2F459612E7}"/>
              </a:ext>
            </a:extLst>
          </p:cNvPr>
          <p:cNvGrpSpPr/>
          <p:nvPr/>
        </p:nvGrpSpPr>
        <p:grpSpPr>
          <a:xfrm>
            <a:off x="693520" y="4960857"/>
            <a:ext cx="822014" cy="822739"/>
            <a:chOff x="1525345" y="2355158"/>
            <a:chExt cx="1008000" cy="1008000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FF34C7D-653E-D8D9-C4EC-9D488A2C6A8F}"/>
                </a:ext>
              </a:extLst>
            </p:cNvPr>
            <p:cNvSpPr/>
            <p:nvPr/>
          </p:nvSpPr>
          <p:spPr>
            <a:xfrm>
              <a:off x="1525345" y="2355158"/>
              <a:ext cx="1008000" cy="1008000"/>
            </a:xfrm>
            <a:prstGeom prst="ellipse">
              <a:avLst/>
            </a:prstGeom>
            <a:solidFill>
              <a:srgbClr val="254B66"/>
            </a:solidFill>
            <a:ln>
              <a:solidFill>
                <a:srgbClr val="254B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0E6F07D-A0CF-9B7A-C649-AB2A4A8DC6A2}"/>
                </a:ext>
              </a:extLst>
            </p:cNvPr>
            <p:cNvSpPr/>
            <p:nvPr/>
          </p:nvSpPr>
          <p:spPr>
            <a:xfrm>
              <a:off x="1579345" y="2409158"/>
              <a:ext cx="900000" cy="900000"/>
            </a:xfrm>
            <a:prstGeom prst="ellipse">
              <a:avLst/>
            </a:prstGeom>
            <a:ln>
              <a:solidFill>
                <a:srgbClr val="254B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135F12D-0952-9F4B-583A-52B47B9DDBA4}"/>
              </a:ext>
            </a:extLst>
          </p:cNvPr>
          <p:cNvGrpSpPr/>
          <p:nvPr/>
        </p:nvGrpSpPr>
        <p:grpSpPr>
          <a:xfrm>
            <a:off x="737557" y="2795156"/>
            <a:ext cx="733940" cy="734588"/>
            <a:chOff x="737557" y="2243252"/>
            <a:chExt cx="733940" cy="734588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C6F72FF3-E36D-ED3D-3A42-B6F0BDEBFF2B}"/>
                </a:ext>
              </a:extLst>
            </p:cNvPr>
            <p:cNvGrpSpPr/>
            <p:nvPr/>
          </p:nvGrpSpPr>
          <p:grpSpPr>
            <a:xfrm>
              <a:off x="737557" y="2243252"/>
              <a:ext cx="733940" cy="734588"/>
              <a:chOff x="1525345" y="2355158"/>
              <a:chExt cx="1008000" cy="100800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50D4BD6C-D7B2-088D-7BB4-F1C90DB1BE8F}"/>
                  </a:ext>
                </a:extLst>
              </p:cNvPr>
              <p:cNvSpPr/>
              <p:nvPr/>
            </p:nvSpPr>
            <p:spPr>
              <a:xfrm>
                <a:off x="1525345" y="2355158"/>
                <a:ext cx="1008000" cy="1008000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4636B416-5ED9-14F3-23CF-A275A306246B}"/>
                  </a:ext>
                </a:extLst>
              </p:cNvPr>
              <p:cNvSpPr/>
              <p:nvPr/>
            </p:nvSpPr>
            <p:spPr>
              <a:xfrm>
                <a:off x="1579345" y="2409158"/>
                <a:ext cx="900000" cy="900000"/>
              </a:xfrm>
              <a:prstGeom prst="ellipse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10" name="Graphic 9" descr="Clock outline">
              <a:extLst>
                <a:ext uri="{FF2B5EF4-FFF2-40B4-BE49-F238E27FC236}">
                  <a16:creationId xmlns:a16="http://schemas.microsoft.com/office/drawing/2014/main" id="{698C2979-3F7D-02A1-EE8C-DA2DC5D1F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5026" y="2309772"/>
              <a:ext cx="619000" cy="619000"/>
            </a:xfrm>
            <a:prstGeom prst="rect">
              <a:avLst/>
            </a:prstGeom>
          </p:spPr>
        </p:pic>
      </p:grpSp>
      <p:pic>
        <p:nvPicPr>
          <p:cNvPr id="51" name="Graphic 50" descr="Airplane with solid fill">
            <a:extLst>
              <a:ext uri="{FF2B5EF4-FFF2-40B4-BE49-F238E27FC236}">
                <a16:creationId xmlns:a16="http://schemas.microsoft.com/office/drawing/2014/main" id="{061FB496-2B07-9A78-29CE-E4AFEDB243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224" y="5076918"/>
            <a:ext cx="600130" cy="600130"/>
          </a:xfrm>
          <a:prstGeom prst="rect">
            <a:avLst/>
          </a:prstGeom>
        </p:spPr>
      </p:pic>
      <p:pic>
        <p:nvPicPr>
          <p:cNvPr id="53" name="Graphic 52" descr="Exponential Graph with solid fill">
            <a:extLst>
              <a:ext uri="{FF2B5EF4-FFF2-40B4-BE49-F238E27FC236}">
                <a16:creationId xmlns:a16="http://schemas.microsoft.com/office/drawing/2014/main" id="{1A86CB27-4FD4-DCD2-E65F-B9973182AE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2478" y="4012308"/>
            <a:ext cx="517169" cy="5171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3FD2CC-1C4D-779A-A7C9-1691A0741CFB}"/>
              </a:ext>
            </a:extLst>
          </p:cNvPr>
          <p:cNvSpPr txBox="1"/>
          <p:nvPr/>
        </p:nvSpPr>
        <p:spPr>
          <a:xfrm>
            <a:off x="913520" y="1329442"/>
            <a:ext cx="103592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Avoiding attrition requires intervention in overtime, work conditions and business travel</a:t>
            </a:r>
            <a:endParaRPr lang="en-US" sz="20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347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BC2C-C4C5-3DE7-A569-DA79BE004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7025BF5-C50D-6163-D944-5DE5BBD87209}"/>
              </a:ext>
            </a:extLst>
          </p:cNvPr>
          <p:cNvSpPr/>
          <p:nvPr/>
        </p:nvSpPr>
        <p:spPr>
          <a:xfrm>
            <a:off x="776875" y="3801124"/>
            <a:ext cx="3492000" cy="29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79705" algn="ctr"/>
            <a:r>
              <a:rPr lang="en-US" b="1" noProof="0">
                <a:solidFill>
                  <a:schemeClr val="accent6">
                    <a:lumMod val="75000"/>
                  </a:schemeClr>
                </a:solidFill>
              </a:rPr>
              <a:t>Career path &amp; Development</a:t>
            </a:r>
            <a:endParaRPr lang="en-US">
              <a:solidFill>
                <a:schemeClr val="accent6">
                  <a:lumMod val="75000"/>
                </a:schemeClr>
              </a:solidFill>
            </a:endParaRPr>
          </a:p>
          <a:p>
            <a:pPr marL="179705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9705"/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Create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 a transparent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career path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with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achievable metrics and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targets for promotion</a:t>
            </a:r>
            <a:br>
              <a:rPr lang="en-US" sz="1600" b="1"/>
            </a:br>
            <a:br>
              <a:rPr lang="en-US" sz="1600"/>
            </a:b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Promote specialization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to prevent ta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lent generalists from feeling professionally stagnant </a:t>
            </a:r>
            <a:endParaRPr lang="en-US" sz="16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F8760F-8EF3-FAE7-D8A4-BDC8AFE554C9}"/>
              </a:ext>
            </a:extLst>
          </p:cNvPr>
          <p:cNvSpPr txBox="1"/>
          <p:nvPr/>
        </p:nvSpPr>
        <p:spPr>
          <a:xfrm>
            <a:off x="919273" y="479097"/>
            <a:ext cx="10593599" cy="747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Insights &amp; Recommendations</a:t>
            </a:r>
          </a:p>
        </p:txBody>
      </p:sp>
      <p:sp>
        <p:nvSpPr>
          <p:cNvPr id="2" name="Graphic 61">
            <a:extLst>
              <a:ext uri="{FF2B5EF4-FFF2-40B4-BE49-F238E27FC236}">
                <a16:creationId xmlns:a16="http://schemas.microsoft.com/office/drawing/2014/main" id="{CFC7046C-AA62-482D-A2D4-5DA82E69A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EE3D98-C920-3141-3951-AB2E5A8F3257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Insights &amp; Recommendations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FCE0B32F-478B-FE14-1D18-51F2B9801CB2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035261-2503-8854-B353-B437BEB526CE}"/>
              </a:ext>
            </a:extLst>
          </p:cNvPr>
          <p:cNvSpPr/>
          <p:nvPr/>
        </p:nvSpPr>
        <p:spPr>
          <a:xfrm>
            <a:off x="1425114" y="2336577"/>
            <a:ext cx="10087757" cy="8879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9705"/>
            <a:r>
              <a:rPr lang="en-US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Sales </a:t>
            </a:r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and </a:t>
            </a:r>
            <a:r>
              <a:rPr lang="en-US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Human Resources</a:t>
            </a:r>
            <a:r>
              <a:rPr lang="en-US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 department with higher attrition levels in lower job roles</a:t>
            </a: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2B07912-8286-8A6C-7D63-7FFE93DB35A5}"/>
              </a:ext>
            </a:extLst>
          </p:cNvPr>
          <p:cNvGrpSpPr/>
          <p:nvPr/>
        </p:nvGrpSpPr>
        <p:grpSpPr>
          <a:xfrm>
            <a:off x="737557" y="2403272"/>
            <a:ext cx="733940" cy="734588"/>
            <a:chOff x="737557" y="2243252"/>
            <a:chExt cx="733940" cy="734588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F23BA26-68CA-02B9-C0D5-05A43C70848F}"/>
                </a:ext>
              </a:extLst>
            </p:cNvPr>
            <p:cNvGrpSpPr/>
            <p:nvPr/>
          </p:nvGrpSpPr>
          <p:grpSpPr>
            <a:xfrm>
              <a:off x="737557" y="2243252"/>
              <a:ext cx="733940" cy="734588"/>
              <a:chOff x="1525345" y="2355158"/>
              <a:chExt cx="1008000" cy="100800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9D858014-9E09-D576-2EA5-2B5BDCF76445}"/>
                  </a:ext>
                </a:extLst>
              </p:cNvPr>
              <p:cNvSpPr/>
              <p:nvPr/>
            </p:nvSpPr>
            <p:spPr>
              <a:xfrm>
                <a:off x="1525345" y="2355158"/>
                <a:ext cx="1008000" cy="1008000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34573C4D-1BB3-BE20-661C-8FA667605244}"/>
                  </a:ext>
                </a:extLst>
              </p:cNvPr>
              <p:cNvSpPr/>
              <p:nvPr/>
            </p:nvSpPr>
            <p:spPr>
              <a:xfrm>
                <a:off x="1579345" y="2409158"/>
                <a:ext cx="900000" cy="900000"/>
              </a:xfrm>
              <a:prstGeom prst="ellipse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10" name="Graphic 9" descr="Clock outline">
              <a:extLst>
                <a:ext uri="{FF2B5EF4-FFF2-40B4-BE49-F238E27FC236}">
                  <a16:creationId xmlns:a16="http://schemas.microsoft.com/office/drawing/2014/main" id="{08150B2E-94A5-DB9C-2A22-58441DA44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5026" y="2309772"/>
              <a:ext cx="619000" cy="619000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16DAC9E-0932-A3C4-4FC6-8527600A0AF7}"/>
              </a:ext>
            </a:extLst>
          </p:cNvPr>
          <p:cNvGrpSpPr/>
          <p:nvPr/>
        </p:nvGrpSpPr>
        <p:grpSpPr>
          <a:xfrm>
            <a:off x="693520" y="2379011"/>
            <a:ext cx="822014" cy="822739"/>
            <a:chOff x="693520" y="3324303"/>
            <a:chExt cx="822014" cy="822739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6235170-5446-068A-BF8C-9ED5A4808692}"/>
                </a:ext>
              </a:extLst>
            </p:cNvPr>
            <p:cNvGrpSpPr/>
            <p:nvPr/>
          </p:nvGrpSpPr>
          <p:grpSpPr>
            <a:xfrm>
              <a:off x="693520" y="3324303"/>
              <a:ext cx="822014" cy="822739"/>
              <a:chOff x="1525345" y="2355158"/>
              <a:chExt cx="1008000" cy="1008000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1CA835FF-6012-D540-C060-D283766BD439}"/>
                  </a:ext>
                </a:extLst>
              </p:cNvPr>
              <p:cNvSpPr/>
              <p:nvPr/>
            </p:nvSpPr>
            <p:spPr>
              <a:xfrm>
                <a:off x="1525345" y="2355158"/>
                <a:ext cx="1008000" cy="1008000"/>
              </a:xfrm>
              <a:prstGeom prst="ellipse">
                <a:avLst/>
              </a:prstGeom>
              <a:solidFill>
                <a:srgbClr val="5F5B37"/>
              </a:solidFill>
              <a:ln>
                <a:solidFill>
                  <a:srgbClr val="5F5B3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C3BC8EFB-CA09-2F01-CFE4-3D5A518D11B0}"/>
                  </a:ext>
                </a:extLst>
              </p:cNvPr>
              <p:cNvSpPr/>
              <p:nvPr/>
            </p:nvSpPr>
            <p:spPr>
              <a:xfrm>
                <a:off x="1579345" y="2409158"/>
                <a:ext cx="900000" cy="900000"/>
              </a:xfrm>
              <a:prstGeom prst="ellipse">
                <a:avLst/>
              </a:prstGeom>
              <a:ln>
                <a:solidFill>
                  <a:srgbClr val="5F5B3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</p:grpSp>
        <p:pic>
          <p:nvPicPr>
            <p:cNvPr id="21" name="Graphic 20" descr="Aspiration with solid fill">
              <a:extLst>
                <a:ext uri="{FF2B5EF4-FFF2-40B4-BE49-F238E27FC236}">
                  <a16:creationId xmlns:a16="http://schemas.microsoft.com/office/drawing/2014/main" id="{E93265DD-55BF-81F6-7DB7-2BBB21200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59587" y="3518773"/>
              <a:ext cx="466359" cy="466359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D3E3CE8-E528-0F16-0013-F9B6B61550CD}"/>
              </a:ext>
            </a:extLst>
          </p:cNvPr>
          <p:cNvSpPr txBox="1"/>
          <p:nvPr/>
        </p:nvSpPr>
        <p:spPr>
          <a:xfrm>
            <a:off x="913520" y="1329442"/>
            <a:ext cx="103592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Avoiding attrition requires intervention in overtime, work conditions and business travel</a:t>
            </a:r>
            <a:endParaRPr lang="en-US" sz="20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Graphic 16" descr="Linear Graph with solid fill">
            <a:extLst>
              <a:ext uri="{FF2B5EF4-FFF2-40B4-BE49-F238E27FC236}">
                <a16:creationId xmlns:a16="http://schemas.microsoft.com/office/drawing/2014/main" id="{3A911046-5295-4317-5B86-55B93B2B0A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53809" y="3490414"/>
            <a:ext cx="338132" cy="33813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7FEC3B1-54D8-0113-FB0B-DAA7AFC6A9A8}"/>
              </a:ext>
            </a:extLst>
          </p:cNvPr>
          <p:cNvSpPr/>
          <p:nvPr/>
        </p:nvSpPr>
        <p:spPr>
          <a:xfrm>
            <a:off x="7918586" y="3801124"/>
            <a:ext cx="3600000" cy="29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79705" algn="ctr"/>
            <a:r>
              <a:rPr lang="en-US" b="1" noProof="0">
                <a:solidFill>
                  <a:schemeClr val="accent6">
                    <a:lumMod val="75000"/>
                  </a:schemeClr>
                </a:solidFill>
              </a:rPr>
              <a:t>Workload, Wellbeing &amp; </a:t>
            </a:r>
            <a:r>
              <a:rPr lang="en-US" b="1">
                <a:solidFill>
                  <a:schemeClr val="accent6">
                    <a:lumMod val="75000"/>
                  </a:schemeClr>
                </a:solidFill>
              </a:rPr>
              <a:t>Time Management</a:t>
            </a:r>
            <a:endParaRPr lang="en-US">
              <a:solidFill>
                <a:schemeClr val="accent6">
                  <a:lumMod val="75000"/>
                </a:schemeClr>
              </a:solidFill>
            </a:endParaRPr>
          </a:p>
          <a:p>
            <a:pPr marL="179705"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9705"/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- Enforce work-life balance to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prevent burnout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and train managers to recognize the signs and actively manage burnout signals</a:t>
            </a:r>
            <a:br>
              <a:rPr lang="en-US" sz="1600"/>
            </a:br>
            <a:endParaRPr lang="en-US" sz="16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9705"/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- Offer easily accessible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mental health resources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, as the Sales and HR roles deal with constant pressure</a:t>
            </a:r>
            <a:endParaRPr lang="en-US" sz="160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9705"/>
            <a:endParaRPr lang="en-US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 descr="Buddha Silhouette with solid fill">
            <a:extLst>
              <a:ext uri="{FF2B5EF4-FFF2-40B4-BE49-F238E27FC236}">
                <a16:creationId xmlns:a16="http://schemas.microsoft.com/office/drawing/2014/main" id="{B306AC60-C735-EC58-A962-CD98688125C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63202" y="3494048"/>
            <a:ext cx="330864" cy="3308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7A32F89-A9E1-8CFB-B954-8D650A67EC06}"/>
              </a:ext>
            </a:extLst>
          </p:cNvPr>
          <p:cNvSpPr/>
          <p:nvPr/>
        </p:nvSpPr>
        <p:spPr>
          <a:xfrm>
            <a:off x="4347730" y="3801124"/>
            <a:ext cx="3492000" cy="29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0000" algn="ctr"/>
            <a:r>
              <a:rPr lang="en-US" b="1" noProof="0">
                <a:solidFill>
                  <a:schemeClr val="accent6">
                    <a:lumMod val="75000"/>
                  </a:schemeClr>
                </a:solidFill>
              </a:rPr>
              <a:t>Compensation, Recognition &amp; Role Clarity</a:t>
            </a:r>
          </a:p>
          <a:p>
            <a:pPr marL="180000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80000"/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Quarterly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career development 1:1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meeting to discuss long term goals, training needs and internal opportunities –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demonstrate investment in their feature</a:t>
            </a:r>
          </a:p>
        </p:txBody>
      </p:sp>
      <p:pic>
        <p:nvPicPr>
          <p:cNvPr id="26" name="Graphic 25" descr="Piggy Bank with solid fill">
            <a:extLst>
              <a:ext uri="{FF2B5EF4-FFF2-40B4-BE49-F238E27FC236}">
                <a16:creationId xmlns:a16="http://schemas.microsoft.com/office/drawing/2014/main" id="{64DB01FA-1E6D-DC71-CC4F-B961424917B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27044" y="3492794"/>
            <a:ext cx="333373" cy="333373"/>
          </a:xfrm>
          <a:prstGeom prst="rect">
            <a:avLst/>
          </a:prstGeom>
        </p:spPr>
      </p:pic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E0367DCA-BAE2-442E-2D33-126D620092FD}"/>
              </a:ext>
            </a:extLst>
          </p:cNvPr>
          <p:cNvSpPr/>
          <p:nvPr/>
        </p:nvSpPr>
        <p:spPr>
          <a:xfrm flipV="1">
            <a:off x="2303059" y="3137860"/>
            <a:ext cx="439633" cy="265902"/>
          </a:xfrm>
          <a:prstGeom prst="triangle">
            <a:avLst/>
          </a:prstGeom>
          <a:solidFill>
            <a:srgbClr val="5F5B37"/>
          </a:solidFill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6246FCF2-9062-BDB2-8787-BDEC25FC001A}"/>
              </a:ext>
            </a:extLst>
          </p:cNvPr>
          <p:cNvSpPr/>
          <p:nvPr/>
        </p:nvSpPr>
        <p:spPr>
          <a:xfrm flipV="1">
            <a:off x="5902731" y="3163098"/>
            <a:ext cx="439633" cy="265902"/>
          </a:xfrm>
          <a:prstGeom prst="triangle">
            <a:avLst/>
          </a:prstGeom>
          <a:solidFill>
            <a:srgbClr val="5F5B37"/>
          </a:solidFill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1EA4729-01EB-F9CC-F746-CBD71BB59BC5}"/>
              </a:ext>
            </a:extLst>
          </p:cNvPr>
          <p:cNvSpPr/>
          <p:nvPr/>
        </p:nvSpPr>
        <p:spPr>
          <a:xfrm>
            <a:off x="4376547" y="3801124"/>
            <a:ext cx="3492000" cy="29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79705" algn="ctr"/>
            <a:r>
              <a:rPr lang="en-US" b="1" noProof="0">
                <a:solidFill>
                  <a:schemeClr val="accent6">
                    <a:lumMod val="75000"/>
                  </a:schemeClr>
                </a:solidFill>
              </a:rPr>
              <a:t>Compensation, </a:t>
            </a:r>
            <a:r>
              <a:rPr lang="en-US" b="1">
                <a:solidFill>
                  <a:schemeClr val="accent6">
                    <a:lumMod val="75000"/>
                  </a:schemeClr>
                </a:solidFill>
              </a:rPr>
              <a:t>Training, Recognition</a:t>
            </a:r>
            <a:r>
              <a:rPr lang="en-US" b="1" noProof="0">
                <a:solidFill>
                  <a:schemeClr val="accent6">
                    <a:lumMod val="75000"/>
                  </a:schemeClr>
                </a:solidFill>
              </a:rPr>
              <a:t> &amp; Role Clarity</a:t>
            </a:r>
            <a:endParaRPr lang="en-US">
              <a:solidFill>
                <a:schemeClr val="accent6">
                  <a:lumMod val="75000"/>
                </a:schemeClr>
              </a:solidFill>
            </a:endParaRPr>
          </a:p>
          <a:p>
            <a:pPr marL="179705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9705"/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Quarterly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career development 1:1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meeting to discuss long term goals, training needs and internal opportunities –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demonstrate investment in their future</a:t>
            </a:r>
          </a:p>
        </p:txBody>
      </p:sp>
      <p:pic>
        <p:nvPicPr>
          <p:cNvPr id="52" name="Graphic 51" descr="Piggy Bank with solid fill">
            <a:extLst>
              <a:ext uri="{FF2B5EF4-FFF2-40B4-BE49-F238E27FC236}">
                <a16:creationId xmlns:a16="http://schemas.microsoft.com/office/drawing/2014/main" id="{A9909844-C84F-7767-72D5-B3BEE93D42A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75957" y="3492794"/>
            <a:ext cx="333373" cy="333373"/>
          </a:xfrm>
          <a:prstGeom prst="rect">
            <a:avLst/>
          </a:prstGeom>
        </p:spPr>
      </p:pic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9E370548-FED5-2FE3-EB9E-1387A22549C8}"/>
              </a:ext>
            </a:extLst>
          </p:cNvPr>
          <p:cNvSpPr/>
          <p:nvPr/>
        </p:nvSpPr>
        <p:spPr>
          <a:xfrm flipV="1">
            <a:off x="9498770" y="3145279"/>
            <a:ext cx="439633" cy="265902"/>
          </a:xfrm>
          <a:prstGeom prst="triangle">
            <a:avLst/>
          </a:prstGeom>
          <a:solidFill>
            <a:srgbClr val="5F5B37"/>
          </a:solidFill>
          <a:ln>
            <a:solidFill>
              <a:srgbClr val="5F5B37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59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71F96-34B5-7CE1-2011-6AC1DE8B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E8FCD5DC-8510-BE87-6E0B-4563C6EF63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05AA7C-6906-3352-6CE2-0E7B08B192D7}"/>
              </a:ext>
            </a:extLst>
          </p:cNvPr>
          <p:cNvSpPr txBox="1"/>
          <p:nvPr/>
        </p:nvSpPr>
        <p:spPr>
          <a:xfrm>
            <a:off x="919273" y="479097"/>
            <a:ext cx="9185819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Insights &amp; Recommendations, </a:t>
            </a:r>
            <a:r>
              <a:rPr lang="en-US" sz="2800" b="1" noProof="0">
                <a:solidFill>
                  <a:srgbClr val="AD4F36"/>
                </a:solidFill>
              </a:rPr>
              <a:t>the final message </a:t>
            </a:r>
            <a:endParaRPr lang="en-US" sz="3200" b="1" noProof="0">
              <a:solidFill>
                <a:srgbClr val="AD4F36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People need to be cared for, like plants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710DD1-0CEC-261F-1DA0-D5EFB2201434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Insights &amp; Recommendations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4E1669F3-C0F9-D269-0E99-5DEC28A04549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32E426-3A4D-25BC-854C-F5CB15D1008E}"/>
              </a:ext>
            </a:extLst>
          </p:cNvPr>
          <p:cNvSpPr/>
          <p:nvPr/>
        </p:nvSpPr>
        <p:spPr>
          <a:xfrm>
            <a:off x="11242307" y="2273079"/>
            <a:ext cx="847024" cy="5471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A30D32-F69D-37E9-F601-6BC369B384AF}"/>
              </a:ext>
            </a:extLst>
          </p:cNvPr>
          <p:cNvSpPr/>
          <p:nvPr/>
        </p:nvSpPr>
        <p:spPr>
          <a:xfrm>
            <a:off x="6286151" y="2081079"/>
            <a:ext cx="5144452" cy="7852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noProof="0">
                <a:solidFill>
                  <a:schemeClr val="tx1"/>
                </a:solidFill>
              </a:rPr>
              <a:t>Plants stay in the same place during their lifetime.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F9B4A2-963B-8D8C-726E-77FE59FEE0FA}"/>
              </a:ext>
            </a:extLst>
          </p:cNvPr>
          <p:cNvSpPr txBox="1"/>
          <p:nvPr/>
        </p:nvSpPr>
        <p:spPr>
          <a:xfrm>
            <a:off x="0" y="6595272"/>
            <a:ext cx="1142879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>
                <a:solidFill>
                  <a:schemeClr val="tx1">
                    <a:lumMod val="65000"/>
                    <a:lumOff val="35000"/>
                  </a:schemeClr>
                </a:solidFill>
              </a:rPr>
              <a:t>Source: </a:t>
            </a:r>
            <a:r>
              <a:rPr lang="en-US" sz="1000" u="sng">
                <a:solidFill>
                  <a:schemeClr val="tx1">
                    <a:lumMod val="65000"/>
                    <a:lumOff val="3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https://www.linkedin.com/posts/parag-abhonkar-55a3b173_growthmindset</a:t>
            </a:r>
            <a:r>
              <a:rPr lang="en-US" sz="1000" u="sng">
                <a:solidFill>
                  <a:schemeClr val="tx1">
                    <a:lumMod val="65000"/>
                    <a:lumOff val="35000"/>
                  </a:schemeClr>
                </a:solidFill>
              </a:rPr>
              <a:t>-organizationalculture-employeedevelopment-activity-7333572838714462210-c0bP</a:t>
            </a:r>
            <a:r>
              <a:rPr lang="en-US" sz="100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</a:p>
        </p:txBody>
      </p:sp>
      <p:pic>
        <p:nvPicPr>
          <p:cNvPr id="3" name="Picture 2" descr="A diagram of a plant&#10;&#10;AI-generated content may be incorrect.">
            <a:extLst>
              <a:ext uri="{FF2B5EF4-FFF2-40B4-BE49-F238E27FC236}">
                <a16:creationId xmlns:a16="http://schemas.microsoft.com/office/drawing/2014/main" id="{DA86434E-CF36-3CDD-F198-898312376E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90" b="3749"/>
          <a:stretch>
            <a:fillRect/>
          </a:stretch>
        </p:blipFill>
        <p:spPr bwMode="auto">
          <a:xfrm>
            <a:off x="2623077" y="2130385"/>
            <a:ext cx="3229675" cy="39996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33199C2-7DBB-F973-9941-60673F8BD96E}"/>
              </a:ext>
            </a:extLst>
          </p:cNvPr>
          <p:cNvSpPr txBox="1"/>
          <p:nvPr/>
        </p:nvSpPr>
        <p:spPr>
          <a:xfrm>
            <a:off x="6339250" y="5320294"/>
            <a:ext cx="42385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noProof="0">
                <a:solidFill>
                  <a:schemeClr val="tx1"/>
                </a:solidFill>
              </a:rPr>
              <a:t>A well-cared person will do the same</a:t>
            </a:r>
            <a:r>
              <a:rPr lang="en-US" sz="1400" noProof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88080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cap="none" noProof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0732E-EC8C-2298-4240-710C5F9BA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AB9740DA-85D0-44DA-D64E-1A1B30B4F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247" y="734861"/>
            <a:ext cx="8421688" cy="1325563"/>
          </a:xfrm>
        </p:spPr>
        <p:txBody>
          <a:bodyPr>
            <a:normAutofit/>
          </a:bodyPr>
          <a:lstStyle/>
          <a:p>
            <a:pPr algn="l"/>
            <a:r>
              <a:rPr lang="en-US" sz="3600" b="1" cap="none" noProof="0">
                <a:solidFill>
                  <a:srgbClr val="AD4F36"/>
                </a:solidFill>
              </a:rPr>
              <a:t>Appendix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393561-95DD-F47E-408F-457F00B180C1}"/>
              </a:ext>
            </a:extLst>
          </p:cNvPr>
          <p:cNvSpPr txBox="1"/>
          <p:nvPr/>
        </p:nvSpPr>
        <p:spPr>
          <a:xfrm>
            <a:off x="1142999" y="2379546"/>
            <a:ext cx="941684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following slides have more details about the sections presented before. The correspondent chapters are identified in the right upper corner.</a:t>
            </a:r>
          </a:p>
          <a:p>
            <a:endParaRPr lang="en-US" dirty="0"/>
          </a:p>
          <a:p>
            <a:r>
              <a:rPr lang="en-US" dirty="0"/>
              <a:t>The public repository on GitHub: https://github.com/filipe-carmo/EDSB25_10</a:t>
            </a:r>
          </a:p>
          <a:p>
            <a:endParaRPr lang="en-US" dirty="0"/>
          </a:p>
          <a:p>
            <a:r>
              <a:rPr lang="en-US" dirty="0"/>
              <a:t>The interactive visualizations are available in the Fabric workspace </a:t>
            </a:r>
            <a:r>
              <a:rPr lang="en-US" i="1" dirty="0"/>
              <a:t>EDSB25_10, </a:t>
            </a:r>
            <a:r>
              <a:rPr lang="en-US" dirty="0"/>
              <a:t>though the following link:</a:t>
            </a:r>
            <a:endParaRPr lang="en-US" i="1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https://app.fabric.microsoft.com/links/xDPaVlbiSz?ctid=e4bd69ff-e6f7-4c2e-b247-41b54ba2490e&amp;pbi_source=linkShare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app for Employee Attrition is available at: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https://huggingface.co/spaces/filipe-carmo/hr-attrition-prediction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276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095C7E6-BACC-F1FD-CE14-B8600A65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C5FA874C-06FA-BEDE-2866-3D0192F02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F97D44-5DF5-CF2C-DCE8-248161ED17B9}"/>
              </a:ext>
            </a:extLst>
          </p:cNvPr>
          <p:cNvSpPr txBox="1"/>
          <p:nvPr/>
        </p:nvSpPr>
        <p:spPr>
          <a:xfrm>
            <a:off x="921624" y="488722"/>
            <a:ext cx="10092191" cy="13207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rgbClr val="AD4F36"/>
                </a:solidFill>
              </a:rPr>
              <a:t>More details on Job</a:t>
            </a:r>
            <a:r>
              <a:rPr lang="en-US" sz="3200" b="1" noProof="0" dirty="0">
                <a:solidFill>
                  <a:srgbClr val="AD4F36"/>
                </a:solidFill>
              </a:rPr>
              <a:t> characteristics</a:t>
            </a:r>
            <a:br>
              <a:rPr lang="en-US" sz="3200" b="1" noProof="0" dirty="0"/>
            </a:br>
            <a:r>
              <a:rPr lang="en-US" sz="2400" b="1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/>
              </a:rPr>
              <a:t>Overtime, work life balance and satisfaction as crucial for attrition </a:t>
            </a:r>
            <a:endParaRPr lang="en-US" sz="2400" noProof="0" dirty="0">
              <a:solidFill>
                <a:schemeClr val="tx1">
                  <a:lumMod val="75000"/>
                  <a:lumOff val="25000"/>
                </a:schemeClr>
              </a:solidFill>
              <a:latin typeface="Century Gothic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F4833A-FE60-5246-2EB0-892A02E5BA7D}"/>
              </a:ext>
            </a:extLst>
          </p:cNvPr>
          <p:cNvSpPr txBox="1"/>
          <p:nvPr/>
        </p:nvSpPr>
        <p:spPr>
          <a:xfrm>
            <a:off x="416248" y="139617"/>
            <a:ext cx="22998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Exploratory Data Analysis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F4C0607-24AC-C6B8-656D-88D8B9BBAEB5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AF23CC3-F27C-7019-9B55-A5F5A5C0989E}"/>
              </a:ext>
            </a:extLst>
          </p:cNvPr>
          <p:cNvGrpSpPr/>
          <p:nvPr/>
        </p:nvGrpSpPr>
        <p:grpSpPr>
          <a:xfrm>
            <a:off x="110836" y="1033285"/>
            <a:ext cx="435600" cy="435600"/>
            <a:chOff x="4481413" y="2507558"/>
            <a:chExt cx="1008000" cy="1008000"/>
          </a:xfrm>
        </p:grpSpPr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9ECC16C-D396-9DC5-A31D-135FB7D703FF}"/>
                </a:ext>
              </a:extLst>
            </p:cNvPr>
            <p:cNvSpPr/>
            <p:nvPr/>
          </p:nvSpPr>
          <p:spPr>
            <a:xfrm>
              <a:off x="4481413" y="2507558"/>
              <a:ext cx="1008000" cy="100800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2CEF6336-643F-8FA5-A179-D7DE88D5D676}"/>
                </a:ext>
              </a:extLst>
            </p:cNvPr>
            <p:cNvSpPr/>
            <p:nvPr/>
          </p:nvSpPr>
          <p:spPr>
            <a:xfrm>
              <a:off x="4535413" y="2561558"/>
              <a:ext cx="900000" cy="90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p:pic>
          <p:nvPicPr>
            <p:cNvPr id="80" name="Graphic 79" descr="Briefcase with solid fill">
              <a:extLst>
                <a:ext uri="{FF2B5EF4-FFF2-40B4-BE49-F238E27FC236}">
                  <a16:creationId xmlns:a16="http://schemas.microsoft.com/office/drawing/2014/main" id="{197E68EC-A28C-A361-390B-66000B78F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00450" y="2726595"/>
              <a:ext cx="569926" cy="569926"/>
            </a:xfrm>
            <a:prstGeom prst="rect">
              <a:avLst/>
            </a:prstGeom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</p:pic>
      </p:grp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B168D5D-028E-49B8-3FFF-9C4E5035B6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9527449"/>
              </p:ext>
            </p:extLst>
          </p:nvPr>
        </p:nvGraphicFramePr>
        <p:xfrm>
          <a:off x="799200" y="2231356"/>
          <a:ext cx="5493387" cy="37160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" name="TextBox 4">
            <a:hlinkClick r:id="rId6"/>
            <a:extLst>
              <a:ext uri="{FF2B5EF4-FFF2-40B4-BE49-F238E27FC236}">
                <a16:creationId xmlns:a16="http://schemas.microsoft.com/office/drawing/2014/main" id="{FB5267F7-B918-72B0-2FA6-4EFC1ABF4B07}"/>
              </a:ext>
            </a:extLst>
          </p:cNvPr>
          <p:cNvSpPr txBox="1"/>
          <p:nvPr/>
        </p:nvSpPr>
        <p:spPr>
          <a:xfrm>
            <a:off x="10960729" y="6369278"/>
            <a:ext cx="12312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noProof="0" err="1">
                <a:hlinkClick r:id="rId7"/>
              </a:rPr>
              <a:t>Interative</a:t>
            </a:r>
            <a:r>
              <a:rPr lang="en-US" sz="1000" noProof="0">
                <a:hlinkClick r:id="rId7"/>
              </a:rPr>
              <a:t> visualization here </a:t>
            </a:r>
            <a:endParaRPr lang="en-US" sz="1000" noProof="0"/>
          </a:p>
        </p:txBody>
      </p:sp>
    </p:spTree>
    <p:extLst>
      <p:ext uri="{BB962C8B-B14F-4D97-AF65-F5344CB8AC3E}">
        <p14:creationId xmlns:p14="http://schemas.microsoft.com/office/powerpoint/2010/main" val="545637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91E52-B5B7-9C92-B0BC-656F6D95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1">
            <a:extLst>
              <a:ext uri="{FF2B5EF4-FFF2-40B4-BE49-F238E27FC236}">
                <a16:creationId xmlns:a16="http://schemas.microsoft.com/office/drawing/2014/main" id="{B193B10B-658E-7292-9064-5BA1744AB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379294-7640-7B06-B69B-1E8E5CE51C40}"/>
              </a:ext>
            </a:extLst>
          </p:cNvPr>
          <p:cNvSpPr txBox="1"/>
          <p:nvPr/>
        </p:nvSpPr>
        <p:spPr>
          <a:xfrm>
            <a:off x="919273" y="488722"/>
            <a:ext cx="11016053" cy="13225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More details about </a:t>
            </a:r>
            <a:r>
              <a:rPr lang="en-US" sz="3200" b="1">
                <a:solidFill>
                  <a:srgbClr val="AD4F36"/>
                </a:solidFill>
              </a:rPr>
              <a:t>Feature</a:t>
            </a:r>
            <a:r>
              <a:rPr lang="en-US" sz="3200" b="1" noProof="0">
                <a:solidFill>
                  <a:srgbClr val="AD4F36"/>
                </a:solidFill>
              </a:rPr>
              <a:t> Selection &amp; Engineering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>
                <a:solidFill>
                  <a:schemeClr val="tx1">
                    <a:lumMod val="75000"/>
                    <a:lumOff val="25000"/>
                  </a:schemeClr>
                </a:solidFill>
              </a:rPr>
              <a:t>Redundant features were dropped using</a:t>
            </a: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 Spearman correlation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CFB58A-4D2D-A2DC-35EA-1A75B0CB5E4E}"/>
              </a:ext>
            </a:extLst>
          </p:cNvPr>
          <p:cNvSpPr txBox="1"/>
          <p:nvPr/>
        </p:nvSpPr>
        <p:spPr>
          <a:xfrm>
            <a:off x="416248" y="139617"/>
            <a:ext cx="29098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Appendix – Feature Selection &amp; Engineering 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1257CF4-46A0-B39D-649B-8C9A41AF665E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67D57-9DBA-9B61-F31A-BB21D8B6C1C5}"/>
              </a:ext>
            </a:extLst>
          </p:cNvPr>
          <p:cNvSpPr txBox="1"/>
          <p:nvPr/>
        </p:nvSpPr>
        <p:spPr>
          <a:xfrm>
            <a:off x="6294920" y="1905803"/>
            <a:ext cx="5603617" cy="403187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600" noProof="0"/>
              <a:t>Features were dropped when </a:t>
            </a:r>
            <a:r>
              <a:rPr lang="en-US" sz="1600"/>
              <a:t>correlation</a:t>
            </a:r>
            <a:r>
              <a:rPr lang="en-US" sz="1600" noProof="0"/>
              <a:t> &gt; 0.65, keeping the feature with the largest correlation with Attrition</a:t>
            </a:r>
          </a:p>
          <a:p>
            <a:endParaRPr lang="en-US" sz="1600" noProof="0"/>
          </a:p>
          <a:p>
            <a:r>
              <a:rPr lang="en-US" sz="1600"/>
              <a:t>14 Dropped</a:t>
            </a:r>
            <a:r>
              <a:rPr lang="en-US" sz="1600" noProof="0"/>
              <a:t> features:</a:t>
            </a:r>
          </a:p>
          <a:p>
            <a:r>
              <a:rPr lang="en-US" sz="1600" noProof="0">
                <a:ea typeface="+mn-lt"/>
                <a:cs typeface="+mn-lt"/>
              </a:rPr>
              <a:t>{'</a:t>
            </a:r>
            <a:r>
              <a:rPr lang="en-US" sz="1600" noProof="0" err="1">
                <a:ea typeface="+mn-lt"/>
                <a:cs typeface="+mn-lt"/>
              </a:rPr>
              <a:t>MonthlyIncomeLog</a:t>
            </a:r>
            <a:r>
              <a:rPr lang="en-US" sz="1600" noProof="0">
                <a:ea typeface="+mn-lt"/>
                <a:cs typeface="+mn-lt"/>
              </a:rPr>
              <a:t>', </a:t>
            </a:r>
            <a:r>
              <a:rPr lang="en-US" sz="1600">
                <a:ea typeface="+mn-lt"/>
                <a:cs typeface="+mn-lt"/>
              </a:rPr>
              <a:t>'</a:t>
            </a:r>
            <a:r>
              <a:rPr lang="en-US" sz="1600" err="1">
                <a:ea typeface="+mn-lt"/>
                <a:cs typeface="+mn-lt"/>
              </a:rPr>
              <a:t>StockOptionLevel</a:t>
            </a:r>
            <a:r>
              <a:rPr lang="en-US" sz="1600" noProof="0">
                <a:ea typeface="+mn-lt"/>
                <a:cs typeface="+mn-lt"/>
              </a:rPr>
              <a:t>', </a:t>
            </a:r>
            <a:r>
              <a:rPr lang="en-US" sz="1600">
                <a:ea typeface="+mn-lt"/>
                <a:cs typeface="+mn-lt"/>
              </a:rPr>
              <a:t>'</a:t>
            </a:r>
            <a:r>
              <a:rPr lang="en-US" sz="1600" err="1">
                <a:ea typeface="+mn-lt"/>
                <a:cs typeface="+mn-lt"/>
              </a:rPr>
              <a:t>JobLevel</a:t>
            </a:r>
            <a:r>
              <a:rPr lang="en-US" sz="1600" noProof="0">
                <a:ea typeface="+mn-lt"/>
                <a:cs typeface="+mn-lt"/>
              </a:rPr>
              <a:t>', </a:t>
            </a:r>
            <a:r>
              <a:rPr lang="en-US" sz="1600">
                <a:ea typeface="+mn-lt"/>
                <a:cs typeface="+mn-lt"/>
              </a:rPr>
              <a:t>'</a:t>
            </a:r>
            <a:r>
              <a:rPr lang="en-US" sz="1600" err="1">
                <a:ea typeface="+mn-lt"/>
                <a:cs typeface="+mn-lt"/>
              </a:rPr>
              <a:t>YearsSinceLastPromotion</a:t>
            </a:r>
            <a:r>
              <a:rPr lang="en-US" sz="1600" noProof="0">
                <a:ea typeface="+mn-lt"/>
                <a:cs typeface="+mn-lt"/>
              </a:rPr>
              <a:t>', '</a:t>
            </a:r>
            <a:r>
              <a:rPr lang="en-US" sz="1600" noProof="0" err="1">
                <a:ea typeface="+mn-lt"/>
                <a:cs typeface="+mn-lt"/>
              </a:rPr>
              <a:t>MonthlyIncome</a:t>
            </a:r>
            <a:r>
              <a:rPr lang="en-US" sz="1600" noProof="0">
                <a:ea typeface="+mn-lt"/>
                <a:cs typeface="+mn-lt"/>
              </a:rPr>
              <a:t>', '</a:t>
            </a:r>
            <a:r>
              <a:rPr lang="en-US" sz="1600" noProof="0" err="1">
                <a:ea typeface="+mn-lt"/>
                <a:cs typeface="+mn-lt"/>
              </a:rPr>
              <a:t>JobRole_Sales</a:t>
            </a:r>
            <a:r>
              <a:rPr lang="en-US" sz="1600" noProof="0">
                <a:ea typeface="+mn-lt"/>
                <a:cs typeface="+mn-lt"/>
              </a:rPr>
              <a:t> Executive', '</a:t>
            </a:r>
            <a:r>
              <a:rPr lang="en-US" sz="1600" noProof="0" err="1">
                <a:ea typeface="+mn-lt"/>
                <a:cs typeface="+mn-lt"/>
              </a:rPr>
              <a:t>BusinessTravel_Travel_Rarely</a:t>
            </a:r>
            <a:r>
              <a:rPr lang="en-US" sz="1600">
                <a:ea typeface="+mn-lt"/>
                <a:cs typeface="+mn-lt"/>
              </a:rPr>
              <a:t>', 'Age', '</a:t>
            </a:r>
            <a:r>
              <a:rPr lang="en-US" sz="1600" err="1">
                <a:ea typeface="+mn-lt"/>
                <a:cs typeface="+mn-lt"/>
              </a:rPr>
              <a:t>TotalWorkingYears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Department_Sales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YearsAtCompany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YearsWithCurrManager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YearsInCurrentRole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Department_Human</a:t>
            </a:r>
            <a:r>
              <a:rPr lang="en-US" sz="1600">
                <a:ea typeface="+mn-lt"/>
                <a:cs typeface="+mn-lt"/>
              </a:rPr>
              <a:t> Resources'}</a:t>
            </a:r>
            <a:endParaRPr lang="en-US">
              <a:ea typeface="+mn-lt"/>
              <a:cs typeface="+mn-lt"/>
            </a:endParaRPr>
          </a:p>
          <a:p>
            <a:endParaRPr lang="en-US" sz="1600" noProof="0"/>
          </a:p>
          <a:p>
            <a:r>
              <a:rPr lang="en-US" sz="1600"/>
              <a:t>4 Kept</a:t>
            </a:r>
            <a:r>
              <a:rPr lang="en-US" sz="1600" noProof="0"/>
              <a:t>:</a:t>
            </a:r>
          </a:p>
          <a:p>
            <a:r>
              <a:rPr lang="en-US" sz="1600" noProof="0"/>
              <a:t>- </a:t>
            </a:r>
            <a:r>
              <a:rPr lang="en-US" sz="1600" noProof="0" err="1"/>
              <a:t>TotalWorkingYears</a:t>
            </a:r>
            <a:endParaRPr lang="en-US" sz="1600" noProof="0"/>
          </a:p>
          <a:p>
            <a:r>
              <a:rPr lang="en-US" sz="1600" noProof="0"/>
              <a:t>- </a:t>
            </a:r>
            <a:r>
              <a:rPr lang="en-US" sz="1600" noProof="0" err="1"/>
              <a:t>MaritalStatus</a:t>
            </a:r>
            <a:endParaRPr lang="en-US" sz="1600" noProof="0"/>
          </a:p>
          <a:p>
            <a:r>
              <a:rPr lang="en-US" sz="1600" noProof="0"/>
              <a:t>- </a:t>
            </a:r>
            <a:r>
              <a:rPr lang="en-US" sz="1600" noProof="0" err="1"/>
              <a:t>PercentSalaryHike</a:t>
            </a:r>
            <a:endParaRPr lang="en-US" sz="1600" noProof="0"/>
          </a:p>
          <a:p>
            <a:r>
              <a:rPr lang="en-US" sz="1600" noProof="0"/>
              <a:t>- </a:t>
            </a:r>
            <a:r>
              <a:rPr lang="en-US" sz="1600" noProof="0" err="1"/>
              <a:t>YearsAtCompany</a:t>
            </a:r>
            <a:endParaRPr lang="en-US" sz="1600" noProof="0"/>
          </a:p>
        </p:txBody>
      </p:sp>
      <p:pic>
        <p:nvPicPr>
          <p:cNvPr id="4" name="Picture 3" descr="A close-up of a graph&#10;&#10;AI-generated content may be incorrect.">
            <a:extLst>
              <a:ext uri="{FF2B5EF4-FFF2-40B4-BE49-F238E27FC236}">
                <a16:creationId xmlns:a16="http://schemas.microsoft.com/office/drawing/2014/main" id="{766821C6-DF82-4269-A4D0-125DF7DA3A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527" y="1813367"/>
            <a:ext cx="5467604" cy="4957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93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DBC7F-BDFF-278C-5543-2235D133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9755A5D3-D848-2A76-3C76-86E6BFBDECB8}"/>
              </a:ext>
            </a:extLst>
          </p:cNvPr>
          <p:cNvSpPr txBox="1"/>
          <p:nvPr/>
        </p:nvSpPr>
        <p:spPr>
          <a:xfrm>
            <a:off x="919273" y="488722"/>
            <a:ext cx="11016053" cy="13225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AD4F36"/>
                </a:solidFill>
              </a:rPr>
              <a:t>More details about Feature </a:t>
            </a:r>
            <a:r>
              <a:rPr lang="en-US" sz="3200" b="1" noProof="0">
                <a:solidFill>
                  <a:srgbClr val="AD4F36"/>
                </a:solidFill>
              </a:rPr>
              <a:t>Selection &amp; Engineering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chi-squared contingency </a:t>
            </a:r>
            <a:r>
              <a:rPr lang="en-US" sz="2400" b="1">
                <a:solidFill>
                  <a:schemeClr val="tx1">
                    <a:lumMod val="75000"/>
                    <a:lumOff val="25000"/>
                  </a:schemeClr>
                </a:solidFill>
              </a:rPr>
              <a:t>test </a:t>
            </a: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+ </a:t>
            </a:r>
            <a:r>
              <a:rPr lang="en-US" sz="2400" b="1">
                <a:solidFill>
                  <a:schemeClr val="tx1">
                    <a:lumMod val="75000"/>
                    <a:lumOff val="25000"/>
                  </a:schemeClr>
                </a:solidFill>
              </a:rPr>
              <a:t>Stratified K-Fold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C4F34EF7-AE95-A922-B473-842C002E0024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F011A-6CDD-998B-7602-29028F04C63E}"/>
              </a:ext>
            </a:extLst>
          </p:cNvPr>
          <p:cNvSpPr txBox="1"/>
          <p:nvPr/>
        </p:nvSpPr>
        <p:spPr>
          <a:xfrm>
            <a:off x="6285275" y="1867200"/>
            <a:ext cx="5516200" cy="280076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600" noProof="0"/>
              <a:t>Best predictors (significant in at least 80% of splits): </a:t>
            </a:r>
          </a:p>
          <a:p>
            <a:r>
              <a:rPr lang="en-US" sz="1600" noProof="0">
                <a:ea typeface="+mn-lt"/>
                <a:cs typeface="+mn-lt"/>
              </a:rPr>
              <a:t>[</a:t>
            </a:r>
            <a:r>
              <a:rPr lang="en-US" sz="1600">
                <a:ea typeface="+mn-lt"/>
                <a:cs typeface="+mn-lt"/>
              </a:rPr>
              <a:t>'</a:t>
            </a:r>
            <a:r>
              <a:rPr lang="en-US" sz="1600" err="1">
                <a:ea typeface="+mn-lt"/>
                <a:cs typeface="+mn-lt"/>
              </a:rPr>
              <a:t>BusinessTravel_Travel_Frequently</a:t>
            </a:r>
            <a:r>
              <a:rPr lang="en-US" sz="1600">
                <a:ea typeface="+mn-lt"/>
                <a:cs typeface="+mn-lt"/>
              </a:rPr>
              <a:t>', '</a:t>
            </a:r>
            <a:r>
              <a:rPr lang="en-US" sz="1600" err="1">
                <a:ea typeface="+mn-lt"/>
                <a:cs typeface="+mn-lt"/>
              </a:rPr>
              <a:t>Department_Research</a:t>
            </a:r>
            <a:r>
              <a:rPr lang="en-US" sz="1600">
                <a:ea typeface="+mn-lt"/>
                <a:cs typeface="+mn-lt"/>
              </a:rPr>
              <a:t> &amp; Development', </a:t>
            </a:r>
            <a:r>
              <a:rPr lang="en-US" sz="1600" noProof="0">
                <a:ea typeface="+mn-lt"/>
                <a:cs typeface="+mn-lt"/>
              </a:rPr>
              <a:t>'</a:t>
            </a:r>
            <a:r>
              <a:rPr lang="en-US" sz="1600" noProof="0" err="1">
                <a:ea typeface="+mn-lt"/>
                <a:cs typeface="+mn-lt"/>
              </a:rPr>
              <a:t>EnvironmentSatisfaction</a:t>
            </a:r>
            <a:r>
              <a:rPr lang="en-US" sz="1600" noProof="0">
                <a:ea typeface="+mn-lt"/>
                <a:cs typeface="+mn-lt"/>
              </a:rPr>
              <a:t>', </a:t>
            </a:r>
            <a:r>
              <a:rPr lang="en-US" sz="1600">
                <a:ea typeface="+mn-lt"/>
                <a:cs typeface="+mn-lt"/>
              </a:rPr>
              <a:t>'</a:t>
            </a:r>
            <a:r>
              <a:rPr lang="en-US" sz="1600" err="1">
                <a:ea typeface="+mn-lt"/>
                <a:cs typeface="+mn-lt"/>
              </a:rPr>
              <a:t>JobInvolvement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JobRole_Healthcare</a:t>
            </a:r>
            <a:r>
              <a:rPr lang="en-US" sz="1600">
                <a:ea typeface="+mn-lt"/>
                <a:cs typeface="+mn-lt"/>
              </a:rPr>
              <a:t> Representative', '</a:t>
            </a:r>
            <a:r>
              <a:rPr lang="en-US" sz="1600" err="1">
                <a:ea typeface="+mn-lt"/>
                <a:cs typeface="+mn-lt"/>
              </a:rPr>
              <a:t>JobRole_Laboratory</a:t>
            </a:r>
            <a:r>
              <a:rPr lang="en-US" sz="1600">
                <a:ea typeface="+mn-lt"/>
                <a:cs typeface="+mn-lt"/>
              </a:rPr>
              <a:t> Technician', '</a:t>
            </a:r>
            <a:r>
              <a:rPr lang="en-US" sz="1600" err="1">
                <a:ea typeface="+mn-lt"/>
                <a:cs typeface="+mn-lt"/>
              </a:rPr>
              <a:t>JobRole_Manager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JobRole_Manufacturing</a:t>
            </a:r>
            <a:r>
              <a:rPr lang="en-US" sz="1600">
                <a:ea typeface="+mn-lt"/>
                <a:cs typeface="+mn-lt"/>
              </a:rPr>
              <a:t> Director', '</a:t>
            </a:r>
            <a:r>
              <a:rPr lang="en-US" sz="1600" err="1">
                <a:ea typeface="+mn-lt"/>
                <a:cs typeface="+mn-lt"/>
              </a:rPr>
              <a:t>JobRole_Research</a:t>
            </a:r>
            <a:r>
              <a:rPr lang="en-US" sz="1600">
                <a:ea typeface="+mn-lt"/>
                <a:cs typeface="+mn-lt"/>
              </a:rPr>
              <a:t> Director', '</a:t>
            </a:r>
            <a:r>
              <a:rPr lang="en-US" sz="1600" err="1">
                <a:ea typeface="+mn-lt"/>
                <a:cs typeface="+mn-lt"/>
              </a:rPr>
              <a:t>JobRole_Sales</a:t>
            </a:r>
            <a:r>
              <a:rPr lang="en-US" sz="1600">
                <a:ea typeface="+mn-lt"/>
                <a:cs typeface="+mn-lt"/>
              </a:rPr>
              <a:t> Representative', '</a:t>
            </a:r>
            <a:r>
              <a:rPr lang="en-US" sz="1600" err="1">
                <a:ea typeface="+mn-lt"/>
                <a:cs typeface="+mn-lt"/>
              </a:rPr>
              <a:t>JobSatisfaction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MaritalStatus_Married</a:t>
            </a:r>
            <a:r>
              <a:rPr lang="en-US" sz="1600">
                <a:ea typeface="+mn-lt"/>
                <a:cs typeface="+mn-lt"/>
              </a:rPr>
              <a:t>', '</a:t>
            </a:r>
            <a:r>
              <a:rPr lang="en-US" sz="1600" err="1">
                <a:ea typeface="+mn-lt"/>
                <a:cs typeface="+mn-lt"/>
              </a:rPr>
              <a:t>MaritalStatus_Single</a:t>
            </a:r>
            <a:r>
              <a:rPr lang="en-US" sz="1600">
                <a:ea typeface="+mn-lt"/>
                <a:cs typeface="+mn-lt"/>
              </a:rPr>
              <a:t>', </a:t>
            </a:r>
            <a:endParaRPr lang="en-US">
              <a:ea typeface="+mn-lt"/>
              <a:cs typeface="+mn-lt"/>
            </a:endParaRPr>
          </a:p>
          <a:p>
            <a:r>
              <a:rPr lang="en-US" sz="1600">
                <a:ea typeface="+mn-lt"/>
                <a:cs typeface="+mn-lt"/>
              </a:rPr>
              <a:t>'</a:t>
            </a:r>
            <a:r>
              <a:rPr lang="en-US" sz="1600" err="1">
                <a:ea typeface="+mn-lt"/>
                <a:cs typeface="+mn-lt"/>
              </a:rPr>
              <a:t>NumCompaniesWorked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OverTime_Yes</a:t>
            </a:r>
            <a:r>
              <a:rPr lang="en-US" sz="1600">
                <a:ea typeface="+mn-lt"/>
                <a:cs typeface="+mn-lt"/>
              </a:rPr>
              <a:t>', '</a:t>
            </a:r>
            <a:r>
              <a:rPr lang="en-US" sz="1600" err="1">
                <a:ea typeface="+mn-lt"/>
                <a:cs typeface="+mn-lt"/>
              </a:rPr>
              <a:t>TotalWorkingYearsLog</a:t>
            </a:r>
            <a:r>
              <a:rPr lang="en-US" sz="1600" noProof="0">
                <a:ea typeface="+mn-lt"/>
                <a:cs typeface="+mn-lt"/>
              </a:rPr>
              <a:t>',</a:t>
            </a:r>
            <a:r>
              <a:rPr lang="en-US" sz="1600">
                <a:ea typeface="+mn-lt"/>
                <a:cs typeface="+mn-lt"/>
              </a:rPr>
              <a:t> '</a:t>
            </a:r>
            <a:r>
              <a:rPr lang="en-US" sz="1600" err="1">
                <a:ea typeface="+mn-lt"/>
                <a:cs typeface="+mn-lt"/>
              </a:rPr>
              <a:t>WorkLifeBalance</a:t>
            </a:r>
            <a:r>
              <a:rPr lang="en-US" sz="1600">
                <a:ea typeface="+mn-lt"/>
                <a:cs typeface="+mn-lt"/>
              </a:rPr>
              <a:t>', </a:t>
            </a:r>
            <a:r>
              <a:rPr lang="en-US" sz="1600" noProof="0">
                <a:ea typeface="+mn-lt"/>
                <a:cs typeface="+mn-lt"/>
              </a:rPr>
              <a:t>'</a:t>
            </a:r>
            <a:r>
              <a:rPr lang="en-US" sz="1600" noProof="0" err="1">
                <a:ea typeface="+mn-lt"/>
                <a:cs typeface="+mn-lt"/>
              </a:rPr>
              <a:t>YearsAtCompanyLog</a:t>
            </a:r>
            <a:r>
              <a:rPr lang="en-US" sz="1600" noProof="0">
                <a:ea typeface="+mn-lt"/>
                <a:cs typeface="+mn-lt"/>
              </a:rPr>
              <a:t>', </a:t>
            </a:r>
            <a:r>
              <a:rPr lang="en-US" sz="1600">
                <a:ea typeface="+mn-lt"/>
                <a:cs typeface="+mn-lt"/>
              </a:rPr>
              <a:t>]</a:t>
            </a:r>
            <a:r>
              <a:rPr lang="en-US" sz="1600" noProof="0"/>
              <a:t> </a:t>
            </a:r>
            <a:endParaRPr lang="en-US"/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7D42AF3-AC9A-5288-3C32-0AC7B8759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68" y="1849120"/>
            <a:ext cx="5298024" cy="5008880"/>
          </a:xfrm>
          <a:prstGeom prst="rect">
            <a:avLst/>
          </a:prstGeom>
        </p:spPr>
      </p:pic>
      <p:sp>
        <p:nvSpPr>
          <p:cNvPr id="5" name="Graphic 61">
            <a:extLst>
              <a:ext uri="{FF2B5EF4-FFF2-40B4-BE49-F238E27FC236}">
                <a16:creationId xmlns:a16="http://schemas.microsoft.com/office/drawing/2014/main" id="{DF47639D-15ED-96B5-328C-F3D2FD05AB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7FAD4-8BCB-74C0-5F04-22E8C913BF96}"/>
              </a:ext>
            </a:extLst>
          </p:cNvPr>
          <p:cNvSpPr txBox="1"/>
          <p:nvPr/>
        </p:nvSpPr>
        <p:spPr>
          <a:xfrm>
            <a:off x="416248" y="139617"/>
            <a:ext cx="29098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Appendix – Feature Selection &amp; Engineering </a:t>
            </a:r>
          </a:p>
        </p:txBody>
      </p:sp>
    </p:spTree>
    <p:extLst>
      <p:ext uri="{BB962C8B-B14F-4D97-AF65-F5344CB8AC3E}">
        <p14:creationId xmlns:p14="http://schemas.microsoft.com/office/powerpoint/2010/main" val="2818200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342B9-519A-1046-7DF8-C6DD4D1CC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1BD1A47F-F4EF-25E8-E839-6882625600AE}"/>
              </a:ext>
            </a:extLst>
          </p:cNvPr>
          <p:cNvSpPr txBox="1"/>
          <p:nvPr/>
        </p:nvSpPr>
        <p:spPr>
          <a:xfrm>
            <a:off x="919273" y="488722"/>
            <a:ext cx="11016053" cy="13225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Feature Engineering</a:t>
            </a:r>
            <a:r>
              <a:rPr lang="en-US" sz="3200" b="1">
                <a:solidFill>
                  <a:srgbClr val="AD4F36"/>
                </a:solidFill>
              </a:rPr>
              <a:t> example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Job happiness is the feature that correlates more with Attrition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F9F79E1C-DE75-4F08-BD15-5DC78A83479F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48C27FC-BB57-CB19-D84F-C8C02AA9E9F2}"/>
              </a:ext>
            </a:extLst>
          </p:cNvPr>
          <p:cNvGrpSpPr/>
          <p:nvPr/>
        </p:nvGrpSpPr>
        <p:grpSpPr>
          <a:xfrm>
            <a:off x="6151600" y="4877998"/>
            <a:ext cx="6102220" cy="1439350"/>
            <a:chOff x="4145497" y="2957408"/>
            <a:chExt cx="6102220" cy="143935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C47CA76-AE65-DC7A-18AC-16DE09FD13D4}"/>
                </a:ext>
              </a:extLst>
            </p:cNvPr>
            <p:cNvSpPr txBox="1"/>
            <p:nvPr/>
          </p:nvSpPr>
          <p:spPr>
            <a:xfrm>
              <a:off x="4145497" y="2997060"/>
              <a:ext cx="61022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noProof="0">
                  <a:solidFill>
                    <a:srgbClr val="AD4F36"/>
                  </a:solidFill>
                </a:rPr>
                <a:t>Work Experience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B1A085B8-1AF0-2F83-ED48-EE0FA444CCF6}"/>
                </a:ext>
              </a:extLst>
            </p:cNvPr>
            <p:cNvGrpSpPr/>
            <p:nvPr/>
          </p:nvGrpSpPr>
          <p:grpSpPr>
            <a:xfrm>
              <a:off x="5526990" y="2957408"/>
              <a:ext cx="2989005" cy="1439350"/>
              <a:chOff x="3785019" y="2760616"/>
              <a:chExt cx="2989005" cy="1439350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7986DF3F-9165-0C2E-E817-C649EECFEEA3}"/>
                  </a:ext>
                </a:extLst>
              </p:cNvPr>
              <p:cNvSpPr/>
              <p:nvPr/>
            </p:nvSpPr>
            <p:spPr>
              <a:xfrm>
                <a:off x="3970383" y="3190281"/>
                <a:ext cx="2803641" cy="1009685"/>
              </a:xfrm>
              <a:prstGeom prst="roundRect">
                <a:avLst/>
              </a:prstGeom>
              <a:ln w="28575">
                <a:solidFill>
                  <a:srgbClr val="AD4F36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pPr algn="ctr"/>
                <a:endParaRPr lang="en-US" sz="1400" b="1" noProof="0">
                  <a:solidFill>
                    <a:srgbClr val="FFC000"/>
                  </a:solidFill>
                </a:endParaRPr>
              </a:p>
              <a:p>
                <a:pPr marL="537210" indent="-285750">
                  <a:buFontTx/>
                  <a:buChar char="-"/>
                </a:pPr>
                <a:r>
                  <a:rPr lang="en-US" sz="1200" u="sng" noProof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Years at the company</a:t>
                </a:r>
              </a:p>
              <a:p>
                <a:pPr marL="537210" indent="-285750">
                  <a:buFontTx/>
                  <a:buChar char="-"/>
                </a:pPr>
                <a:r>
                  <a:rPr lang="en-US" sz="1200" noProof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Total working years</a:t>
                </a:r>
              </a:p>
              <a:p>
                <a:pPr marL="537210" indent="-285750">
                  <a:buFontTx/>
                  <a:buChar char="-"/>
                </a:pPr>
                <a:r>
                  <a:rPr lang="en-US"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Number of companies worked</a:t>
                </a:r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6DD4553D-D512-8DF7-BB87-FB8E57F357D9}"/>
                  </a:ext>
                </a:extLst>
              </p:cNvPr>
              <p:cNvGrpSpPr/>
              <p:nvPr/>
            </p:nvGrpSpPr>
            <p:grpSpPr>
              <a:xfrm>
                <a:off x="3785019" y="2760616"/>
                <a:ext cx="734398" cy="734400"/>
                <a:chOff x="6995194" y="2322560"/>
                <a:chExt cx="1008000" cy="1008000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C17DC5F6-1FC7-D3A3-299F-22A8E1101878}"/>
                    </a:ext>
                  </a:extLst>
                </p:cNvPr>
                <p:cNvGrpSpPr/>
                <p:nvPr/>
              </p:nvGrpSpPr>
              <p:grpSpPr>
                <a:xfrm>
                  <a:off x="6995194" y="2322560"/>
                  <a:ext cx="1008000" cy="1008000"/>
                  <a:chOff x="4241551" y="2321990"/>
                  <a:chExt cx="1008000" cy="1008000"/>
                </a:xfrm>
              </p:grpSpPr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78078B7B-2861-2A0B-9C19-6F6074F28DC0}"/>
                      </a:ext>
                    </a:extLst>
                  </p:cNvPr>
                  <p:cNvSpPr/>
                  <p:nvPr/>
                </p:nvSpPr>
                <p:spPr>
                  <a:xfrm>
                    <a:off x="4241551" y="2321990"/>
                    <a:ext cx="1008000" cy="1008000"/>
                  </a:xfrm>
                  <a:prstGeom prst="ellipse">
                    <a:avLst/>
                  </a:prstGeom>
                  <a:solidFill>
                    <a:srgbClr val="AD4F36"/>
                  </a:solidFill>
                  <a:ln>
                    <a:solidFill>
                      <a:srgbClr val="AD4F36"/>
                    </a:solidFill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/>
                  </a:p>
                </p:txBody>
              </p:sp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7AF5C96F-C234-C398-FE1B-BB542A6B8451}"/>
                      </a:ext>
                    </a:extLst>
                  </p:cNvPr>
                  <p:cNvSpPr/>
                  <p:nvPr/>
                </p:nvSpPr>
                <p:spPr>
                  <a:xfrm>
                    <a:off x="4306702" y="2375990"/>
                    <a:ext cx="900000" cy="900000"/>
                  </a:xfrm>
                  <a:prstGeom prst="ellipse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/>
                  </a:p>
                </p:txBody>
              </p:sp>
            </p:grpSp>
            <p:pic>
              <p:nvPicPr>
                <p:cNvPr id="46" name="Graphic 45" descr="Programmer male with solid fill">
                  <a:extLst>
                    <a:ext uri="{FF2B5EF4-FFF2-40B4-BE49-F238E27FC236}">
                      <a16:creationId xmlns:a16="http://schemas.microsoft.com/office/drawing/2014/main" id="{EA0139FE-6A03-8F3D-B614-A55EF47163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88892" y="2505107"/>
                  <a:ext cx="630000" cy="630000"/>
                </a:xfrm>
                <a:prstGeom prst="rect">
                  <a:avLst/>
                </a:prstGeom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p:spPr>
            </p:pic>
          </p:grpSp>
        </p:grp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2FA200AC-F80C-FD57-D4ED-E25123FF4EA7}"/>
              </a:ext>
            </a:extLst>
          </p:cNvPr>
          <p:cNvSpPr txBox="1"/>
          <p:nvPr/>
        </p:nvSpPr>
        <p:spPr>
          <a:xfrm>
            <a:off x="1300495" y="2063562"/>
            <a:ext cx="383797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1" noProof="0">
                <a:solidFill>
                  <a:srgbClr val="2D526C"/>
                </a:solidFill>
              </a:rPr>
              <a:t>Job happiness </a:t>
            </a:r>
            <a:r>
              <a:rPr lang="en-US" sz="1600" noProof="0">
                <a:solidFill>
                  <a:srgbClr val="2D526C"/>
                </a:solidFill>
              </a:rPr>
              <a:t>= </a:t>
            </a:r>
          </a:p>
          <a:p>
            <a:pPr lvl="1" algn="just"/>
            <a:r>
              <a:rPr lang="en-US" sz="1600" noProof="0"/>
              <a:t>+ Job satisfaction </a:t>
            </a:r>
          </a:p>
          <a:p>
            <a:pPr lvl="1" algn="just"/>
            <a:r>
              <a:rPr lang="en-US" sz="1600" noProof="0"/>
              <a:t>+ Involvement </a:t>
            </a:r>
          </a:p>
          <a:p>
            <a:pPr lvl="1" algn="just"/>
            <a:r>
              <a:rPr lang="en-US" sz="1600" noProof="0"/>
              <a:t>+ Environment satisfaction </a:t>
            </a:r>
          </a:p>
          <a:p>
            <a:pPr lvl="1" algn="just"/>
            <a:r>
              <a:rPr lang="en-US" sz="1600" noProof="0"/>
              <a:t>+ Work-life balance </a:t>
            </a:r>
          </a:p>
          <a:p>
            <a:pPr lvl="1" algn="just"/>
            <a:r>
              <a:rPr lang="en-US" sz="1600" noProof="0"/>
              <a:t>+ Years at the company</a:t>
            </a:r>
          </a:p>
          <a:p>
            <a:pPr lvl="1" algn="just"/>
            <a:r>
              <a:rPr lang="en-US" sz="1600" noProof="0"/>
              <a:t>- Overtime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206AE-BD6F-CB95-D2A6-29D19429B9B8}"/>
              </a:ext>
            </a:extLst>
          </p:cNvPr>
          <p:cNvSpPr/>
          <p:nvPr/>
        </p:nvSpPr>
        <p:spPr>
          <a:xfrm>
            <a:off x="5747520" y="2064315"/>
            <a:ext cx="4771388" cy="955307"/>
          </a:xfrm>
          <a:prstGeom prst="roundRect">
            <a:avLst/>
          </a:prstGeom>
          <a:ln w="28575">
            <a:solidFill>
              <a:srgbClr val="254B66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Achieved </a:t>
            </a:r>
            <a:r>
              <a:rPr lang="en-US" sz="20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-0.33 </a:t>
            </a:r>
            <a:r>
              <a:rPr lang="en-US" sz="20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correlation with Attrition </a:t>
            </a:r>
          </a:p>
          <a:p>
            <a:pPr algn="ctr"/>
            <a:r>
              <a:rPr lang="en-US" sz="20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en-US" sz="20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more than any other feature</a:t>
            </a:r>
            <a:r>
              <a:rPr lang="en-US" sz="20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193C639-EDB0-4E63-DF22-64C74ADF36BE}"/>
              </a:ext>
            </a:extLst>
          </p:cNvPr>
          <p:cNvGrpSpPr/>
          <p:nvPr/>
        </p:nvGrpSpPr>
        <p:grpSpPr>
          <a:xfrm>
            <a:off x="1333433" y="4257084"/>
            <a:ext cx="6102220" cy="2099513"/>
            <a:chOff x="919273" y="4062311"/>
            <a:chExt cx="6102220" cy="209951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3822518-396F-6B89-EECD-E68FB09532E7}"/>
                </a:ext>
              </a:extLst>
            </p:cNvPr>
            <p:cNvSpPr txBox="1"/>
            <p:nvPr/>
          </p:nvSpPr>
          <p:spPr>
            <a:xfrm>
              <a:off x="919273" y="4159363"/>
              <a:ext cx="61022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noProof="0">
                  <a:solidFill>
                    <a:srgbClr val="FFC000"/>
                  </a:solidFill>
                </a:rPr>
                <a:t>	Job characteristics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BFD6BA2C-C216-D33D-E3C8-051ECA2C0F4D}"/>
                </a:ext>
              </a:extLst>
            </p:cNvPr>
            <p:cNvSpPr/>
            <p:nvPr/>
          </p:nvSpPr>
          <p:spPr>
            <a:xfrm>
              <a:off x="919273" y="4544087"/>
              <a:ext cx="5854751" cy="1617737"/>
            </a:xfrm>
            <a:prstGeom prst="roundRect">
              <a:avLst/>
            </a:prstGeom>
            <a:ln w="28575">
              <a:solidFill>
                <a:srgbClr val="FFC000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600" b="1" noProof="0">
                <a:solidFill>
                  <a:srgbClr val="FFC000"/>
                </a:solidFill>
              </a:endParaRPr>
            </a:p>
            <a:p>
              <a:pPr marL="537750" indent="-285750">
                <a:buFontTx/>
                <a:buChar char="-"/>
              </a:pPr>
              <a:r>
                <a:rPr lang="en-US" sz="1200" u="sng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Satisfaction</a:t>
              </a:r>
            </a:p>
            <a:p>
              <a:pPr marL="537750" indent="-285750">
                <a:buFontTx/>
                <a:buChar char="-"/>
              </a:pPr>
              <a:r>
                <a:rPr lang="en-US" sz="1200" u="sng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Involvement</a:t>
              </a:r>
              <a:r>
                <a:rPr lang="en-US" sz="12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</a:p>
            <a:p>
              <a:pPr marL="537750" indent="-285750">
                <a:buFontTx/>
                <a:buChar char="-"/>
              </a:pPr>
              <a:r>
                <a:rPr lang="en-US" sz="1200" u="sng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Environment satisfaction</a:t>
              </a:r>
            </a:p>
            <a:p>
              <a:pPr marL="537750" indent="-285750">
                <a:buFontTx/>
                <a:buChar char="-"/>
              </a:pPr>
              <a:r>
                <a:rPr lang="en-US" sz="1200" u="sng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Work-life balance</a:t>
              </a:r>
            </a:p>
            <a:p>
              <a:pPr marL="537750" indent="-285750">
                <a:buFontTx/>
                <a:buChar char="-"/>
              </a:pPr>
              <a:r>
                <a:rPr lang="en-US" sz="1200" u="sng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Overtime</a:t>
              </a:r>
            </a:p>
            <a:p>
              <a:pPr marL="537750" indent="-285750">
                <a:buFontTx/>
                <a:buChar char="-"/>
              </a:pPr>
              <a:r>
                <a:rPr lang="en-US" sz="1200" noProof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Business travel</a:t>
              </a:r>
            </a:p>
            <a:p>
              <a:pPr marL="252000"/>
              <a:endParaRPr lang="en-US" sz="1200" noProof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06FC181-E792-172E-36FD-BAE21130C0EF}"/>
                </a:ext>
              </a:extLst>
            </p:cNvPr>
            <p:cNvGrpSpPr/>
            <p:nvPr/>
          </p:nvGrpSpPr>
          <p:grpSpPr>
            <a:xfrm>
              <a:off x="1041605" y="4062311"/>
              <a:ext cx="734398" cy="734400"/>
              <a:chOff x="4241551" y="2321990"/>
              <a:chExt cx="1008000" cy="1008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061C3AA-E772-FE5A-DD17-01CFCA3CED82}"/>
                  </a:ext>
                </a:extLst>
              </p:cNvPr>
              <p:cNvSpPr/>
              <p:nvPr/>
            </p:nvSpPr>
            <p:spPr>
              <a:xfrm>
                <a:off x="4241551" y="2321990"/>
                <a:ext cx="1008000" cy="1008000"/>
              </a:xfrm>
              <a:prstGeom prst="ellipse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5E85FF3-AE66-49C1-0831-E4A2CF6C94DB}"/>
                  </a:ext>
                </a:extLst>
              </p:cNvPr>
              <p:cNvSpPr/>
              <p:nvPr/>
            </p:nvSpPr>
            <p:spPr>
              <a:xfrm>
                <a:off x="4295551" y="2375990"/>
                <a:ext cx="900000" cy="90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/>
              </a:p>
            </p:txBody>
          </p:sp>
          <p:pic>
            <p:nvPicPr>
              <p:cNvPr id="21" name="Graphic 20" descr="Briefcase with solid fill">
                <a:extLst>
                  <a:ext uri="{FF2B5EF4-FFF2-40B4-BE49-F238E27FC236}">
                    <a16:creationId xmlns:a16="http://schemas.microsoft.com/office/drawing/2014/main" id="{D9BD5268-48A5-4EEF-35A3-A78E56CD76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4460588" y="2541027"/>
                <a:ext cx="569926" cy="569926"/>
              </a:xfrm>
              <a:prstGeom prst="rect">
                <a:avLst/>
              </a:prstGeom>
              <a:effectLst>
                <a:innerShdw blurRad="63500" dist="50800" dir="16200000">
                  <a:prstClr val="black">
                    <a:alpha val="50000"/>
                  </a:prstClr>
                </a:innerShdw>
              </a:effectLst>
            </p:spPr>
          </p:pic>
        </p:grp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0BCBB36B-286F-BCD7-8D83-07262FEA3ADD}"/>
              </a:ext>
            </a:extLst>
          </p:cNvPr>
          <p:cNvSpPr txBox="1"/>
          <p:nvPr/>
        </p:nvSpPr>
        <p:spPr>
          <a:xfrm>
            <a:off x="3593009" y="4971162"/>
            <a:ext cx="36844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37750" indent="-285750">
              <a:buFontTx/>
              <a:buChar char="-"/>
            </a:pPr>
            <a:r>
              <a:rPr lang="en-US" sz="12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Department</a:t>
            </a:r>
          </a:p>
          <a:p>
            <a:pPr marL="537750" indent="-285750">
              <a:buFontTx/>
              <a:buChar char="-"/>
            </a:pPr>
            <a:r>
              <a:rPr lang="en-US" sz="12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Roles: Research director; manufacturing director; healthcare representative; manager; R&amp;D department</a:t>
            </a:r>
          </a:p>
        </p:txBody>
      </p:sp>
      <p:pic>
        <p:nvPicPr>
          <p:cNvPr id="4" name="Graphic 3" descr="Smiling face outline with solid fill">
            <a:extLst>
              <a:ext uri="{FF2B5EF4-FFF2-40B4-BE49-F238E27FC236}">
                <a16:creationId xmlns:a16="http://schemas.microsoft.com/office/drawing/2014/main" id="{0A814FED-D0BD-0793-2705-238F58DBFD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73" y="2049741"/>
            <a:ext cx="381222" cy="381222"/>
          </a:xfrm>
          <a:prstGeom prst="rect">
            <a:avLst/>
          </a:prstGeom>
        </p:spPr>
      </p:pic>
      <p:sp>
        <p:nvSpPr>
          <p:cNvPr id="3" name="Graphic 61">
            <a:extLst>
              <a:ext uri="{FF2B5EF4-FFF2-40B4-BE49-F238E27FC236}">
                <a16:creationId xmlns:a16="http://schemas.microsoft.com/office/drawing/2014/main" id="{3D4F602C-F726-2392-7A65-D2DE6CEF8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sz="1100" noProof="0">
                <a:solidFill>
                  <a:srgbClr val="5F5B37"/>
                </a:solidFill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FA98F5-FA09-C661-A467-19FE6153E59B}"/>
              </a:ext>
            </a:extLst>
          </p:cNvPr>
          <p:cNvSpPr txBox="1"/>
          <p:nvPr/>
        </p:nvSpPr>
        <p:spPr>
          <a:xfrm>
            <a:off x="416248" y="139617"/>
            <a:ext cx="29098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Appendix – Feature Selection &amp; Engineering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38C63F-E25A-AF16-DE7E-F6F523DD56A8}"/>
              </a:ext>
            </a:extLst>
          </p:cNvPr>
          <p:cNvSpPr txBox="1"/>
          <p:nvPr/>
        </p:nvSpPr>
        <p:spPr>
          <a:xfrm>
            <a:off x="4381502" y="3083719"/>
            <a:ext cx="7417591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>
                <a:solidFill>
                  <a:srgbClr val="000000"/>
                </a:solidFill>
                <a:latin typeface="Tenorite"/>
              </a:rPr>
              <a:t>However, it was not included in the modelling, as it introduced redundant information and flagged more people without much recall gain.</a:t>
            </a:r>
            <a:endParaRPr lang="en-US"/>
          </a:p>
          <a:p>
            <a:pPr algn="ctr"/>
            <a:endParaRPr lang="en-US" sz="1600"/>
          </a:p>
          <a:p>
            <a:pPr algn="ctr"/>
            <a:r>
              <a:rPr lang="en-US" sz="1600"/>
              <a:t>If we had more time, we would repeat all models using "Job happiness" and taking out its related features to assess if it improved any of the models.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986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93EC2-FB64-CA1B-12F8-346C890E8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7247B5C0-F23F-CBC2-5EF3-13781F73F9D8}"/>
              </a:ext>
            </a:extLst>
          </p:cNvPr>
          <p:cNvSpPr txBox="1"/>
          <p:nvPr/>
        </p:nvSpPr>
        <p:spPr>
          <a:xfrm>
            <a:off x="919273" y="488722"/>
            <a:ext cx="9976525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AD4F36"/>
                </a:solidFill>
              </a:rPr>
              <a:t>More details about m</a:t>
            </a:r>
            <a:r>
              <a:rPr lang="en-US" sz="3200" b="1" noProof="0" err="1">
                <a:solidFill>
                  <a:srgbClr val="AD4F36"/>
                </a:solidFill>
              </a:rPr>
              <a:t>odel</a:t>
            </a:r>
            <a:r>
              <a:rPr lang="en-US" sz="3200" b="1" noProof="0">
                <a:solidFill>
                  <a:srgbClr val="AD4F36"/>
                </a:solidFill>
              </a:rPr>
              <a:t> selection &amp; evaluation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Logistic regression captured better who would be leaving the company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3DCA97AA-F3CC-FF1E-4415-DB3A8556BE37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D8D133-E502-A9BA-0636-9B10988C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746835"/>
              </p:ext>
            </p:extLst>
          </p:nvPr>
        </p:nvGraphicFramePr>
        <p:xfrm>
          <a:off x="789324" y="3799753"/>
          <a:ext cx="10613352" cy="2225040"/>
        </p:xfrm>
        <a:graphic>
          <a:graphicData uri="http://schemas.openxmlformats.org/drawingml/2006/table">
            <a:tbl>
              <a:tblPr firstRow="1" bandRow="1"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tableStyleId>{7E9639D4-E3E2-4D34-9284-5A2195B3D0D7}</a:tableStyleId>
              </a:tblPr>
              <a:tblGrid>
                <a:gridCol w="2088630">
                  <a:extLst>
                    <a:ext uri="{9D8B030D-6E8A-4147-A177-3AD203B41FA5}">
                      <a16:colId xmlns:a16="http://schemas.microsoft.com/office/drawing/2014/main" val="2248296463"/>
                    </a:ext>
                  </a:extLst>
                </a:gridCol>
                <a:gridCol w="904774">
                  <a:extLst>
                    <a:ext uri="{9D8B030D-6E8A-4147-A177-3AD203B41FA5}">
                      <a16:colId xmlns:a16="http://schemas.microsoft.com/office/drawing/2014/main" val="3191351963"/>
                    </a:ext>
                  </a:extLst>
                </a:gridCol>
                <a:gridCol w="1078030">
                  <a:extLst>
                    <a:ext uri="{9D8B030D-6E8A-4147-A177-3AD203B41FA5}">
                      <a16:colId xmlns:a16="http://schemas.microsoft.com/office/drawing/2014/main" val="3874371037"/>
                    </a:ext>
                  </a:extLst>
                </a:gridCol>
                <a:gridCol w="1235242">
                  <a:extLst>
                    <a:ext uri="{9D8B030D-6E8A-4147-A177-3AD203B41FA5}">
                      <a16:colId xmlns:a16="http://schemas.microsoft.com/office/drawing/2014/main" val="3624349886"/>
                    </a:ext>
                  </a:extLst>
                </a:gridCol>
                <a:gridCol w="1326669">
                  <a:extLst>
                    <a:ext uri="{9D8B030D-6E8A-4147-A177-3AD203B41FA5}">
                      <a16:colId xmlns:a16="http://schemas.microsoft.com/office/drawing/2014/main" val="2271051367"/>
                    </a:ext>
                  </a:extLst>
                </a:gridCol>
                <a:gridCol w="1037937">
                  <a:extLst>
                    <a:ext uri="{9D8B030D-6E8A-4147-A177-3AD203B41FA5}">
                      <a16:colId xmlns:a16="http://schemas.microsoft.com/office/drawing/2014/main" val="2708335976"/>
                    </a:ext>
                  </a:extLst>
                </a:gridCol>
                <a:gridCol w="1615401">
                  <a:extLst>
                    <a:ext uri="{9D8B030D-6E8A-4147-A177-3AD203B41FA5}">
                      <a16:colId xmlns:a16="http://schemas.microsoft.com/office/drawing/2014/main" val="2810122396"/>
                    </a:ext>
                  </a:extLst>
                </a:gridCol>
                <a:gridCol w="1326669">
                  <a:extLst>
                    <a:ext uri="{9D8B030D-6E8A-4147-A177-3AD203B41FA5}">
                      <a16:colId xmlns:a16="http://schemas.microsoft.com/office/drawing/2014/main" val="2964351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Model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AUC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Recall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Precision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F1 Score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Missed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 Alarms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noProof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</a:t>
                      </a:r>
                      <a:endParaRPr lang="en-US" noProof="0"/>
                    </a:p>
                  </a:txBody>
                  <a:tcPr anchor="ctr">
                    <a:solidFill>
                      <a:srgbClr val="254B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600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Logistic Regression</a:t>
                      </a:r>
                      <a:endParaRPr lang="en-US" u="sng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0.81</a:t>
                      </a:r>
                      <a:endParaRPr lang="en-US" u="sng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0.77</a:t>
                      </a:r>
                      <a:endParaRPr lang="en-US" u="none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0.34</a:t>
                      </a:r>
                      <a:endParaRPr lang="en-US" u="sng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0.47</a:t>
                      </a:r>
                      <a:endParaRPr lang="en-US" u="sng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endParaRPr lang="en-US" u="sng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en-US" u="sng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  <a:endParaRPr lang="en-US" u="sng" noProof="0">
                        <a:solidFill>
                          <a:srgbClr val="2D526C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8037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Tree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063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9503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0" i="0" kern="1200" noProof="0" err="1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endParaRPr lang="en-US" sz="1800" b="0" i="0" kern="1200" noProof="0">
                        <a:solidFill>
                          <a:srgbClr val="2D526C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7623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Neural Network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u="none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u="sng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0" i="0" u="none" kern="1200" noProof="0">
                          <a:solidFill>
                            <a:srgbClr val="2D526C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225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09A0464-4A96-1DAB-E6D6-21665D676CA2}"/>
              </a:ext>
            </a:extLst>
          </p:cNvPr>
          <p:cNvSpPr txBox="1"/>
          <p:nvPr/>
        </p:nvSpPr>
        <p:spPr>
          <a:xfrm>
            <a:off x="7546207" y="2110804"/>
            <a:ext cx="39271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/>
              <a:t>🏆 BEST MODEL: Logistic Regression </a:t>
            </a:r>
          </a:p>
          <a:p>
            <a:r>
              <a:rPr lang="en-US" noProof="0"/>
              <a:t>├─ Recall: </a:t>
            </a:r>
            <a:r>
              <a:rPr lang="en-US"/>
              <a:t>76.6</a:t>
            </a:r>
            <a:r>
              <a:rPr lang="en-US" noProof="0"/>
              <a:t>% </a:t>
            </a:r>
          </a:p>
          <a:p>
            <a:r>
              <a:rPr lang="en-US" noProof="0"/>
              <a:t>├─ Missed Departures: 11 out of 47 </a:t>
            </a:r>
          </a:p>
          <a:p>
            <a:r>
              <a:rPr lang="en-US" noProof="0"/>
              <a:t>└─ AUC: 0.81</a:t>
            </a:r>
          </a:p>
        </p:txBody>
      </p:sp>
      <p:sp>
        <p:nvSpPr>
          <p:cNvPr id="3" name="Graphic 61">
            <a:extLst>
              <a:ext uri="{FF2B5EF4-FFF2-40B4-BE49-F238E27FC236}">
                <a16:creationId xmlns:a16="http://schemas.microsoft.com/office/drawing/2014/main" id="{E0B50018-0A87-91A2-6101-ECEC0DEF8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pt-PT" sz="1100">
                <a:solidFill>
                  <a:srgbClr val="5F5B37"/>
                </a:solidFill>
              </a:rPr>
              <a:t>4</a:t>
            </a:r>
            <a:endParaRPr lang="en-US" sz="1100" noProof="0">
              <a:solidFill>
                <a:srgbClr val="5F5B37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B1FED-59C4-E2C9-4F20-55116FE836F6}"/>
              </a:ext>
            </a:extLst>
          </p:cNvPr>
          <p:cNvSpPr txBox="1"/>
          <p:nvPr/>
        </p:nvSpPr>
        <p:spPr>
          <a:xfrm>
            <a:off x="416248" y="139617"/>
            <a:ext cx="29098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Appendix – Modeling &amp; Evaluation</a:t>
            </a:r>
          </a:p>
        </p:txBody>
      </p:sp>
    </p:spTree>
    <p:extLst>
      <p:ext uri="{BB962C8B-B14F-4D97-AF65-F5344CB8AC3E}">
        <p14:creationId xmlns:p14="http://schemas.microsoft.com/office/powerpoint/2010/main" val="135360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7104-DC4B-2D61-47AF-811CDDC4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98DD84A-08C5-E99B-FF4A-4C6DFED1A6D9}"/>
              </a:ext>
            </a:extLst>
          </p:cNvPr>
          <p:cNvSpPr txBox="1"/>
          <p:nvPr/>
        </p:nvSpPr>
        <p:spPr>
          <a:xfrm>
            <a:off x="919273" y="488722"/>
            <a:ext cx="9185819" cy="1322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AD4F36"/>
                </a:solidFill>
              </a:rPr>
              <a:t>More details about model </a:t>
            </a:r>
            <a:r>
              <a:rPr lang="en-US" sz="3200" b="1" noProof="0">
                <a:solidFill>
                  <a:srgbClr val="AD4F36"/>
                </a:solidFill>
              </a:rPr>
              <a:t>selection &amp; evaluation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4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Area under the ROC curve is maximized for Logistic Regression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00921E36-A5BC-36DD-DE68-EC2D11B172AA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B5F25-9F0A-67B3-A7C0-F0AA7E09DD71}"/>
              </a:ext>
            </a:extLst>
          </p:cNvPr>
          <p:cNvSpPr txBox="1"/>
          <p:nvPr/>
        </p:nvSpPr>
        <p:spPr>
          <a:xfrm>
            <a:off x="6997569" y="1870173"/>
            <a:ext cx="4812632" cy="14773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noProof="0"/>
              <a:t>🏆 BEST MODEL: </a:t>
            </a:r>
          </a:p>
          <a:p>
            <a:r>
              <a:rPr lang="en-US" noProof="0"/>
              <a:t>Logistic Regression </a:t>
            </a:r>
          </a:p>
          <a:p>
            <a:r>
              <a:rPr lang="en-US" noProof="0"/>
              <a:t>├─ Recall: </a:t>
            </a:r>
            <a:r>
              <a:rPr lang="en-US"/>
              <a:t>76.6</a:t>
            </a:r>
            <a:r>
              <a:rPr lang="en-US" noProof="0"/>
              <a:t>% </a:t>
            </a:r>
          </a:p>
          <a:p>
            <a:r>
              <a:rPr lang="en-US" noProof="0"/>
              <a:t>├─ Missed Departures: </a:t>
            </a:r>
            <a:r>
              <a:rPr lang="en-US"/>
              <a:t>11</a:t>
            </a:r>
            <a:r>
              <a:rPr lang="en-US" noProof="0"/>
              <a:t> out of 47 </a:t>
            </a:r>
          </a:p>
          <a:p>
            <a:r>
              <a:rPr lang="en-US" noProof="0"/>
              <a:t>└─ AUC: </a:t>
            </a:r>
            <a:r>
              <a:rPr lang="en-US"/>
              <a:t>0.81</a:t>
            </a:r>
            <a:endParaRPr 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658641-F522-73F1-CAE5-2C73740E4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28" y="2031365"/>
            <a:ext cx="6524625" cy="3892550"/>
          </a:xfrm>
          <a:prstGeom prst="rect">
            <a:avLst/>
          </a:prstGeom>
        </p:spPr>
      </p:pic>
      <p:pic>
        <p:nvPicPr>
          <p:cNvPr id="5" name="Picture 4" descr="A graph with colored circles and dots&#10;&#10;AI-generated content may be incorrect.">
            <a:extLst>
              <a:ext uri="{FF2B5EF4-FFF2-40B4-BE49-F238E27FC236}">
                <a16:creationId xmlns:a16="http://schemas.microsoft.com/office/drawing/2014/main" id="{63F05264-E21F-DFE1-AE8B-0A85DCD91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645" y="3343275"/>
            <a:ext cx="5040630" cy="3514090"/>
          </a:xfrm>
          <a:prstGeom prst="rect">
            <a:avLst/>
          </a:prstGeom>
        </p:spPr>
      </p:pic>
      <p:sp>
        <p:nvSpPr>
          <p:cNvPr id="7" name="Graphic 61">
            <a:extLst>
              <a:ext uri="{FF2B5EF4-FFF2-40B4-BE49-F238E27FC236}">
                <a16:creationId xmlns:a16="http://schemas.microsoft.com/office/drawing/2014/main" id="{492567C9-8FF4-7A2B-BA28-87F59CD5C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pt-PT" sz="1100">
                <a:solidFill>
                  <a:srgbClr val="5F5B37"/>
                </a:solidFill>
              </a:rPr>
              <a:t>4</a:t>
            </a:r>
            <a:endParaRPr lang="en-US" sz="1100" noProof="0">
              <a:solidFill>
                <a:srgbClr val="5F5B37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45E120-63F1-E9B6-D90F-D9A75C37B1D5}"/>
              </a:ext>
            </a:extLst>
          </p:cNvPr>
          <p:cNvSpPr txBox="1"/>
          <p:nvPr/>
        </p:nvSpPr>
        <p:spPr>
          <a:xfrm>
            <a:off x="416248" y="139617"/>
            <a:ext cx="29098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Appendix – Modeling &amp; Evaluation</a:t>
            </a:r>
          </a:p>
        </p:txBody>
      </p:sp>
    </p:spTree>
    <p:extLst>
      <p:ext uri="{BB962C8B-B14F-4D97-AF65-F5344CB8AC3E}">
        <p14:creationId xmlns:p14="http://schemas.microsoft.com/office/powerpoint/2010/main" val="203707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396C6-C635-B961-8E00-A00609ACE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4F5723E0-3DF9-E6C1-0D4E-2E720BC5146B}"/>
              </a:ext>
            </a:extLst>
          </p:cNvPr>
          <p:cNvSpPr txBox="1"/>
          <p:nvPr/>
        </p:nvSpPr>
        <p:spPr>
          <a:xfrm>
            <a:off x="919273" y="488722"/>
            <a:ext cx="9185819" cy="1240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>
                <a:solidFill>
                  <a:srgbClr val="AD4F36"/>
                </a:solidFill>
              </a:rPr>
              <a:t>More details about model </a:t>
            </a:r>
            <a:r>
              <a:rPr lang="en-US" sz="3200" b="1" noProof="0">
                <a:solidFill>
                  <a:srgbClr val="AD4F36"/>
                </a:solidFill>
              </a:rPr>
              <a:t>&amp; evaluation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000" b="1">
                <a:solidFill>
                  <a:schemeClr val="tx1">
                    <a:lumMod val="75000"/>
                    <a:lumOff val="25000"/>
                  </a:schemeClr>
                </a:solidFill>
              </a:rPr>
              <a:t>Area under the ROC curve is maximized for Logistic Regression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DF6C3495-DEB6-DFAE-6C5D-7617D920EEDB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D3F59D-BB9C-16BA-1412-13AF83EF843F}"/>
              </a:ext>
            </a:extLst>
          </p:cNvPr>
          <p:cNvSpPr txBox="1"/>
          <p:nvPr/>
        </p:nvSpPr>
        <p:spPr>
          <a:xfrm>
            <a:off x="8411094" y="1017369"/>
            <a:ext cx="3707270" cy="563231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 b="1" u="sng">
                <a:solidFill>
                  <a:srgbClr val="000000"/>
                </a:solidFill>
                <a:latin typeface="Tenorite"/>
              </a:rPr>
              <a:t>Decision Tree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: </a:t>
            </a:r>
            <a:endParaRPr lang="en-US" sz="1200"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Leavers Caught: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37/47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(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78.7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%)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Missed Departures: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10/47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False Alarms: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111/247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Precision: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25.0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└─ Total Flagged: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148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employees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b="1" u="sng">
                <a:solidFill>
                  <a:srgbClr val="000000"/>
                </a:solidFill>
                <a:latin typeface="Tenorite"/>
              </a:rPr>
              <a:t>Logistic Regression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: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Leavers Caught: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36/47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(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76.6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%)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Missed Departures: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11/47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False Alarms: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70/247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Precision: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34.0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└─ Total Flagged: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106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employees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b="1" u="sng" noProof="0">
                <a:solidFill>
                  <a:srgbClr val="000000"/>
                </a:solidFill>
                <a:latin typeface="Tenorite"/>
              </a:rPr>
              <a:t>Random Forest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: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Leavers Caught: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34/47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(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72.3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%)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 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Missed Departures: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13/47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False Alarms: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78/247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Precision: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30.4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└─ Total Flagged: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112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employees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 </a:t>
            </a:r>
          </a:p>
          <a:p>
            <a:r>
              <a:rPr lang="en-US" sz="1200" b="1" u="sng">
                <a:solidFill>
                  <a:srgbClr val="000000"/>
                </a:solidFill>
                <a:latin typeface="Tenorite"/>
              </a:rPr>
              <a:t>Neural Network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: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Leavers Caught: 33/47 (70.2%)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Missed Departures: 14/47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False Alarms: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70/247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Precision: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32.0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└─ Total Flagged: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103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employees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b="1" u="sng" err="1">
                <a:solidFill>
                  <a:srgbClr val="000000"/>
                </a:solidFill>
                <a:latin typeface="Tenorite"/>
              </a:rPr>
              <a:t>XGBoost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: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Leavers Caught: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31/47 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(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66.0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%)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Missed Departures: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16/47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False Alarms: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103/247 </a:t>
            </a: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├─ Precision: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23.1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% </a:t>
            </a:r>
            <a:endParaRPr lang="en-US" sz="1200">
              <a:solidFill>
                <a:srgbClr val="000000"/>
              </a:solidFill>
              <a:latin typeface="Tenorite"/>
            </a:endParaRPr>
          </a:p>
          <a:p>
            <a:r>
              <a:rPr lang="en-US" sz="1200" noProof="0">
                <a:solidFill>
                  <a:srgbClr val="000000"/>
                </a:solidFill>
                <a:latin typeface="Tenorite"/>
              </a:rPr>
              <a:t>└─ Total Flagged: </a:t>
            </a:r>
            <a:r>
              <a:rPr lang="en-US" sz="1200">
                <a:solidFill>
                  <a:srgbClr val="000000"/>
                </a:solidFill>
                <a:latin typeface="Tenorite"/>
              </a:rPr>
              <a:t>134</a:t>
            </a:r>
            <a:r>
              <a:rPr lang="en-US" sz="1200" noProof="0">
                <a:solidFill>
                  <a:srgbClr val="000000"/>
                </a:solidFill>
                <a:latin typeface="Tenorite"/>
              </a:rPr>
              <a:t> employees</a:t>
            </a:r>
            <a:endParaRPr lang="en-US" sz="1200">
              <a:latin typeface="Tenorite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A71FE3-8784-AD74-3519-16C4E4A4C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439" y="1849120"/>
            <a:ext cx="6187762" cy="5008880"/>
          </a:xfrm>
          <a:prstGeom prst="rect">
            <a:avLst/>
          </a:prstGeom>
        </p:spPr>
      </p:pic>
      <p:sp>
        <p:nvSpPr>
          <p:cNvPr id="4" name="Graphic 61">
            <a:extLst>
              <a:ext uri="{FF2B5EF4-FFF2-40B4-BE49-F238E27FC236}">
                <a16:creationId xmlns:a16="http://schemas.microsoft.com/office/drawing/2014/main" id="{1840C880-0D6E-1BA5-F2B9-F26E725B8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pt-PT" sz="1100">
                <a:solidFill>
                  <a:srgbClr val="5F5B37"/>
                </a:solidFill>
              </a:rPr>
              <a:t>4</a:t>
            </a:r>
            <a:endParaRPr lang="en-US" sz="1100" noProof="0">
              <a:solidFill>
                <a:srgbClr val="5F5B3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5A3D3-A8C6-F84C-089B-9F51CDE12C45}"/>
              </a:ext>
            </a:extLst>
          </p:cNvPr>
          <p:cNvSpPr txBox="1"/>
          <p:nvPr/>
        </p:nvSpPr>
        <p:spPr>
          <a:xfrm>
            <a:off x="416248" y="139617"/>
            <a:ext cx="29098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Appendix – Modeling &amp; Evaluation</a:t>
            </a:r>
          </a:p>
        </p:txBody>
      </p:sp>
    </p:spTree>
    <p:extLst>
      <p:ext uri="{BB962C8B-B14F-4D97-AF65-F5344CB8AC3E}">
        <p14:creationId xmlns:p14="http://schemas.microsoft.com/office/powerpoint/2010/main" val="184505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491EE-873A-6E1B-1BE7-5CE0ABD38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29E376A0-B9E3-40A9-31E8-956C7E1863E7}"/>
              </a:ext>
            </a:extLst>
          </p:cNvPr>
          <p:cNvSpPr txBox="1"/>
          <p:nvPr/>
        </p:nvSpPr>
        <p:spPr>
          <a:xfrm>
            <a:off x="919273" y="488722"/>
            <a:ext cx="11272727" cy="1240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noProof="0">
                <a:solidFill>
                  <a:srgbClr val="AD4F36"/>
                </a:solidFill>
              </a:rPr>
              <a:t>More details about model selection &amp; evaluation</a:t>
            </a:r>
            <a:br>
              <a:rPr lang="en-US" sz="3200" b="1" noProof="0">
                <a:solidFill>
                  <a:srgbClr val="AD4F36"/>
                </a:solidFill>
              </a:rPr>
            </a:br>
            <a:r>
              <a:rPr lang="en-US" sz="20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Logistic regression on test set detect </a:t>
            </a:r>
            <a:r>
              <a:rPr lang="en-US" sz="2000" b="1">
                <a:solidFill>
                  <a:schemeClr val="tx1">
                    <a:lumMod val="75000"/>
                    <a:lumOff val="25000"/>
                  </a:schemeClr>
                </a:solidFill>
              </a:rPr>
              <a:t>36</a:t>
            </a:r>
            <a:r>
              <a:rPr lang="en-US" sz="20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 of the people who leave,</a:t>
            </a:r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 depending on the threshold</a:t>
            </a:r>
            <a:endParaRPr lang="en-US" sz="2400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2D9A102A-4439-3260-D0CE-8DAC780D3315}"/>
              </a:ext>
            </a:extLst>
          </p:cNvPr>
          <p:cNvSpPr/>
          <p:nvPr/>
        </p:nvSpPr>
        <p:spPr>
          <a:xfrm>
            <a:off x="679128" y="650722"/>
            <a:ext cx="240145" cy="1200727"/>
          </a:xfrm>
          <a:prstGeom prst="leftBracket">
            <a:avLst/>
          </a:prstGeom>
          <a:ln w="38100">
            <a:solidFill>
              <a:srgbClr val="AD4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B3D9FA-4918-596C-8415-3D65547272DD}"/>
              </a:ext>
            </a:extLst>
          </p:cNvPr>
          <p:cNvSpPr txBox="1"/>
          <p:nvPr/>
        </p:nvSpPr>
        <p:spPr>
          <a:xfrm>
            <a:off x="1062148" y="2101616"/>
            <a:ext cx="63815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Business Impact of recall optimized model: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Catches 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76.6</a:t>
            </a:r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% </a:t>
            </a: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of employees planning to leave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Requires intervention with </a:t>
            </a:r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106 employees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Minimizes surprise departures for </a:t>
            </a:r>
            <a:r>
              <a:rPr lang="en-US" sz="1600" b="1" noProof="0">
                <a:solidFill>
                  <a:schemeClr val="tx1">
                    <a:lumMod val="75000"/>
                    <a:lumOff val="25000"/>
                  </a:schemeClr>
                </a:solidFill>
              </a:rPr>
              <a:t>proactive retention</a:t>
            </a:r>
          </a:p>
        </p:txBody>
      </p:sp>
      <p:sp>
        <p:nvSpPr>
          <p:cNvPr id="3" name="Graphic 61">
            <a:extLst>
              <a:ext uri="{FF2B5EF4-FFF2-40B4-BE49-F238E27FC236}">
                <a16:creationId xmlns:a16="http://schemas.microsoft.com/office/drawing/2014/main" id="{5CAC5DF0-F6D3-98A2-D796-6096E57BA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836" y="122281"/>
            <a:ext cx="351592" cy="315890"/>
          </a:xfrm>
          <a:custGeom>
            <a:avLst/>
            <a:gdLst>
              <a:gd name="connsiteX0" fmla="*/ 625766 w 1590050"/>
              <a:gd name="connsiteY0" fmla="*/ 178826 h 1315433"/>
              <a:gd name="connsiteX1" fmla="*/ 284934 w 1590050"/>
              <a:gd name="connsiteY1" fmla="*/ 458195 h 1315433"/>
              <a:gd name="connsiteX2" fmla="*/ 236288 w 1590050"/>
              <a:gd name="connsiteY2" fmla="*/ 498087 h 1315433"/>
              <a:gd name="connsiteX3" fmla="*/ 70217 w 1590050"/>
              <a:gd name="connsiteY3" fmla="*/ 843983 h 1315433"/>
              <a:gd name="connsiteX4" fmla="*/ 651339 w 1590050"/>
              <a:gd name="connsiteY4" fmla="*/ 1315434 h 1315433"/>
              <a:gd name="connsiteX5" fmla="*/ 1079209 w 1590050"/>
              <a:gd name="connsiteY5" fmla="*/ 1264350 h 1315433"/>
              <a:gd name="connsiteX6" fmla="*/ 1430420 w 1590050"/>
              <a:gd name="connsiteY6" fmla="*/ 957844 h 1315433"/>
              <a:gd name="connsiteX7" fmla="*/ 1590051 w 1590050"/>
              <a:gd name="connsiteY7" fmla="*/ 536415 h 1315433"/>
              <a:gd name="connsiteX8" fmla="*/ 1277105 w 1590050"/>
              <a:gd name="connsiteY8" fmla="*/ 312883 h 1315433"/>
              <a:gd name="connsiteX9" fmla="*/ 913138 w 1590050"/>
              <a:gd name="connsiteY9" fmla="*/ 134119 h 1315433"/>
              <a:gd name="connsiteX10" fmla="*/ 536415 w 1590050"/>
              <a:gd name="connsiteY10" fmla="*/ 83035 h 1315433"/>
              <a:gd name="connsiteX11" fmla="*/ 191581 w 1590050"/>
              <a:gd name="connsiteY11" fmla="*/ 843983 h 1315433"/>
              <a:gd name="connsiteX12" fmla="*/ 146875 w 1590050"/>
              <a:gd name="connsiteY12" fmla="*/ 1149426 h 1315433"/>
              <a:gd name="connsiteX13" fmla="*/ 1245217 w 1590050"/>
              <a:gd name="connsiteY13" fmla="*/ 1289923 h 1315433"/>
              <a:gd name="connsiteX14" fmla="*/ 1519771 w 1590050"/>
              <a:gd name="connsiteY14" fmla="*/ 344834 h 1315433"/>
              <a:gd name="connsiteX15" fmla="*/ 798214 w 1590050"/>
              <a:gd name="connsiteY15" fmla="*/ 223532 h 1315433"/>
              <a:gd name="connsiteX16" fmla="*/ 0 w 1590050"/>
              <a:gd name="connsiteY16" fmla="*/ 699235 h 1315433"/>
              <a:gd name="connsiteX17" fmla="*/ 434247 w 1590050"/>
              <a:gd name="connsiteY17" fmla="*/ 1315434 h 1315433"/>
              <a:gd name="connsiteX18" fmla="*/ 1468686 w 1590050"/>
              <a:gd name="connsiteY18" fmla="*/ 1091964 h 1315433"/>
              <a:gd name="connsiteX19" fmla="*/ 1155804 w 1590050"/>
              <a:gd name="connsiteY19" fmla="*/ 0 h 1315433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146875 w 1590051"/>
              <a:gd name="connsiteY12" fmla="*/ 114942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625766 w 1590051"/>
              <a:gd name="connsiteY0" fmla="*/ 178826 h 1315434"/>
              <a:gd name="connsiteX1" fmla="*/ 284934 w 1590051"/>
              <a:gd name="connsiteY1" fmla="*/ 458195 h 1315434"/>
              <a:gd name="connsiteX2" fmla="*/ 236288 w 1590051"/>
              <a:gd name="connsiteY2" fmla="*/ 498087 h 1315434"/>
              <a:gd name="connsiteX3" fmla="*/ 70217 w 1590051"/>
              <a:gd name="connsiteY3" fmla="*/ 843983 h 1315434"/>
              <a:gd name="connsiteX4" fmla="*/ 651339 w 1590051"/>
              <a:gd name="connsiteY4" fmla="*/ 1315434 h 1315434"/>
              <a:gd name="connsiteX5" fmla="*/ 1079209 w 1590051"/>
              <a:gd name="connsiteY5" fmla="*/ 1264350 h 1315434"/>
              <a:gd name="connsiteX6" fmla="*/ 1430420 w 1590051"/>
              <a:gd name="connsiteY6" fmla="*/ 957844 h 1315434"/>
              <a:gd name="connsiteX7" fmla="*/ 1590051 w 1590051"/>
              <a:gd name="connsiteY7" fmla="*/ 536415 h 1315434"/>
              <a:gd name="connsiteX8" fmla="*/ 1277105 w 1590051"/>
              <a:gd name="connsiteY8" fmla="*/ 312883 h 1315434"/>
              <a:gd name="connsiteX9" fmla="*/ 913138 w 1590051"/>
              <a:gd name="connsiteY9" fmla="*/ 134119 h 1315434"/>
              <a:gd name="connsiteX10" fmla="*/ 536415 w 1590051"/>
              <a:gd name="connsiteY10" fmla="*/ 83035 h 1315434"/>
              <a:gd name="connsiteX11" fmla="*/ 290641 w 1590051"/>
              <a:gd name="connsiteY11" fmla="*/ 661103 h 1315434"/>
              <a:gd name="connsiteX12" fmla="*/ 344995 w 1590051"/>
              <a:gd name="connsiteY12" fmla="*/ 1019886 h 1315434"/>
              <a:gd name="connsiteX13" fmla="*/ 1245217 w 1590051"/>
              <a:gd name="connsiteY13" fmla="*/ 1289923 h 1315434"/>
              <a:gd name="connsiteX14" fmla="*/ 1519771 w 1590051"/>
              <a:gd name="connsiteY14" fmla="*/ 344834 h 1315434"/>
              <a:gd name="connsiteX15" fmla="*/ 798214 w 1590051"/>
              <a:gd name="connsiteY15" fmla="*/ 223532 h 1315434"/>
              <a:gd name="connsiteX16" fmla="*/ 0 w 1590051"/>
              <a:gd name="connsiteY16" fmla="*/ 699235 h 1315434"/>
              <a:gd name="connsiteX17" fmla="*/ 434247 w 1590051"/>
              <a:gd name="connsiteY17" fmla="*/ 1315434 h 1315434"/>
              <a:gd name="connsiteX18" fmla="*/ 1468686 w 1590051"/>
              <a:gd name="connsiteY18" fmla="*/ 1091964 h 1315434"/>
              <a:gd name="connsiteX19" fmla="*/ 1155804 w 1590051"/>
              <a:gd name="connsiteY19" fmla="*/ 0 h 1315434"/>
              <a:gd name="connsiteX20" fmla="*/ 625766 w 1590051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727997 w 1519834"/>
              <a:gd name="connsiteY15" fmla="*/ 22353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360203 w 1519834"/>
              <a:gd name="connsiteY6" fmla="*/ 95784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398469 w 1519834"/>
              <a:gd name="connsiteY18" fmla="*/ 10919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15434"/>
              <a:gd name="connsiteX1" fmla="*/ 214717 w 1519834"/>
              <a:gd name="connsiteY1" fmla="*/ 458195 h 1315434"/>
              <a:gd name="connsiteX2" fmla="*/ 166071 w 1519834"/>
              <a:gd name="connsiteY2" fmla="*/ 498087 h 1315434"/>
              <a:gd name="connsiteX3" fmla="*/ 0 w 1519834"/>
              <a:gd name="connsiteY3" fmla="*/ 843983 h 1315434"/>
              <a:gd name="connsiteX4" fmla="*/ 581122 w 1519834"/>
              <a:gd name="connsiteY4" fmla="*/ 1315434 h 1315434"/>
              <a:gd name="connsiteX5" fmla="*/ 1008992 w 1519834"/>
              <a:gd name="connsiteY5" fmla="*/ 1264350 h 1315434"/>
              <a:gd name="connsiteX6" fmla="*/ 1253523 w 1519834"/>
              <a:gd name="connsiteY6" fmla="*/ 912124 h 1315434"/>
              <a:gd name="connsiteX7" fmla="*/ 1519834 w 1519834"/>
              <a:gd name="connsiteY7" fmla="*/ 536415 h 1315434"/>
              <a:gd name="connsiteX8" fmla="*/ 1206888 w 1519834"/>
              <a:gd name="connsiteY8" fmla="*/ 312883 h 1315434"/>
              <a:gd name="connsiteX9" fmla="*/ 842921 w 1519834"/>
              <a:gd name="connsiteY9" fmla="*/ 134119 h 1315434"/>
              <a:gd name="connsiteX10" fmla="*/ 466198 w 1519834"/>
              <a:gd name="connsiteY10" fmla="*/ 83035 h 1315434"/>
              <a:gd name="connsiteX11" fmla="*/ 220424 w 1519834"/>
              <a:gd name="connsiteY11" fmla="*/ 661103 h 1315434"/>
              <a:gd name="connsiteX12" fmla="*/ 274778 w 1519834"/>
              <a:gd name="connsiteY12" fmla="*/ 1019886 h 1315434"/>
              <a:gd name="connsiteX13" fmla="*/ 1175000 w 1519834"/>
              <a:gd name="connsiteY13" fmla="*/ 1289923 h 1315434"/>
              <a:gd name="connsiteX14" fmla="*/ 1449554 w 1519834"/>
              <a:gd name="connsiteY14" fmla="*/ 344834 h 1315434"/>
              <a:gd name="connsiteX15" fmla="*/ 331757 w 1519834"/>
              <a:gd name="connsiteY15" fmla="*/ 162572 h 1315434"/>
              <a:gd name="connsiteX16" fmla="*/ 105043 w 1519834"/>
              <a:gd name="connsiteY16" fmla="*/ 722095 h 1315434"/>
              <a:gd name="connsiteX17" fmla="*/ 364030 w 1519834"/>
              <a:gd name="connsiteY17" fmla="*/ 1315434 h 1315434"/>
              <a:gd name="connsiteX18" fmla="*/ 1428949 w 1519834"/>
              <a:gd name="connsiteY18" fmla="*/ 939564 h 1315434"/>
              <a:gd name="connsiteX19" fmla="*/ 1085587 w 1519834"/>
              <a:gd name="connsiteY19" fmla="*/ 0 h 1315434"/>
              <a:gd name="connsiteX20" fmla="*/ 555549 w 1519834"/>
              <a:gd name="connsiteY20" fmla="*/ 178826 h 131543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64030 w 1519834"/>
              <a:gd name="connsiteY17" fmla="*/ 131543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178826 h 1345914"/>
              <a:gd name="connsiteX1" fmla="*/ 214717 w 1519834"/>
              <a:gd name="connsiteY1" fmla="*/ 458195 h 1345914"/>
              <a:gd name="connsiteX2" fmla="*/ 166071 w 1519834"/>
              <a:gd name="connsiteY2" fmla="*/ 498087 h 1345914"/>
              <a:gd name="connsiteX3" fmla="*/ 0 w 1519834"/>
              <a:gd name="connsiteY3" fmla="*/ 843983 h 1345914"/>
              <a:gd name="connsiteX4" fmla="*/ 741142 w 1519834"/>
              <a:gd name="connsiteY4" fmla="*/ 1345914 h 1345914"/>
              <a:gd name="connsiteX5" fmla="*/ 1008992 w 1519834"/>
              <a:gd name="connsiteY5" fmla="*/ 1264350 h 1345914"/>
              <a:gd name="connsiteX6" fmla="*/ 1253523 w 1519834"/>
              <a:gd name="connsiteY6" fmla="*/ 912124 h 1345914"/>
              <a:gd name="connsiteX7" fmla="*/ 1519834 w 1519834"/>
              <a:gd name="connsiteY7" fmla="*/ 536415 h 1345914"/>
              <a:gd name="connsiteX8" fmla="*/ 1206888 w 1519834"/>
              <a:gd name="connsiteY8" fmla="*/ 312883 h 1345914"/>
              <a:gd name="connsiteX9" fmla="*/ 842921 w 1519834"/>
              <a:gd name="connsiteY9" fmla="*/ 134119 h 1345914"/>
              <a:gd name="connsiteX10" fmla="*/ 466198 w 1519834"/>
              <a:gd name="connsiteY10" fmla="*/ 83035 h 1345914"/>
              <a:gd name="connsiteX11" fmla="*/ 220424 w 1519834"/>
              <a:gd name="connsiteY11" fmla="*/ 661103 h 1345914"/>
              <a:gd name="connsiteX12" fmla="*/ 274778 w 1519834"/>
              <a:gd name="connsiteY12" fmla="*/ 1019886 h 1345914"/>
              <a:gd name="connsiteX13" fmla="*/ 1175000 w 1519834"/>
              <a:gd name="connsiteY13" fmla="*/ 1289923 h 1345914"/>
              <a:gd name="connsiteX14" fmla="*/ 1449554 w 1519834"/>
              <a:gd name="connsiteY14" fmla="*/ 344834 h 1345914"/>
              <a:gd name="connsiteX15" fmla="*/ 331757 w 1519834"/>
              <a:gd name="connsiteY15" fmla="*/ 162572 h 1345914"/>
              <a:gd name="connsiteX16" fmla="*/ 105043 w 1519834"/>
              <a:gd name="connsiteY16" fmla="*/ 722095 h 1345914"/>
              <a:gd name="connsiteX17" fmla="*/ 356410 w 1519834"/>
              <a:gd name="connsiteY17" fmla="*/ 1246854 h 1345914"/>
              <a:gd name="connsiteX18" fmla="*/ 1428949 w 1519834"/>
              <a:gd name="connsiteY18" fmla="*/ 939564 h 1345914"/>
              <a:gd name="connsiteX19" fmla="*/ 1085587 w 1519834"/>
              <a:gd name="connsiteY19" fmla="*/ 0 h 1345914"/>
              <a:gd name="connsiteX20" fmla="*/ 555549 w 1519834"/>
              <a:gd name="connsiteY20" fmla="*/ 178826 h 1345914"/>
              <a:gd name="connsiteX0" fmla="*/ 555549 w 1519834"/>
              <a:gd name="connsiteY0" fmla="*/ 95791 h 1262879"/>
              <a:gd name="connsiteX1" fmla="*/ 214717 w 1519834"/>
              <a:gd name="connsiteY1" fmla="*/ 375160 h 1262879"/>
              <a:gd name="connsiteX2" fmla="*/ 166071 w 1519834"/>
              <a:gd name="connsiteY2" fmla="*/ 415052 h 1262879"/>
              <a:gd name="connsiteX3" fmla="*/ 0 w 1519834"/>
              <a:gd name="connsiteY3" fmla="*/ 760948 h 1262879"/>
              <a:gd name="connsiteX4" fmla="*/ 741142 w 1519834"/>
              <a:gd name="connsiteY4" fmla="*/ 1262879 h 1262879"/>
              <a:gd name="connsiteX5" fmla="*/ 1008992 w 1519834"/>
              <a:gd name="connsiteY5" fmla="*/ 1181315 h 1262879"/>
              <a:gd name="connsiteX6" fmla="*/ 1253523 w 1519834"/>
              <a:gd name="connsiteY6" fmla="*/ 829089 h 1262879"/>
              <a:gd name="connsiteX7" fmla="*/ 1519834 w 1519834"/>
              <a:gd name="connsiteY7" fmla="*/ 453380 h 1262879"/>
              <a:gd name="connsiteX8" fmla="*/ 1206888 w 1519834"/>
              <a:gd name="connsiteY8" fmla="*/ 229848 h 1262879"/>
              <a:gd name="connsiteX9" fmla="*/ 842921 w 1519834"/>
              <a:gd name="connsiteY9" fmla="*/ 51084 h 1262879"/>
              <a:gd name="connsiteX10" fmla="*/ 466198 w 1519834"/>
              <a:gd name="connsiteY10" fmla="*/ 0 h 1262879"/>
              <a:gd name="connsiteX11" fmla="*/ 220424 w 1519834"/>
              <a:gd name="connsiteY11" fmla="*/ 578068 h 1262879"/>
              <a:gd name="connsiteX12" fmla="*/ 274778 w 1519834"/>
              <a:gd name="connsiteY12" fmla="*/ 936851 h 1262879"/>
              <a:gd name="connsiteX13" fmla="*/ 1175000 w 1519834"/>
              <a:gd name="connsiteY13" fmla="*/ 1206888 h 1262879"/>
              <a:gd name="connsiteX14" fmla="*/ 1449554 w 1519834"/>
              <a:gd name="connsiteY14" fmla="*/ 261799 h 1262879"/>
              <a:gd name="connsiteX15" fmla="*/ 331757 w 1519834"/>
              <a:gd name="connsiteY15" fmla="*/ 79537 h 1262879"/>
              <a:gd name="connsiteX16" fmla="*/ 105043 w 1519834"/>
              <a:gd name="connsiteY16" fmla="*/ 639060 h 1262879"/>
              <a:gd name="connsiteX17" fmla="*/ 356410 w 1519834"/>
              <a:gd name="connsiteY17" fmla="*/ 1163819 h 1262879"/>
              <a:gd name="connsiteX18" fmla="*/ 1428949 w 1519834"/>
              <a:gd name="connsiteY18" fmla="*/ 856529 h 1262879"/>
              <a:gd name="connsiteX19" fmla="*/ 1055107 w 1519834"/>
              <a:gd name="connsiteY19" fmla="*/ 61745 h 1262879"/>
              <a:gd name="connsiteX20" fmla="*/ 555549 w 1519834"/>
              <a:gd name="connsiteY20" fmla="*/ 95791 h 1262879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428949 w 1519834"/>
              <a:gd name="connsiteY18" fmla="*/ 85652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055107 w 1519834"/>
              <a:gd name="connsiteY19" fmla="*/ 61745 h 1268594"/>
              <a:gd name="connsiteX20" fmla="*/ 555549 w 1519834"/>
              <a:gd name="connsiteY20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203699 w 1519834"/>
              <a:gd name="connsiteY19" fmla="*/ 4892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  <a:gd name="connsiteX0" fmla="*/ 555549 w 1519834"/>
              <a:gd name="connsiteY0" fmla="*/ 95791 h 1268594"/>
              <a:gd name="connsiteX1" fmla="*/ 214717 w 1519834"/>
              <a:gd name="connsiteY1" fmla="*/ 375160 h 1268594"/>
              <a:gd name="connsiteX2" fmla="*/ 166071 w 1519834"/>
              <a:gd name="connsiteY2" fmla="*/ 415052 h 1268594"/>
              <a:gd name="connsiteX3" fmla="*/ 0 w 1519834"/>
              <a:gd name="connsiteY3" fmla="*/ 760948 h 1268594"/>
              <a:gd name="connsiteX4" fmla="*/ 741142 w 1519834"/>
              <a:gd name="connsiteY4" fmla="*/ 1262879 h 1268594"/>
              <a:gd name="connsiteX5" fmla="*/ 1008992 w 1519834"/>
              <a:gd name="connsiteY5" fmla="*/ 1181315 h 1268594"/>
              <a:gd name="connsiteX6" fmla="*/ 1253523 w 1519834"/>
              <a:gd name="connsiteY6" fmla="*/ 829089 h 1268594"/>
              <a:gd name="connsiteX7" fmla="*/ 1519834 w 1519834"/>
              <a:gd name="connsiteY7" fmla="*/ 453380 h 1268594"/>
              <a:gd name="connsiteX8" fmla="*/ 1206888 w 1519834"/>
              <a:gd name="connsiteY8" fmla="*/ 229848 h 1268594"/>
              <a:gd name="connsiteX9" fmla="*/ 842921 w 1519834"/>
              <a:gd name="connsiteY9" fmla="*/ 51084 h 1268594"/>
              <a:gd name="connsiteX10" fmla="*/ 466198 w 1519834"/>
              <a:gd name="connsiteY10" fmla="*/ 0 h 1268594"/>
              <a:gd name="connsiteX11" fmla="*/ 220424 w 1519834"/>
              <a:gd name="connsiteY11" fmla="*/ 578068 h 1268594"/>
              <a:gd name="connsiteX12" fmla="*/ 274778 w 1519834"/>
              <a:gd name="connsiteY12" fmla="*/ 936851 h 1268594"/>
              <a:gd name="connsiteX13" fmla="*/ 1175000 w 1519834"/>
              <a:gd name="connsiteY13" fmla="*/ 1206888 h 1268594"/>
              <a:gd name="connsiteX14" fmla="*/ 1449554 w 1519834"/>
              <a:gd name="connsiteY14" fmla="*/ 261799 h 1268594"/>
              <a:gd name="connsiteX15" fmla="*/ 331757 w 1519834"/>
              <a:gd name="connsiteY15" fmla="*/ 79537 h 1268594"/>
              <a:gd name="connsiteX16" fmla="*/ 105043 w 1519834"/>
              <a:gd name="connsiteY16" fmla="*/ 639060 h 1268594"/>
              <a:gd name="connsiteX17" fmla="*/ 489760 w 1519834"/>
              <a:gd name="connsiteY17" fmla="*/ 1268594 h 1268594"/>
              <a:gd name="connsiteX18" fmla="*/ 1371799 w 1519834"/>
              <a:gd name="connsiteY18" fmla="*/ 989879 h 1268594"/>
              <a:gd name="connsiteX19" fmla="*/ 1489449 w 1519834"/>
              <a:gd name="connsiteY19" fmla="*/ 641626 h 1268594"/>
              <a:gd name="connsiteX20" fmla="*/ 1055107 w 1519834"/>
              <a:gd name="connsiteY20" fmla="*/ 61745 h 1268594"/>
              <a:gd name="connsiteX21" fmla="*/ 555549 w 1519834"/>
              <a:gd name="connsiteY21" fmla="*/ 95791 h 1268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19834" h="1268594">
                <a:moveTo>
                  <a:pt x="555549" y="95791"/>
                </a:moveTo>
                <a:lnTo>
                  <a:pt x="214717" y="375160"/>
                </a:lnTo>
                <a:lnTo>
                  <a:pt x="166071" y="415052"/>
                </a:lnTo>
                <a:lnTo>
                  <a:pt x="0" y="760948"/>
                </a:lnTo>
                <a:lnTo>
                  <a:pt x="741142" y="1262879"/>
                </a:lnTo>
                <a:lnTo>
                  <a:pt x="1008992" y="1181315"/>
                </a:lnTo>
                <a:lnTo>
                  <a:pt x="1253523" y="829089"/>
                </a:lnTo>
                <a:lnTo>
                  <a:pt x="1519834" y="453380"/>
                </a:lnTo>
                <a:lnTo>
                  <a:pt x="1206888" y="229848"/>
                </a:lnTo>
                <a:lnTo>
                  <a:pt x="842921" y="51084"/>
                </a:lnTo>
                <a:lnTo>
                  <a:pt x="466198" y="0"/>
                </a:lnTo>
                <a:lnTo>
                  <a:pt x="220424" y="578068"/>
                </a:lnTo>
                <a:lnTo>
                  <a:pt x="274778" y="936851"/>
                </a:lnTo>
                <a:lnTo>
                  <a:pt x="1175000" y="1206888"/>
                </a:lnTo>
                <a:lnTo>
                  <a:pt x="1449554" y="261799"/>
                </a:lnTo>
                <a:lnTo>
                  <a:pt x="331757" y="79537"/>
                </a:lnTo>
                <a:lnTo>
                  <a:pt x="105043" y="639060"/>
                </a:lnTo>
                <a:lnTo>
                  <a:pt x="489760" y="1268594"/>
                </a:lnTo>
                <a:lnTo>
                  <a:pt x="1371799" y="989879"/>
                </a:lnTo>
                <a:lnTo>
                  <a:pt x="1489449" y="641626"/>
                </a:lnTo>
                <a:lnTo>
                  <a:pt x="1055107" y="61745"/>
                </a:lnTo>
                <a:lnTo>
                  <a:pt x="555549" y="95791"/>
                </a:lnTo>
                <a:close/>
              </a:path>
            </a:pathLst>
          </a:custGeom>
          <a:noFill/>
          <a:ln w="3175" cap="flat">
            <a:solidFill>
              <a:srgbClr val="5F5B37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pt-PT" sz="1100">
                <a:solidFill>
                  <a:srgbClr val="5F5B37"/>
                </a:solidFill>
              </a:rPr>
              <a:t>4</a:t>
            </a:r>
            <a:endParaRPr lang="en-US" sz="1100" noProof="0">
              <a:solidFill>
                <a:srgbClr val="5F5B3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3D4A7D-A425-3F07-3277-F3AFE184C36D}"/>
              </a:ext>
            </a:extLst>
          </p:cNvPr>
          <p:cNvSpPr txBox="1"/>
          <p:nvPr/>
        </p:nvSpPr>
        <p:spPr>
          <a:xfrm>
            <a:off x="416248" y="139617"/>
            <a:ext cx="29098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0">
                <a:solidFill>
                  <a:srgbClr val="5F5B37"/>
                </a:solidFill>
              </a:rPr>
              <a:t>Appendix – Modeling &amp; Evaluation</a:t>
            </a:r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CD961AF9-89E0-4EF0-B162-B52EFCDD2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23248"/>
            <a:ext cx="12192000" cy="312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52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E18436D-DA32-4E27-AC64-8FFEDA5218F9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3205</Words>
  <Application>Microsoft Office PowerPoint</Application>
  <PresentationFormat>Widescreen</PresentationFormat>
  <Paragraphs>531</Paragraphs>
  <Slides>26</Slides>
  <Notes>23</Notes>
  <HiddenSlides>1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Monoline</vt:lpstr>
      <vt:lpstr>PowerPoint Presentation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  <vt:lpstr>Appendix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Esteves Henriques</dc:creator>
  <cp:lastModifiedBy>Filipe Miguel Brandao do Carmo</cp:lastModifiedBy>
  <cp:revision>134</cp:revision>
  <dcterms:created xsi:type="dcterms:W3CDTF">2025-11-28T22:06:49Z</dcterms:created>
  <dcterms:modified xsi:type="dcterms:W3CDTF">2025-12-07T11:10:25Z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